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02dad0f4a7472b" /><Relationship Type="http://schemas.openxmlformats.org/officeDocument/2006/relationships/extended-properties" Target="/docProps/app.xml" Id="R0627cacac1ca49dd" /><Relationship Type="http://schemas.openxmlformats.org/officeDocument/2006/relationships/officeDocument" Target="/ppt/presentation.xml" Id="R7dd25d1efe914b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c8f712102a48a1"/>
  </p:sldMasterIdLst>
  <p:notesMasterIdLst>
    <p:notesMasterId xmlns:r="http://schemas.openxmlformats.org/officeDocument/2006/relationships" r:id="Rd89af29e524044b8"/>
  </p:notesMasterIdLst>
  <p:sldIdLst>
    <p:sldId xmlns:r="http://schemas.openxmlformats.org/officeDocument/2006/relationships" id="256" r:id="R0e5f1a1fd51d4dad"/>
    <p:sldId xmlns:r="http://schemas.openxmlformats.org/officeDocument/2006/relationships" id="257" r:id="R53e90102ab8e4516"/>
    <p:sldId xmlns:r="http://schemas.openxmlformats.org/officeDocument/2006/relationships" id="258" r:id="R56998a7a47464aab"/>
    <p:sldId xmlns:r="http://schemas.openxmlformats.org/officeDocument/2006/relationships" id="259" r:id="Re91f09bc5dba4b11"/>
    <p:sldId xmlns:r="http://schemas.openxmlformats.org/officeDocument/2006/relationships" id="260" r:id="R1413c61dc2a74058"/>
    <p:sldId xmlns:r="http://schemas.openxmlformats.org/officeDocument/2006/relationships" id="261" r:id="Rf55baeff33da4387"/>
    <p:sldId xmlns:r="http://schemas.openxmlformats.org/officeDocument/2006/relationships" id="262" r:id="Rcd493d233dc04d1d"/>
    <p:sldId xmlns:r="http://schemas.openxmlformats.org/officeDocument/2006/relationships" id="263" r:id="R425217c207bf45cd"/>
    <p:sldId xmlns:r="http://schemas.openxmlformats.org/officeDocument/2006/relationships" id="264" r:id="R4dbb793590154ced"/>
    <p:sldId xmlns:r="http://schemas.openxmlformats.org/officeDocument/2006/relationships" id="265" r:id="Rcf299527a59d47c1"/>
    <p:sldId xmlns:r="http://schemas.openxmlformats.org/officeDocument/2006/relationships" id="266" r:id="Rc47240b9b81a4560"/>
    <p:sldId xmlns:r="http://schemas.openxmlformats.org/officeDocument/2006/relationships" id="267" r:id="R7836131dc0c34e10"/>
    <p:sldId xmlns:r="http://schemas.openxmlformats.org/officeDocument/2006/relationships" id="268" r:id="R767f2399d08d4ad0"/>
    <p:sldId xmlns:r="http://schemas.openxmlformats.org/officeDocument/2006/relationships" id="269" r:id="R070db44565bb4611"/>
    <p:sldId xmlns:r="http://schemas.openxmlformats.org/officeDocument/2006/relationships" id="270" r:id="R72d0877e6dc14999"/>
    <p:sldId xmlns:r="http://schemas.openxmlformats.org/officeDocument/2006/relationships" id="271" r:id="Rdc7070c0d52b479e"/>
    <p:sldId xmlns:r="http://schemas.openxmlformats.org/officeDocument/2006/relationships" id="272" r:id="Rd357f27eae4a4b32"/>
    <p:sldId xmlns:r="http://schemas.openxmlformats.org/officeDocument/2006/relationships" id="273" r:id="Rb504666400ad4b1a"/>
    <p:sldId xmlns:r="http://schemas.openxmlformats.org/officeDocument/2006/relationships" id="274" r:id="R0709d6d5ce3d4781"/>
    <p:sldId xmlns:r="http://schemas.openxmlformats.org/officeDocument/2006/relationships" id="275" r:id="R331b5d518f0a4910"/>
    <p:sldId xmlns:r="http://schemas.openxmlformats.org/officeDocument/2006/relationships" id="276" r:id="Re09c1fe7bbc74688"/>
    <p:sldId xmlns:r="http://schemas.openxmlformats.org/officeDocument/2006/relationships" id="277" r:id="R0230aef12a104b6c"/>
    <p:sldId xmlns:r="http://schemas.openxmlformats.org/officeDocument/2006/relationships" id="278" r:id="R1b9cc520b67241ba"/>
    <p:sldId xmlns:r="http://schemas.openxmlformats.org/officeDocument/2006/relationships" id="279" r:id="R83220f4072614479"/>
    <p:sldId xmlns:r="http://schemas.openxmlformats.org/officeDocument/2006/relationships" id="280" r:id="R5d4d28506cf0447d"/>
    <p:sldId xmlns:r="http://schemas.openxmlformats.org/officeDocument/2006/relationships" id="281" r:id="R01fde86200c84719"/>
    <p:sldId xmlns:r="http://schemas.openxmlformats.org/officeDocument/2006/relationships" id="282" r:id="Rcd793b80681e44fd"/>
    <p:sldId xmlns:r="http://schemas.openxmlformats.org/officeDocument/2006/relationships" id="283" r:id="Rd71e03a0b43f489c"/>
    <p:sldId xmlns:r="http://schemas.openxmlformats.org/officeDocument/2006/relationships" id="284" r:id="R024ba6f0717147b7"/>
    <p:sldId xmlns:r="http://schemas.openxmlformats.org/officeDocument/2006/relationships" id="285" r:id="Rf71cce9eecc047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abf882b6d045c3" /><Relationship Type="http://schemas.openxmlformats.org/officeDocument/2006/relationships/slideMaster" Target="/ppt/slideMasters/slideMaster1.xml" Id="Rd7c8f712102a48a1" /><Relationship Type="http://schemas.openxmlformats.org/officeDocument/2006/relationships/notesMaster" Target="/ppt/notesMasters/notesMaster1.xml" Id="Rd89af29e524044b8" /><Relationship Type="http://schemas.openxmlformats.org/officeDocument/2006/relationships/presProps" Target="/ppt/presProps.xml" Id="Ra598d9fa4ffc47a1" /><Relationship Type="http://schemas.openxmlformats.org/officeDocument/2006/relationships/tableStyles" Target="/ppt/tableStyles.xml" Id="Rd92d9fe9030343de" /><Relationship Type="http://schemas.openxmlformats.org/officeDocument/2006/relationships/slide" Target="/ppt/slides/slide1.xml" Id="R0e5f1a1fd51d4dad" /><Relationship Type="http://schemas.openxmlformats.org/officeDocument/2006/relationships/slide" Target="/ppt/slides/slide2.xml" Id="R53e90102ab8e4516" /><Relationship Type="http://schemas.openxmlformats.org/officeDocument/2006/relationships/slide" Target="/ppt/slides/slide3.xml" Id="R56998a7a47464aab" /><Relationship Type="http://schemas.openxmlformats.org/officeDocument/2006/relationships/slide" Target="/ppt/slides/slide4.xml" Id="Re91f09bc5dba4b11" /><Relationship Type="http://schemas.openxmlformats.org/officeDocument/2006/relationships/slide" Target="/ppt/slides/slide5.xml" Id="R1413c61dc2a74058" /><Relationship Type="http://schemas.openxmlformats.org/officeDocument/2006/relationships/slide" Target="/ppt/slides/slide6.xml" Id="Rf55baeff33da4387" /><Relationship Type="http://schemas.openxmlformats.org/officeDocument/2006/relationships/slide" Target="/ppt/slides/slide7.xml" Id="Rcd493d233dc04d1d" /><Relationship Type="http://schemas.openxmlformats.org/officeDocument/2006/relationships/slide" Target="/ppt/slides/slide8.xml" Id="R425217c207bf45cd" /><Relationship Type="http://schemas.openxmlformats.org/officeDocument/2006/relationships/slide" Target="/ppt/slides/slide9.xml" Id="R4dbb793590154ced" /><Relationship Type="http://schemas.openxmlformats.org/officeDocument/2006/relationships/slide" Target="/ppt/slides/slide10.xml" Id="Rcf299527a59d47c1" /><Relationship Type="http://schemas.openxmlformats.org/officeDocument/2006/relationships/slide" Target="/ppt/slides/slide11.xml" Id="Rc47240b9b81a4560" /><Relationship Type="http://schemas.openxmlformats.org/officeDocument/2006/relationships/slide" Target="/ppt/slides/slide12.xml" Id="R7836131dc0c34e10" /><Relationship Type="http://schemas.openxmlformats.org/officeDocument/2006/relationships/slide" Target="/ppt/slides/slide13.xml" Id="R767f2399d08d4ad0" /><Relationship Type="http://schemas.openxmlformats.org/officeDocument/2006/relationships/slide" Target="/ppt/slides/slide14.xml" Id="R070db44565bb4611" /><Relationship Type="http://schemas.openxmlformats.org/officeDocument/2006/relationships/slide" Target="/ppt/slides/slide15.xml" Id="R72d0877e6dc14999" /><Relationship Type="http://schemas.openxmlformats.org/officeDocument/2006/relationships/slide" Target="/ppt/slides/slide16.xml" Id="Rdc7070c0d52b479e" /><Relationship Type="http://schemas.openxmlformats.org/officeDocument/2006/relationships/slide" Target="/ppt/slides/slide17.xml" Id="Rd357f27eae4a4b32" /><Relationship Type="http://schemas.openxmlformats.org/officeDocument/2006/relationships/slide" Target="/ppt/slides/slide18.xml" Id="Rb504666400ad4b1a" /><Relationship Type="http://schemas.openxmlformats.org/officeDocument/2006/relationships/slide" Target="/ppt/slides/slide19.xml" Id="R0709d6d5ce3d4781" /><Relationship Type="http://schemas.openxmlformats.org/officeDocument/2006/relationships/slide" Target="/ppt/slides/slide20.xml" Id="R331b5d518f0a4910" /><Relationship Type="http://schemas.openxmlformats.org/officeDocument/2006/relationships/slide" Target="/ppt/slides/slide21.xml" Id="Re09c1fe7bbc74688" /><Relationship Type="http://schemas.openxmlformats.org/officeDocument/2006/relationships/slide" Target="/ppt/slides/slide22.xml" Id="R0230aef12a104b6c" /><Relationship Type="http://schemas.openxmlformats.org/officeDocument/2006/relationships/slide" Target="/ppt/slides/slide23.xml" Id="R1b9cc520b67241ba" /><Relationship Type="http://schemas.openxmlformats.org/officeDocument/2006/relationships/slide" Target="/ppt/slides/slide24.xml" Id="R83220f4072614479" /><Relationship Type="http://schemas.openxmlformats.org/officeDocument/2006/relationships/slide" Target="/ppt/slides/slide25.xml" Id="R5d4d28506cf0447d" /><Relationship Type="http://schemas.openxmlformats.org/officeDocument/2006/relationships/slide" Target="/ppt/slides/slide26.xml" Id="R01fde86200c84719" /><Relationship Type="http://schemas.openxmlformats.org/officeDocument/2006/relationships/slide" Target="/ppt/slides/slide27.xml" Id="Rcd793b80681e44fd" /><Relationship Type="http://schemas.openxmlformats.org/officeDocument/2006/relationships/slide" Target="/ppt/slides/slide28.xml" Id="Rd71e03a0b43f489c" /><Relationship Type="http://schemas.openxmlformats.org/officeDocument/2006/relationships/slide" Target="/ppt/slides/slide29.xml" Id="R024ba6f0717147b7" /><Relationship Type="http://schemas.openxmlformats.org/officeDocument/2006/relationships/slide" Target="/ppt/slides/slide30.xml" Id="Rf71cce9eecc047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31ff2e158242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a468261ac649d4" /><Relationship Type="http://schemas.openxmlformats.org/officeDocument/2006/relationships/notesMaster" Target="/ppt/notesMasters/notesMaster1.xml" Id="R8127cabd4abb49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b8c6f482254363" /><Relationship Type="http://schemas.openxmlformats.org/officeDocument/2006/relationships/notesMaster" Target="/ppt/notesMasters/notesMaster1.xml" Id="Rb6b420e814ee4c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89aa2e18af49fe" /><Relationship Type="http://schemas.openxmlformats.org/officeDocument/2006/relationships/notesMaster" Target="/ppt/notesMasters/notesMaster1.xml" Id="R7fc98b6249674d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ea670604c04eea" /><Relationship Type="http://schemas.openxmlformats.org/officeDocument/2006/relationships/notesMaster" Target="/ppt/notesMasters/notesMaster1.xml" Id="Rc7796938797749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cbc212f9434711" /><Relationship Type="http://schemas.openxmlformats.org/officeDocument/2006/relationships/notesMaster" Target="/ppt/notesMasters/notesMaster1.xml" Id="R042e8952c7064b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17c4975df246e4" /><Relationship Type="http://schemas.openxmlformats.org/officeDocument/2006/relationships/notesMaster" Target="/ppt/notesMasters/notesMaster1.xml" Id="R318827ebab8046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a6499f330245c3" /><Relationship Type="http://schemas.openxmlformats.org/officeDocument/2006/relationships/notesMaster" Target="/ppt/notesMasters/notesMaster1.xml" Id="R7c7f77b20f6b4b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4b7d6229cf410e" /><Relationship Type="http://schemas.openxmlformats.org/officeDocument/2006/relationships/notesMaster" Target="/ppt/notesMasters/notesMaster1.xml" Id="R60f3552ead9b46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8fc04cedaa43fe" /><Relationship Type="http://schemas.openxmlformats.org/officeDocument/2006/relationships/notesMaster" Target="/ppt/notesMasters/notesMaster1.xml" Id="R8b294fc785a044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b0f1192729492a" /><Relationship Type="http://schemas.openxmlformats.org/officeDocument/2006/relationships/notesMaster" Target="/ppt/notesMasters/notesMaster1.xml" Id="R1e5a061a70f24e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25ec01fcfc44fef" /><Relationship Type="http://schemas.openxmlformats.org/officeDocument/2006/relationships/notesMaster" Target="/ppt/notesMasters/notesMaster1.xml" Id="Re1791ea70ed746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3383c8ea1a421e" /><Relationship Type="http://schemas.openxmlformats.org/officeDocument/2006/relationships/notesMaster" Target="/ppt/notesMasters/notesMaster1.xml" Id="R4ef100d5e92a421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1af44533494a89" /><Relationship Type="http://schemas.openxmlformats.org/officeDocument/2006/relationships/notesMaster" Target="/ppt/notesMasters/notesMaster1.xml" Id="Rdccf2783cd914c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349a052d6e24b3f" /><Relationship Type="http://schemas.openxmlformats.org/officeDocument/2006/relationships/notesMaster" Target="/ppt/notesMasters/notesMaster1.xml" Id="R246df5a269e344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dae83c6451402b" /><Relationship Type="http://schemas.openxmlformats.org/officeDocument/2006/relationships/notesMaster" Target="/ppt/notesMasters/notesMaster1.xml" Id="R1c03b3fffa0b47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94d39984e74906" /><Relationship Type="http://schemas.openxmlformats.org/officeDocument/2006/relationships/notesMaster" Target="/ppt/notesMasters/notesMaster1.xml" Id="R0922833b0b824dc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7695b1574bb4c8a" /><Relationship Type="http://schemas.openxmlformats.org/officeDocument/2006/relationships/notesMaster" Target="/ppt/notesMasters/notesMaster1.xml" Id="Rf4bbe9b712f1494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51e1d5d7bcb4ceb" /><Relationship Type="http://schemas.openxmlformats.org/officeDocument/2006/relationships/notesMaster" Target="/ppt/notesMasters/notesMaster1.xml" Id="Rb158d747f14f4f8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99570a7825f4069" /><Relationship Type="http://schemas.openxmlformats.org/officeDocument/2006/relationships/notesMaster" Target="/ppt/notesMasters/notesMaster1.xml" Id="R7b0413649fd94a8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fbdbee4aa864861" /><Relationship Type="http://schemas.openxmlformats.org/officeDocument/2006/relationships/notesMaster" Target="/ppt/notesMasters/notesMaster1.xml" Id="Rdfb1546b7f07409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cf1281818ff4538" /><Relationship Type="http://schemas.openxmlformats.org/officeDocument/2006/relationships/notesMaster" Target="/ppt/notesMasters/notesMaster1.xml" Id="R1e670c0b5ef3428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72f480fc4e046c8" /><Relationship Type="http://schemas.openxmlformats.org/officeDocument/2006/relationships/notesMaster" Target="/ppt/notesMasters/notesMaster1.xml" Id="Rf72c5f09fb944bb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9662148fd164297" /><Relationship Type="http://schemas.openxmlformats.org/officeDocument/2006/relationships/notesMaster" Target="/ppt/notesMasters/notesMaster1.xml" Id="Raa4efd2ed9774fb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05f48ea32974666" /><Relationship Type="http://schemas.openxmlformats.org/officeDocument/2006/relationships/notesMaster" Target="/ppt/notesMasters/notesMaster1.xml" Id="R84811692650a4ae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cd6fceaeb374d27" /><Relationship Type="http://schemas.openxmlformats.org/officeDocument/2006/relationships/notesMaster" Target="/ppt/notesMasters/notesMaster1.xml" Id="R5505422105174ad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2e90d27b67e4cd1" /><Relationship Type="http://schemas.openxmlformats.org/officeDocument/2006/relationships/notesMaster" Target="/ppt/notesMasters/notesMaster1.xml" Id="Rc5f446cf20d9407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2362c45b01141b8" /><Relationship Type="http://schemas.openxmlformats.org/officeDocument/2006/relationships/notesMaster" Target="/ppt/notesMasters/notesMaster1.xml" Id="Re39193e1d916408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5c9977600dd4db0" /><Relationship Type="http://schemas.openxmlformats.org/officeDocument/2006/relationships/notesMaster" Target="/ppt/notesMasters/notesMaster1.xml" Id="Ra80d2d470c8b44d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cef4a4ecee14579" /><Relationship Type="http://schemas.openxmlformats.org/officeDocument/2006/relationships/notesMaster" Target="/ppt/notesMasters/notesMaster1.xml" Id="R80517ee5071041b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20990960f514e68" /><Relationship Type="http://schemas.openxmlformats.org/officeDocument/2006/relationships/notesMaster" Target="/ppt/notesMasters/notesMaster1.xml" Id="R93ab3d4bda4844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Integrated empirical contribution; no claim of a first-ever algorithm or journal acceptance.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ONWR principal-basin geometry. Basin codes and full names are retained in the thesis.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Full provenance, checksums and special-month audit accompany the data.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GLDAS Noah and G3P compartment data; Sharifi et al. (2025), doi:10.5194/hess-29-6985-2025.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strong score in one comparison does not validate the other two.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GRACE lag, well-head feature or unrestricted year trend enters the primary emulator.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TWSA ends September 2024; GWSA ends September 2023. Intervals are conditional within-product estimates.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Basin-level screening, not single-grid-point CSR inference. All 22 basins retain the provider caution.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Spearman rank agreement: TWSA 0.138; GWSA 0.027. Common months and cells; GWS chains also differ in compartments.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CSR RL06.3 native mapping and basin intersection weights; provider documentation.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National anomaly NSE: current → memory is 0.283 → 0.890 for TWSA and 0.039 → 0.723 for GWSA.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CHIRPS replacement: anomaly NSE becomes 0.688 and 0.562. This is forcing sensitivity, not rainfall-accuracy validation.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in 2003–2015; tested in 2016–2023. Empirical delay is not aquifer residence time.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terms share observed support and the 2004–2009 anomaly reference.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CSR observations and paired WaterGAP storage; no invented 2024 counterfactual.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 = H + E exactly. The residual alone is not a measured pumping history.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OLS monthly fixed effects, identical dates and 999 shared two-year-block multipliers. Sen slopes are not additive.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 = |βE| / (|βH| + |βE|). A descriptive magnitude index, not a causal human fraction.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GROW dataset, doi:10.5281/zenodo.15149480; source flags and original intervals retained.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2013–2022 common-period comparisons retain only eight usable storage years. No mission-gap interpolation.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Head-direction results do not estimate groundwater mass or validate total human TWSA.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extended CSR study is versioned separately from the earlier release.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 bibliography and primary source metadata are included in the thesis and manuscript.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claim that GRACE analysis, storage subtraction or groundwater validation is new to Thailand.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single proxy directly measures total human-only storage. Avoid using the same data in subtraction and validation.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26 pre-2004 reservoirs; calendar-month and linear-trend effects removed on matched support. Conditional year-cluster intervals. MSEA-Res: doi:10.5194/essd-17-2693-2025.</a:t>
            </a:r>
          </a:p>
          <a:p xmlns:a="http://schemas.openxmlformats.org/drawingml/2006/main">
            <a:r>
              <a:t>Source: extended CSR-based study; the thesis, manuscript, analysis scripts and LaTeX Beamer source accompany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84209bc2fb4b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d797ba07940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ce59f3ef5d48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22da505d864e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6ec2d0637e4b0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b83649c0e24e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40FD28-557F-4FF9-9F8B-40EC991194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1EDE20D-D3E2-45FE-9938-911C325774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1FD1E77-5913-4FF2-96A9-DD6B202482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721A96-A2BF-406E-AA5A-62CB91461E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593B8B2-52A3-43B4-934D-47BC304727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52308CD-05F8-4AFC-B4DA-D6767E7D0F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822DB4-B64A-46F4-AB78-92518EFCB4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C0297C7-D675-42A4-9DAC-282A57780DE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E0CAF4-B180-4FD7-991E-6A77D8537F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D889303-999D-40DF-90CC-392616E7A2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062b72fb1d4df9" /><Relationship Type="http://schemas.openxmlformats.org/officeDocument/2006/relationships/slideLayout" Target="/ppt/slideLayouts/slideLayout1.xml" Id="Rda12648fb0884368" /><Relationship Type="http://schemas.openxmlformats.org/officeDocument/2006/relationships/slideLayout" Target="/ppt/slideLayouts/slideLayout2.xml" Id="R20ac556879ba42f0" /><Relationship Type="http://schemas.openxmlformats.org/officeDocument/2006/relationships/slideLayout" Target="/ppt/slideLayouts/slideLayout3.xml" Id="R2cd2612c30a849a0" /><Relationship Type="http://schemas.openxmlformats.org/officeDocument/2006/relationships/slideLayout" Target="/ppt/slideLayouts/slideLayout4.xml" Id="Rd6cd55f0e7f245a7" /><Relationship Type="http://schemas.openxmlformats.org/officeDocument/2006/relationships/slideLayout" Target="/ppt/slideLayouts/slideLayout5.xml" Id="R54a147b55aaa46b6" /><Relationship Type="http://schemas.openxmlformats.org/officeDocument/2006/relationships/slideLayout" Target="/ppt/slideLayouts/slideLayout6.xml" Id="R9f6aef96ecb24f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12648fb0884368"/>
    <p:sldLayoutId xmlns:r="http://schemas.openxmlformats.org/officeDocument/2006/relationships" id="2147483650" r:id="R20ac556879ba42f0"/>
    <p:sldLayoutId xmlns:r="http://schemas.openxmlformats.org/officeDocument/2006/relationships" id="2147483651" r:id="R2cd2612c30a849a0"/>
    <p:sldLayoutId xmlns:r="http://schemas.openxmlformats.org/officeDocument/2006/relationships" id="2147483652" r:id="Rd6cd55f0e7f245a7"/>
    <p:sldLayoutId xmlns:r="http://schemas.openxmlformats.org/officeDocument/2006/relationships" id="2147483653" r:id="R54a147b55aaa46b6"/>
    <p:sldLayoutId xmlns:r="http://schemas.openxmlformats.org/officeDocument/2006/relationships" id="2147483654" r:id="R9f6aef96ecb24f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af5786bf364d56" /><Relationship Type="http://schemas.openxmlformats.org/officeDocument/2006/relationships/notesSlide" Target="/ppt/notesSlides/notesSlide1.xml" Id="R43a5048fa64f44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95757767904912" /><Relationship Type="http://schemas.openxmlformats.org/officeDocument/2006/relationships/notesSlide" Target="/ppt/notesSlides/notesSlide2.xml" Id="R84905cc41cd140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144189a931431d" /><Relationship Type="http://schemas.openxmlformats.org/officeDocument/2006/relationships/notesSlide" Target="/ppt/notesSlides/notesSlide3.xml" Id="R8ae3a0d38d1c40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e4f8b755d249f7" /><Relationship Type="http://schemas.openxmlformats.org/officeDocument/2006/relationships/image" Target="/ppt/media/image.png" Id="R826bfe5c99e54df2" /><Relationship Type="http://schemas.openxmlformats.org/officeDocument/2006/relationships/notesSlide" Target="/ppt/notesSlides/notesSlide4.xml" Id="R1d6789e649fa4e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41d0eb98fc4934" /><Relationship Type="http://schemas.openxmlformats.org/officeDocument/2006/relationships/notesSlide" Target="/ppt/notesSlides/notesSlide5.xml" Id="R254305b1ddf34f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129ffdb7fe4dfc" /><Relationship Type="http://schemas.openxmlformats.org/officeDocument/2006/relationships/notesSlide" Target="/ppt/notesSlides/notesSlide6.xml" Id="Rfab492ac7b604f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c58b3225c64c0e" /><Relationship Type="http://schemas.openxmlformats.org/officeDocument/2006/relationships/notesSlide" Target="/ppt/notesSlides/notesSlide7.xml" Id="Rd5d1583c95464a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25f47b339148bf" /><Relationship Type="http://schemas.openxmlformats.org/officeDocument/2006/relationships/notesSlide" Target="/ppt/notesSlides/notesSlide8.xml" Id="R7900a5916bb641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fe622625984a12" /><Relationship Type="http://schemas.openxmlformats.org/officeDocument/2006/relationships/notesSlide" Target="/ppt/notesSlides/notesSlide9.xml" Id="R9062c4584b2546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69f901872544f7" /><Relationship Type="http://schemas.openxmlformats.org/officeDocument/2006/relationships/image" Target="/ppt/media/image2.png" Id="R0a91084845254e01" /><Relationship Type="http://schemas.openxmlformats.org/officeDocument/2006/relationships/notesSlide" Target="/ppt/notesSlides/notesSlide10.xml" Id="Rdf2cf0c2135240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ad3de8f0a34577" /><Relationship Type="http://schemas.openxmlformats.org/officeDocument/2006/relationships/image" Target="/ppt/media/image3.png" Id="R8be791ed67974f07" /><Relationship Type="http://schemas.openxmlformats.org/officeDocument/2006/relationships/notesSlide" Target="/ppt/notesSlides/notesSlide11.xml" Id="R3c55e8826e304d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5dcf51eddb4d70" /><Relationship Type="http://schemas.openxmlformats.org/officeDocument/2006/relationships/notesSlide" Target="/ppt/notesSlides/notesSlide12.xml" Id="R6eec3a74226b44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672ac10ae543fa" /><Relationship Type="http://schemas.openxmlformats.org/officeDocument/2006/relationships/image" Target="/ppt/media/image4.png" Id="R8c77a039db4b4b86" /><Relationship Type="http://schemas.openxmlformats.org/officeDocument/2006/relationships/notesSlide" Target="/ppt/notesSlides/notesSlide13.xml" Id="R1a0e6caa6ef946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85225bdd884373" /><Relationship Type="http://schemas.openxmlformats.org/officeDocument/2006/relationships/image" Target="/ppt/media/image5.png" Id="R82f4d716db1848a6" /><Relationship Type="http://schemas.openxmlformats.org/officeDocument/2006/relationships/notesSlide" Target="/ppt/notesSlides/notesSlide14.xml" Id="R7548f12a6f95465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0c422c540d4be2" /><Relationship Type="http://schemas.openxmlformats.org/officeDocument/2006/relationships/notesSlide" Target="/ppt/notesSlides/notesSlide15.xml" Id="Rf8d14936f37f4fb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bfd3893db24f88" /><Relationship Type="http://schemas.openxmlformats.org/officeDocument/2006/relationships/notesSlide" Target="/ppt/notesSlides/notesSlide16.xml" Id="R3b6662afe49a4eb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b4a5ff8db49bb" /><Relationship Type="http://schemas.openxmlformats.org/officeDocument/2006/relationships/image" Target="/ppt/media/image6.png" Id="R36dcffb5ec9f4a56" /><Relationship Type="http://schemas.openxmlformats.org/officeDocument/2006/relationships/notesSlide" Target="/ppt/notesSlides/notesSlide17.xml" Id="Ra386386991e648f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51c1caebf341ee" /><Relationship Type="http://schemas.openxmlformats.org/officeDocument/2006/relationships/image" Target="/ppt/media/image7.png" Id="R2044d11809b74844" /><Relationship Type="http://schemas.openxmlformats.org/officeDocument/2006/relationships/notesSlide" Target="/ppt/notesSlides/notesSlide18.xml" Id="Raf458c9ccb1d4f9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171dd12eb846df" /><Relationship Type="http://schemas.openxmlformats.org/officeDocument/2006/relationships/image" Target="/ppt/media/image8.png" Id="R70dd3312ec184340" /><Relationship Type="http://schemas.openxmlformats.org/officeDocument/2006/relationships/notesSlide" Target="/ppt/notesSlides/notesSlide19.xml" Id="R4d19dd2f84154db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f79dffcd2f484c" /><Relationship Type="http://schemas.openxmlformats.org/officeDocument/2006/relationships/notesSlide" Target="/ppt/notesSlides/notesSlide20.xml" Id="Rf6d3e159403f432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6cfcc75f994a01" /><Relationship Type="http://schemas.openxmlformats.org/officeDocument/2006/relationships/notesSlide" Target="/ppt/notesSlides/notesSlide21.xml" Id="R4beb0eff8e57405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314b26becd4525" /><Relationship Type="http://schemas.openxmlformats.org/officeDocument/2006/relationships/notesSlide" Target="/ppt/notesSlides/notesSlide22.xml" Id="Ra2d656dc34404bf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fff73174024163" /><Relationship Type="http://schemas.openxmlformats.org/officeDocument/2006/relationships/notesSlide" Target="/ppt/notesSlides/notesSlide23.xml" Id="Ra9f48fe95158413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ddfcbfe02a425a" /><Relationship Type="http://schemas.openxmlformats.org/officeDocument/2006/relationships/notesSlide" Target="/ppt/notesSlides/notesSlide24.xml" Id="R1152bfe14151422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0015cae9254d71" /><Relationship Type="http://schemas.openxmlformats.org/officeDocument/2006/relationships/notesSlide" Target="/ppt/notesSlides/notesSlide25.xml" Id="R74e3765d9be84a7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0ff97cd16b4be7" /><Relationship Type="http://schemas.openxmlformats.org/officeDocument/2006/relationships/notesSlide" Target="/ppt/notesSlides/notesSlide26.xml" Id="R3617cdeac1514a6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7aea0b4d0c4b60" /><Relationship Type="http://schemas.openxmlformats.org/officeDocument/2006/relationships/notesSlide" Target="/ppt/notesSlides/notesSlide27.xml" Id="R5591d6778fbc495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b7220bdb74845" /><Relationship Type="http://schemas.openxmlformats.org/officeDocument/2006/relationships/notesSlide" Target="/ppt/notesSlides/notesSlide28.xml" Id="R5b554ccd80ea4f0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8c6572ba284ed9" /><Relationship Type="http://schemas.openxmlformats.org/officeDocument/2006/relationships/notesSlide" Target="/ppt/notesSlides/notesSlide29.xml" Id="R55339709dcab403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b824f37a2849eb" /><Relationship Type="http://schemas.openxmlformats.org/officeDocument/2006/relationships/notesSlide" Target="/ppt/notesSlides/notesSlide30.xml" Id="R305fcb46016d4b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8E29BA-F832-42BC-8FD8-74147884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Water storage trends and attribution credibility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B2796-8E06-4E97-9BF0-EE859144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69B173-9E91-4685-BCD7-D7872E5B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705BE-E99A-48BE-BC51-2B88927C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38325"/>
            <a:ext cx="11163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BEE494-6F11-4EC2-A4F1-009C8DFC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38450"/>
            <a:ext cx="11163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MS in Water Engineering and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C99C6-F892-4689-B4B3-1F4A94D8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95675"/>
            <a:ext cx="11163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Asian Institute of Technology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7F7F9-0B60-42B6-93B2-6DB27C15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111633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Advisor: Dr. Natthachet Tangdamrongsub</a:t>
            </a:r>
          </a:p>
        </p:txBody>
      </p:sp>
    </p:spTree>
    <p:extLst>
      <p:ext uri="{BB962C8B-B14F-4D97-AF65-F5344CB8AC3E}">
        <p14:creationId xmlns:p14="http://schemas.microsoft.com/office/powerpoint/2010/main" val="16529483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4138A-BF02-4AD0-8D2C-54690227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Research objectives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CDA182-0F2D-4AF2-9B2C-D01177F5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EBF536-2517-4DC9-879F-FF391E0A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7B9B2-C410-47C9-B652-4990E105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Storage trends for all 22 principal basins and national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BE853-99B0-4D01-B28E-56AF3C98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Climate-driven storage reconstruction, paired human effects and groundwater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6A4BB-FBD7-48F2-8BD5-E1B75FC0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Interactive decision support with reproducible code and data.</a:t>
            </a:r>
          </a:p>
        </p:txBody>
      </p:sp>
    </p:spTree>
    <p:extLst>
      <p:ext uri="{BB962C8B-B14F-4D97-AF65-F5344CB8AC3E}">
        <p14:creationId xmlns:p14="http://schemas.microsoft.com/office/powerpoint/2010/main" val="9166957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15B1C-0CAF-4715-872D-917460B5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Proposed research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7BABD-0B72-4EB3-88E9-12040435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35796-9CD9-4571-8043-823983D3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3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243298-B2C5-451B-A785-3C46C818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Separate robust national decline from product-dependent basin rankings.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4F1A2-C806-4985-B7E1-09BF6DA7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Test climate memory beyond seasonality and native forcing.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C3918-1C31-40FC-81F3-3862234C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Audit human attribution through model discrepancy and well-network sensitivity.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7B099-9902-41CB-891E-C208968C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Integrated empirical contribution; no claim of a first-ever algorithm or journal acceptance.</a:t>
            </a:r>
          </a:p>
        </p:txBody>
      </p:sp>
    </p:spTree>
    <p:extLst>
      <p:ext uri="{BB962C8B-B14F-4D97-AF65-F5344CB8AC3E}">
        <p14:creationId xmlns:p14="http://schemas.microsoft.com/office/powerpoint/2010/main" val="15340055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7AD60-AB35-484C-AE21-2CAF9FE8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Study domain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F64765-E087-45FD-8E5A-67EF477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68350-F962-4B76-9D0B-A36F0AE7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4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52BD6-F139-48E7-8A66-CEA654A9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ONWR principal-basin geometry. Basin codes and full names are retained in the thesis.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2028D-FE66-487B-A2C9-11AC858AE1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bfe5c99e54df2"/>
          <a:stretch xmlns:a="http://schemas.openxmlformats.org/drawingml/2006/main"/>
        </p:blipFill>
        <p:spPr>
          <a:xfrm xmlns:a="http://schemas.openxmlformats.org/drawingml/2006/main">
            <a:off x="4636480" y="1381125"/>
            <a:ext cx="2919041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401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51034-553D-45F8-8DCD-8C3CDB98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Documented inputs and distinct scientific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2BBA2-EEC6-4832-BE05-B4E5BD2F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654AE-56E0-42FA-AB45-D77377F8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5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2CF840-9539-41A1-B666-2F273311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Full provenance, checksums and special-month audit accompany the data.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F18A4-D330-4436-8626-50E733F02085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3886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476500"/>
                <a:gridCol w="525780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Record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Period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Role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CSR RL06.3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2002–2024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Observed TWSA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GLDAS + G3P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2002–2023/24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Storage compartments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WaterGAP pairing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1981–2023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Naturalized/historical experiment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CHIRPS and cube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2003–2024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Forcing and context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511 Thai wells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Mostly annual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Groundwater consistency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75849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6D37B-1DD0-44AA-8E80-2E747E3A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Groundwater storage balance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9EE030-46BF-45EC-B1C6-8566F976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D5FC2-CDC1-4B6B-9FB0-168328C2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6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7D9B3-57F5-4DCA-8FD3-A2ECA91A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76375"/>
            <a:ext cx="111633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GWSA = TWSA − SMSA − SWSA − CWSA − SWEA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C8A60-7409-49B3-9A50-021A5BA8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10858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All compartments use mm water equivalent and a common reference.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6FE59-708E-4E85-986A-84AB789C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858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Identical valid cells preserve the regional accounting identity.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127FDB-80FD-4ED8-B0BA-DBFE8DE9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48175"/>
            <a:ext cx="10858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Product depth and filtering differences remain structural uncertainty.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A45CB5-2691-402A-A2A1-F23FEE32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GLDAS Noah and G3P compartment data; Sharifi et al. (2025), doi:10.5194/hess-29-6985-2025.</a:t>
            </a:r>
          </a:p>
        </p:txBody>
      </p:sp>
    </p:spTree>
    <p:extLst>
      <p:ext uri="{BB962C8B-B14F-4D97-AF65-F5344CB8AC3E}">
        <p14:creationId xmlns:p14="http://schemas.microsoft.com/office/powerpoint/2010/main" val="10279352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BE39E-F5DB-40CA-BDBF-9171C6B3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Three meanings of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B1A1C4-A3D9-44C5-8D8E-749051EE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4C09E-FEF7-49DA-BB88-EE01AF7C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7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07146-EA8C-4480-8F9A-A30A2C61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A strong score in one comparison does not validate the other two.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AD520-A28C-4E79-AED1-F754D701CDBB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68655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Comparison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it tests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Emulator / naturalized target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Reconstruction of a parent model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Matched land storage / GLDAS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Cross-model component consistency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Residual / groundwater heads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Groundwater pattern agreement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18856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9055F-0306-475C-833B-1FE45A32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Chronological climate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5B4654-B593-49D2-8E24-12BA7CBE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36588-FE37-4C02-8A9C-45411FB7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8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7BFFE-576D-4CCF-9F98-36FC017C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No GRACE lag, well-head feature or unrestricted year trend enters the primary emulator.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AA69D-9807-46DB-8E5B-84C4F9096AD0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476500"/>
                <a:gridCol w="525780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Role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Years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Warm-up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1981–1990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Antecedent weather memory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Train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1991–2009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Fit and internal tuning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Validation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2010–2015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Freeze ensemble choices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Test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2016–2023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Held-out performance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67448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A4084-5B84-42BC-9175-58695C15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National CSR-based storage decline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EA293-2697-4725-B764-0AF7E225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8C929-CC98-4044-8B46-2EBE36A5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9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32838-0BAF-42F5-ACF8-40FFF116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TWSA ends September 2024; GWSA ends September 2023. Intervals are conditional within-product estimates.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9DE49-C4A6-47C0-94F7-4EC2B4E54B2C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1943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2000250"/>
                <a:gridCol w="2476500"/>
                <a:gridCol w="2495550"/>
              </a:tblGrid>
              <a:tr h="6477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Storage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Months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 mm/year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95% interval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TWSA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237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−7.51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−9.79 to −5.68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GWSA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−6.84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−8.77 to −5.11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8845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FE25D-DF5E-45E2-84D7-94E631F7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Basin storage trends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01061-FBCC-4CDD-95C2-C232CEDD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6C5E02-0C3D-4D4A-998F-720E6AD6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10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2D7E5-FE5B-4BFB-B40E-B7F5FDAC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Basin-level screening, not single-grid-point CSR inference. All 22 basins retain the provider caution.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E39BE4-24B7-48AC-85D4-82C137B9A2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91084845254e01"/>
          <a:stretch xmlns:a="http://schemas.openxmlformats.org/drawingml/2006/main"/>
        </p:blipFill>
        <p:spPr>
          <a:xfrm xmlns:a="http://schemas.openxmlformats.org/drawingml/2006/main">
            <a:off x="2761392" y="1381125"/>
            <a:ext cx="6669216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220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F0AB55-1D6F-41E5-85A9-B2B9D670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Product-dependent basin rankings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1BD74-E1F6-4372-B330-81DA7581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F3D53-4311-4468-8C04-9EA94714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11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84D92-83F3-4097-B88D-0F3F3CB0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Spearman rank agreement: TWSA 0.138; GWSA 0.027. Common months and cells; GWS chains also differ in compartments.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03496-1D89-4859-8062-5FC9D208AB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791ed67974f07"/>
          <a:stretch xmlns:a="http://schemas.openxmlformats.org/drawingml/2006/main"/>
        </p:blipFill>
        <p:spPr>
          <a:xfrm xmlns:a="http://schemas.openxmlformats.org/drawingml/2006/main">
            <a:off x="1389514" y="1381125"/>
            <a:ext cx="9412973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10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4CE387-31B4-46B4-B23E-626F43EB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Spatial support is shared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874FE-AE37-44A6-837B-50D67277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3A9214-5D30-4FA1-8760-18E7C3FC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12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BE246-3AE6-47D3-B994-0CA5BE12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National support touches 68 native mascons; inverse concentration is about 50.1.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911B2-86F5-45EA-AE6B-E0CAD3A5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All 22 principal basins are smaller than the provider’s approximate caution area.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F566B-1631-415F-9826-1C37AAF3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Native concentration and overlap are diagnostics, not independent sample counts.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7256C-A7AC-42F8-8148-4F899A41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CSR RL06.3 native mapping and basin intersection weights; provider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20847534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3F43D-DD2C-482E-925F-CCA62120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Climate memory improves anomaly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D3B0FB-D753-46A6-A03B-9160128E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41DDD-4E82-4BC9-BA3A-E0944D93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13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733D4-838F-457C-A12E-7B94EF98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National anomaly NSE: current → memory is 0.283 → 0.890 for TWSA and 0.039 → 0.723 for GWSA.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7DF47-2663-4A38-9500-53D998180A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7a039db4b4b86"/>
          <a:stretch xmlns:a="http://schemas.openxmlformats.org/drawingml/2006/main"/>
        </p:blipFill>
        <p:spPr>
          <a:xfrm xmlns:a="http://schemas.openxmlformats.org/drawingml/2006/main">
            <a:off x="1055015" y="1381125"/>
            <a:ext cx="10081970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5130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D8D23-257E-4A09-B4FF-31EF2839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Independent precipitation changes model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3F429C-DBDB-4EF9-B743-BECC44D3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238F59-123E-4DC1-9EB1-E740E6AC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14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F5969-4275-4049-9222-849C6BCA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CHIRPS replacement: anomaly NSE becomes 0.688 and 0.562. This is forcing sensitivity, not rainfall-accuracy validation.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B0787-9135-4DF3-BD07-FEEE07C3B7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4d716db1848a6"/>
          <a:stretch xmlns:a="http://schemas.openxmlformats.org/drawingml/2006/main"/>
        </p:blipFill>
        <p:spPr>
          <a:xfrm xmlns:a="http://schemas.openxmlformats.org/drawingml/2006/main">
            <a:off x="1090483" y="1381125"/>
            <a:ext cx="10011034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408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06E1F-5645-4BFF-A712-E3836D3E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Held-out observed rainfall response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D90CB-62B4-49B3-8D33-F3FE57C2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29AF5-6E59-4DC3-AB6F-EA7B0D73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15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B909D-BD85-4943-A147-D106631B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Selected in 2003–2015; tested in 2016–2023. Empirical delay is not aquifer residence time.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1D479-4673-4143-AA93-A0ACB728BA08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1943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667000"/>
                <a:gridCol w="1809750"/>
                <a:gridCol w="2000250"/>
                <a:gridCol w="2686050"/>
              </a:tblGrid>
              <a:tr h="6477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Storage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 accumulation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Delay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Test 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Paired months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TWSA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 months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month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0.680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79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GWSA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 months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 months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0.606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76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17488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5E379-7D9D-49F8-A428-66300763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Attribution retains unexplained discrepancy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843BB-7ECA-439C-A896-2678089E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1FE98-2FD4-4BDC-AAB9-7EBBE833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16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58BE1-3EE2-40E3-85D8-CBA1731D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76375"/>
            <a:ext cx="111633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R = O − C = (A − C) + (O − A) = H + 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AFF62-5F6F-422D-95FB-3557C7C8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10858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O: observed; C: naturalized; A: historical-human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10335-3516-4626-9C6C-3064A7D6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858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H = A − C is the human perturbation represented by the model.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8810B6-6989-4958-8493-E269794C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48175"/>
            <a:ext cx="108585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E = O − A remains unresolved observation–model discrepancy.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E1CD3-3D41-415B-AC35-17CC4A4A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All terms share observed support and the 2004–2009 anomaly reference.</a:t>
            </a:r>
          </a:p>
        </p:txBody>
      </p:sp>
    </p:spTree>
    <p:extLst>
      <p:ext uri="{BB962C8B-B14F-4D97-AF65-F5344CB8AC3E}">
        <p14:creationId xmlns:p14="http://schemas.microsoft.com/office/powerpoint/2010/main" val="15424479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26623-026C-46D3-AF44-EB7AA7AD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Observed and modeled storage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61479-0672-47D8-AA1D-C732A40B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19D05-FE22-4A99-BFD6-7EC45BF0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17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B60FC-8B73-4317-88AC-5E94DB44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CSR observations and paired WaterGAP storage; no invented 2024 counterfactual.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66DC0-6B7D-4061-8ECE-AB54FCC4E8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cffb5ec9f4a56"/>
          <a:stretch xmlns:a="http://schemas.openxmlformats.org/drawingml/2006/main"/>
        </p:blipFill>
        <p:spPr>
          <a:xfrm xmlns:a="http://schemas.openxmlformats.org/drawingml/2006/main">
            <a:off x="2056397" y="1381125"/>
            <a:ext cx="8079207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45975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4EC82D-1832-43E9-AE4E-09FDAB40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Residual and paired human effect differ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3FFEB-2D5C-44C6-9394-911B009D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489BD-3E58-4F94-AAF1-EF0A0FE2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18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89182-FD5C-4EF9-B464-FBD44398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R = H + E exactly. The residual alone is not a measured pumping history.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1EB80-A052-4223-9933-48CE0DC5F9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4d11809b74844"/>
          <a:stretch xmlns:a="http://schemas.openxmlformats.org/drawingml/2006/main"/>
        </p:blipFill>
        <p:spPr>
          <a:xfrm xmlns:a="http://schemas.openxmlformats.org/drawingml/2006/main">
            <a:off x="2056397" y="1381125"/>
            <a:ext cx="8079207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02744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4DE7D-68DD-41EF-AB98-37A6E807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Additive national trend partition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E453E-675E-4F7F-AE47-DC0EE752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81782-1301-4FAA-8A0B-716B53BF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19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54C4D-27A1-4A70-8B26-0A17DCEF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OLS monthly fixed effects, identical dates and 999 shared two-year-block multipliers. Sen slopes are not additive.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2D0AF-D41E-44F5-A8EC-9CAB93A8AA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d3312ec184340"/>
          <a:stretch xmlns:a="http://schemas.openxmlformats.org/drawingml/2006/main"/>
        </p:blipFill>
        <p:spPr>
          <a:xfrm xmlns:a="http://schemas.openxmlformats.org/drawingml/2006/main">
            <a:off x="1086603" y="1381125"/>
            <a:ext cx="10018795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11665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6098D-5693-4B69-9BBB-6E816C82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Discrepancy magnitude diagnostic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B2678-B37C-4466-84BF-E488D6D1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58E431-5066-45B6-90EC-B9F47A87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20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AB1589-2A1F-4C59-8B61-6DB2C3EE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D = |βE| / (|βH| + |βE|). A descriptive magnitude index, not a causal human fraction.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567DD-9604-4107-94BB-A9305BB5B892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1943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476500"/>
                <a:gridCol w="525780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Storage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Conditional interval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TWSA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0.938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0.822–0.997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GWSA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0.978–0.999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38422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EA190-97E0-40D7-B351-3D022589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Groundwater observations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30B91-5E6D-4F48-96EA-26656CE4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94826-94A7-4F8A-9D3C-9B6E4BF4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21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9054A-5DAA-41B6-9144-0A2F0DB5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5,484 real aggregates from 511 wells; 506 annual wells and five monthly wells.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47DAE-4F95-46B7-9FEB-DD37341C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Co-located wells are grouped before regional averaging.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F47B73-3794-45A9-B3B3-B34EC1B2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Heads remain in head units; aquifer storage coefficients are not invented.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D56320-02DF-4647-AABB-988332DD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GROW dataset, doi:10.5281/zenodo.15149480; source flags and original intervals retained.</a:t>
            </a:r>
          </a:p>
        </p:txBody>
      </p:sp>
    </p:spTree>
    <p:extLst>
      <p:ext uri="{BB962C8B-B14F-4D97-AF65-F5344CB8AC3E}">
        <p14:creationId xmlns:p14="http://schemas.microsoft.com/office/powerpoint/2010/main" val="73570287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563F6-F702-49E1-9244-20BB8E34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Panel and period control change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E655D-B190-4F47-87EE-AB6639CD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78136-31B0-4849-A837-23C9B56B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22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9F5BC-F614-4E4C-8AB1-6A51C928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2013–2022 common-period comparisons retain only eight usable storage years. No mission-gap interpolation.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49CD0-0835-4E0A-B90B-524B9E432491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2000250"/>
                <a:gridCol w="2476500"/>
                <a:gridCol w="2495550"/>
              </a:tblGrid>
              <a:tr h="6477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Panel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TWS 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GWS 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GWS years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overlap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0.127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0.037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Fixed eligibility/wider history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0.657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0.511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Common period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0.325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0.029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Strict balanced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0.305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-0.000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029145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28630-6EE9-4347-ADD1-50D82C5C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Groundwater evidence remains limited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B74812-8E46-48C4-A5A8-8FD55D3C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8E20C-A40A-4E7F-BE7A-0B8ADBCF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23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A253E-3D45-4196-A043-A7B73A61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Strict balanced groundwater residual–head correlation is approximately zero.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327A57-8A15-4424-B81C-B5F07A56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382 eligible annual wells reduce to 225 coordinate-station trend trajectories.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51642-D24F-4E88-A727-163BE902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54.2% decline in head, with a station-resampling interval of 47.1–60.0%.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56E142-CD78-409A-A1B5-6EE5EF65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Head-direction results do not estimate groundwater mass or validate total human TWSA.</a:t>
            </a:r>
          </a:p>
        </p:txBody>
      </p:sp>
    </p:spTree>
    <p:extLst>
      <p:ext uri="{BB962C8B-B14F-4D97-AF65-F5344CB8AC3E}">
        <p14:creationId xmlns:p14="http://schemas.microsoft.com/office/powerpoint/2010/main" val="19189188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1ADAC-7C66-4F49-992B-6B43AD95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Conclusions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1A04E9-FFCA-4B25-A50F-43A4D435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5E1E56-8EFB-4223-BE7B-994C7611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24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C6398C-EE3A-4C46-9C13-86BA219E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Broad storage decline is more robust than local severity rankings.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48B4A-A7FD-444E-B11F-7F75283B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Climate memory reconstructs a naturalized model well; attribution remains conditional.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73797-E05F-4CE8-B45D-5064FD2E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Groundwater panel tests do not validate the whole residual as human-caused depletion.</a:t>
            </a:r>
          </a:p>
        </p:txBody>
      </p:sp>
    </p:spTree>
    <p:extLst>
      <p:ext uri="{BB962C8B-B14F-4D97-AF65-F5344CB8AC3E}">
        <p14:creationId xmlns:p14="http://schemas.microsoft.com/office/powerpoint/2010/main" val="141273787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A144A-6DCC-4595-BF98-1F7D3010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Decision support and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81F262-BEF4-427A-A3E8-9EE76D41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403E2-6434-4ABF-B054-E5D97573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25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117FD-6799-492B-919B-FEE247D1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Inspect basin records, products, conditional uncertainty and observation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1B8DF-4405-46C7-AF53-A5426F1C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Download source-specific inputs, scientific tables and executable scripts.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61FB5-D2FD-4B41-8D67-A1E10ED1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github.com/pratikkhanal16/thailand-water-storage-dss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514B7-A4D3-4FC3-8F92-FCE2E4DF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The extended CSR study is versioned separately from the earlier release.</a:t>
            </a:r>
          </a:p>
        </p:txBody>
      </p:sp>
    </p:spTree>
    <p:extLst>
      <p:ext uri="{BB962C8B-B14F-4D97-AF65-F5344CB8AC3E}">
        <p14:creationId xmlns:p14="http://schemas.microsoft.com/office/powerpoint/2010/main" val="21381033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363AB-2931-4E42-89D3-CF2497F3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Research priorities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DF93DF-131C-4489-8EDE-263B6904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15E77-6C9E-4849-86BA-93123D9C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26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FF7E0-87DE-41AA-A585-06DD90CE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Aquifer-specific monthly heads, screened intervals and verified storage coefficients.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DE4E8-270F-4823-ADBF-BBD3778E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Independent pumping, recharge and reservoir-operation histories.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B07181-8243-454B-93C2-3249605F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Additional naturalized models and physically harmonized compartment products.</a:t>
            </a:r>
          </a:p>
        </p:txBody>
      </p:sp>
    </p:spTree>
    <p:extLst>
      <p:ext uri="{BB962C8B-B14F-4D97-AF65-F5344CB8AC3E}">
        <p14:creationId xmlns:p14="http://schemas.microsoft.com/office/powerpoint/2010/main" val="49342551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9F4061-8E1A-4AB5-ACF4-EE4F8E76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Selected 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9AE1C-2451-40A0-B75D-9CC1FED3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0C1A8-2C98-42C5-8E9D-658BA5BD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27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031E8-A976-493E-B776-BD7295F9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Save et al. (2016): doi:10.1002/2016JB013007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1DC33-9BEC-470C-8570-34D0FC8B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Müller Schmied et al. (2024): doi:10.5194/gmd-17-8817-2024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C7B27-40BA-43BD-936F-56291E8C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Sharifi et al. (2025): doi:10.5194/hess-29-6985-2025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5CBAC-E0CF-439D-AEE4-EEA0E5DC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Complete bibliography and primary source metadata are included in the thesis and manuscript.</a:t>
            </a:r>
          </a:p>
        </p:txBody>
      </p:sp>
    </p:spTree>
    <p:extLst>
      <p:ext uri="{BB962C8B-B14F-4D97-AF65-F5344CB8AC3E}">
        <p14:creationId xmlns:p14="http://schemas.microsoft.com/office/powerpoint/2010/main" val="138972144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FD73E-3B07-4F89-A4FE-D3693614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Related Thai work and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768B8-BB6F-4214-9197-F6C2CBB6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751B2-3142-4106-A68D-39B07457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28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D60A5-C421-47E3-9FFC-A0754AC3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Abhishek et al. (2021): doi:10.1016/j.jhydrol.2021.126868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71EFB7-55B2-4ABF-8DCB-888A6F79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Sharma et al. (2025): doi:10.3390/rs17101731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B4E08-BCEA-41B1-AF58-C960D9EE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10858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E2930"/>
                </a:solidFill>
                <a:latin typeface="Times New Roman"/>
                <a:ea typeface="Times New Roman"/>
                <a:cs typeface="Times New Roman"/>
              </a:defRPr>
            </a:pPr>
            <a:r>
              <a:t>Contribution: joint product, climate-memory, discrepancy and observation-network audit.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684C7-A2C3-4B7F-A2F0-AF1CA4B7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No claim that GRACE analysis, storage subtraction or groundwater validation is new to Thailand.</a:t>
            </a:r>
          </a:p>
        </p:txBody>
      </p:sp>
    </p:spTree>
    <p:extLst>
      <p:ext uri="{BB962C8B-B14F-4D97-AF65-F5344CB8AC3E}">
        <p14:creationId xmlns:p14="http://schemas.microsoft.com/office/powerpoint/2010/main" val="188928114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2B5CF-F538-4F84-A3B2-A3266C64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Validation beyond groundwater levels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18E88-409F-4626-A850-48131E1D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17F08-D076-4733-B049-4B8EE36F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29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14A0B-1499-4F09-908A-4FA7A4CE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No single proxy directly measures total human-only storage. Avoid using the same data in subtraction and validation.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F5B84-13D1-430A-B169-EE6BE9C7B729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68655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Independent evidence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it can test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Reservoir volume and operation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Surface-water contribution and management timing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Pumping and consumptive use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Withdrawal mechanism; returns and recharge still matter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InSAR / GNSS subsidence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Aquifer deformation; requires geomechanical context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193407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0076B-86B1-42C4-B966-EC3F72B7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111633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C50"/>
                </a:solidFill>
                <a:latin typeface="Times New Roman"/>
                <a:ea typeface="Times New Roman"/>
                <a:cs typeface="Times New Roman"/>
              </a:defRPr>
            </a:pPr>
            <a:r>
              <a:t>New independent reservoir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898B6-4C09-4E5A-8D5D-9C5B4BB3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Farzeen Khan  ·  AIT  · 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8C482-CBE7-45AF-8018-157FF0CD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857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1707A"/>
                </a:solidFill>
                <a:latin typeface="Times New Roman"/>
                <a:ea typeface="Times New Roman"/>
                <a:cs typeface="Times New Roman"/>
              </a:defRPr>
            </a:pPr>
            <a:r>
              <a:t>30 / 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7F507-9AFA-459C-87F3-883EFD91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defPPr>
            <a:lvl1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37079"/>
                </a:solidFill>
                <a:latin typeface="Times New Roman"/>
                <a:ea typeface="Times New Roman"/>
                <a:cs typeface="Times New Roman"/>
              </a:defRPr>
            </a:pPr>
            <a:r>
              <a:t>26 pre-2004 reservoirs; calendar-month and linear-trend effects removed on matched support. Conditional year-cluster intervals. MSEA-Res: doi:10.5194/essd-17-2693-2025.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E35C2-EC32-4312-B23E-8911DB034901}"/>
              </a:ext>
            </a:extLst>
          </p:cNvPr>
          <p:cNvGraphicFramePr/>
          <p:nvPr/>
        </p:nvGraphicFramePr>
        <p:xfrm>
          <a:off xmlns:a="http://schemas.openxmlformats.org/drawingml/2006/main" x="514350" y="1590675"/>
          <a:ext xmlns:a="http://schemas.openxmlformats.org/drawingml/2006/main" cx="11163300" cy="1943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476500"/>
                <a:gridCol w="5257800"/>
              </a:tblGrid>
              <a:tr h="6477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Product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Matched months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Adjusted TWS 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T w="6668">
                      <a:solidFill>
                        <a:srgbClr val="BDC9D0"/>
                      </a:solidFill>
                      <a:prstDash val="solid"/>
                    </a:lnT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EA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Scene-supported Level 1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73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0.439 [0.188, 0.665]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Provider-interpolated Level 2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DC9D0"/>
                      </a:solidFill>
                      <a:prstDash val="solid"/>
                    </a:lnL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E293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0.381 [0.144, 0.552]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DC9D0"/>
                      </a:solidFill>
                      <a:prstDash val="solid"/>
                    </a:lnR>
                    <a:lnB w="6668">
                      <a:solidFill>
                        <a:srgbClr val="BDC9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104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2026-10-25T05:32:26.3320000Z</dcterms:created>
  <dcterms:modified xsi:type="dcterms:W3CDTF">2026-10-25T05:32:26.3320000Z</dcterms:modified>
</coreProperties>
</file>