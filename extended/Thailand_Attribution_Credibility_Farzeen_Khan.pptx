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f999ed6ce14b5c" /><Relationship Type="http://schemas.openxmlformats.org/officeDocument/2006/relationships/extended-properties" Target="/docProps/app.xml" Id="R733551f3e37842b3" /><Relationship Type="http://schemas.openxmlformats.org/officeDocument/2006/relationships/officeDocument" Target="/ppt/presentation.xml" Id="R334d80e6cb38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f168c92204874"/>
  </p:sldMasterIdLst>
  <p:notesMasterIdLst>
    <p:notesMasterId xmlns:r="http://schemas.openxmlformats.org/officeDocument/2006/relationships" r:id="R1bbb178eb0a040bb"/>
  </p:notesMasterIdLst>
  <p:sldIdLst>
    <p:sldId xmlns:r="http://schemas.openxmlformats.org/officeDocument/2006/relationships" id="256" r:id="R0a0d5c88aa28437f"/>
    <p:sldId xmlns:r="http://schemas.openxmlformats.org/officeDocument/2006/relationships" id="257" r:id="Rcd394ed97f574336"/>
    <p:sldId xmlns:r="http://schemas.openxmlformats.org/officeDocument/2006/relationships" id="258" r:id="Rcac50a0b61024661"/>
    <p:sldId xmlns:r="http://schemas.openxmlformats.org/officeDocument/2006/relationships" id="259" r:id="Rc8bba61458a64926"/>
    <p:sldId xmlns:r="http://schemas.openxmlformats.org/officeDocument/2006/relationships" id="260" r:id="Rc16204790edc4767"/>
    <p:sldId xmlns:r="http://schemas.openxmlformats.org/officeDocument/2006/relationships" id="261" r:id="R9ff50f5560d94de7"/>
    <p:sldId xmlns:r="http://schemas.openxmlformats.org/officeDocument/2006/relationships" id="262" r:id="Ra480446d80204b98"/>
    <p:sldId xmlns:r="http://schemas.openxmlformats.org/officeDocument/2006/relationships" id="263" r:id="Rb3e940a7e8f3470a"/>
    <p:sldId xmlns:r="http://schemas.openxmlformats.org/officeDocument/2006/relationships" id="264" r:id="R9a636b8f835b466e"/>
    <p:sldId xmlns:r="http://schemas.openxmlformats.org/officeDocument/2006/relationships" id="265" r:id="R042426f9c7da4d21"/>
    <p:sldId xmlns:r="http://schemas.openxmlformats.org/officeDocument/2006/relationships" id="266" r:id="R6bfa17b0f4f64866"/>
    <p:sldId xmlns:r="http://schemas.openxmlformats.org/officeDocument/2006/relationships" id="267" r:id="Rd6ba0e217b2748d7"/>
    <p:sldId xmlns:r="http://schemas.openxmlformats.org/officeDocument/2006/relationships" id="268" r:id="R30f7e57d560346d5"/>
    <p:sldId xmlns:r="http://schemas.openxmlformats.org/officeDocument/2006/relationships" id="269" r:id="R81e34555ea1c4abc"/>
    <p:sldId xmlns:r="http://schemas.openxmlformats.org/officeDocument/2006/relationships" id="270" r:id="R42c0c48b05ec4769"/>
    <p:sldId xmlns:r="http://schemas.openxmlformats.org/officeDocument/2006/relationships" id="271" r:id="Rc79f0fe6d9674b24"/>
    <p:sldId xmlns:r="http://schemas.openxmlformats.org/officeDocument/2006/relationships" id="272" r:id="Rf878d5dfc4704ec1"/>
    <p:sldId xmlns:r="http://schemas.openxmlformats.org/officeDocument/2006/relationships" id="273" r:id="R1f91014a1e3f442d"/>
    <p:sldId xmlns:r="http://schemas.openxmlformats.org/officeDocument/2006/relationships" id="274" r:id="R0375df052ce9458b"/>
    <p:sldId xmlns:r="http://schemas.openxmlformats.org/officeDocument/2006/relationships" id="275" r:id="Rc34d895c9ac14310"/>
    <p:sldId xmlns:r="http://schemas.openxmlformats.org/officeDocument/2006/relationships" id="276" r:id="R83922439d0ee4991"/>
    <p:sldId xmlns:r="http://schemas.openxmlformats.org/officeDocument/2006/relationships" id="277" r:id="R45ba6d05938a42ed"/>
    <p:sldId xmlns:r="http://schemas.openxmlformats.org/officeDocument/2006/relationships" id="278" r:id="Rbd6d4bcfe68d4a1c"/>
    <p:sldId xmlns:r="http://schemas.openxmlformats.org/officeDocument/2006/relationships" id="279" r:id="Ra429ab2159f14a3b"/>
    <p:sldId xmlns:r="http://schemas.openxmlformats.org/officeDocument/2006/relationships" id="280" r:id="R38deca89a5954ff2"/>
    <p:sldId xmlns:r="http://schemas.openxmlformats.org/officeDocument/2006/relationships" id="281" r:id="R9a4cc2924df645df"/>
    <p:sldId xmlns:r="http://schemas.openxmlformats.org/officeDocument/2006/relationships" id="282" r:id="R58eacc53f3e94179"/>
    <p:sldId xmlns:r="http://schemas.openxmlformats.org/officeDocument/2006/relationships" id="283" r:id="R7e2bd1e1d29d4b95"/>
    <p:sldId xmlns:r="http://schemas.openxmlformats.org/officeDocument/2006/relationships" id="284" r:id="R6f36370311fa4479"/>
    <p:sldId xmlns:r="http://schemas.openxmlformats.org/officeDocument/2006/relationships" id="285" r:id="R1dda175d1afa4115"/>
    <p:sldId xmlns:r="http://schemas.openxmlformats.org/officeDocument/2006/relationships" id="286" r:id="R87819f39085448ef"/>
    <p:sldId xmlns:r="http://schemas.openxmlformats.org/officeDocument/2006/relationships" id="287" r:id="R7c62b2f8b711497b"/>
    <p:sldId xmlns:r="http://schemas.openxmlformats.org/officeDocument/2006/relationships" id="288" r:id="R01595c49baf14b61"/>
    <p:sldId xmlns:r="http://schemas.openxmlformats.org/officeDocument/2006/relationships" id="289" r:id="R3633ba11c84542a9"/>
    <p:sldId xmlns:r="http://schemas.openxmlformats.org/officeDocument/2006/relationships" id="290" r:id="R59250da30eda433d"/>
    <p:sldId xmlns:r="http://schemas.openxmlformats.org/officeDocument/2006/relationships" id="291" r:id="R91f928f3b63b4b46"/>
    <p:sldId xmlns:r="http://schemas.openxmlformats.org/officeDocument/2006/relationships" id="292" r:id="R801a4b46d2654370"/>
    <p:sldId xmlns:r="http://schemas.openxmlformats.org/officeDocument/2006/relationships" id="293" r:id="R53a30a5c738a47d0"/>
    <p:sldId xmlns:r="http://schemas.openxmlformats.org/officeDocument/2006/relationships" id="294" r:id="Rad323330820a4101"/>
    <p:sldId xmlns:r="http://schemas.openxmlformats.org/officeDocument/2006/relationships" id="295" r:id="R7d918c5d092c49ea"/>
    <p:sldId xmlns:r="http://schemas.openxmlformats.org/officeDocument/2006/relationships" id="296" r:id="R97e9f9e234134dc2"/>
    <p:sldId xmlns:r="http://schemas.openxmlformats.org/officeDocument/2006/relationships" id="297" r:id="R675c795ed6ca46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83b81d2a8040b1" /><Relationship Type="http://schemas.openxmlformats.org/officeDocument/2006/relationships/slideMaster" Target="/ppt/slideMasters/slideMaster1.xml" Id="R315f168c92204874" /><Relationship Type="http://schemas.openxmlformats.org/officeDocument/2006/relationships/notesMaster" Target="/ppt/notesMasters/notesMaster1.xml" Id="R1bbb178eb0a040bb" /><Relationship Type="http://schemas.openxmlformats.org/officeDocument/2006/relationships/presProps" Target="/ppt/presProps.xml" Id="Rac0b84c8f425463b" /><Relationship Type="http://schemas.openxmlformats.org/officeDocument/2006/relationships/tableStyles" Target="/ppt/tableStyles.xml" Id="R3972872b93bc48f0" /><Relationship Type="http://schemas.openxmlformats.org/officeDocument/2006/relationships/slide" Target="/ppt/slides/slide1.xml" Id="R0a0d5c88aa28437f" /><Relationship Type="http://schemas.openxmlformats.org/officeDocument/2006/relationships/slide" Target="/ppt/slides/slide2.xml" Id="Rcd394ed97f574336" /><Relationship Type="http://schemas.openxmlformats.org/officeDocument/2006/relationships/slide" Target="/ppt/slides/slide3.xml" Id="Rcac50a0b61024661" /><Relationship Type="http://schemas.openxmlformats.org/officeDocument/2006/relationships/slide" Target="/ppt/slides/slide4.xml" Id="Rc8bba61458a64926" /><Relationship Type="http://schemas.openxmlformats.org/officeDocument/2006/relationships/slide" Target="/ppt/slides/slide5.xml" Id="Rc16204790edc4767" /><Relationship Type="http://schemas.openxmlformats.org/officeDocument/2006/relationships/slide" Target="/ppt/slides/slide6.xml" Id="R9ff50f5560d94de7" /><Relationship Type="http://schemas.openxmlformats.org/officeDocument/2006/relationships/slide" Target="/ppt/slides/slide7.xml" Id="Ra480446d80204b98" /><Relationship Type="http://schemas.openxmlformats.org/officeDocument/2006/relationships/slide" Target="/ppt/slides/slide8.xml" Id="Rb3e940a7e8f3470a" /><Relationship Type="http://schemas.openxmlformats.org/officeDocument/2006/relationships/slide" Target="/ppt/slides/slide9.xml" Id="R9a636b8f835b466e" /><Relationship Type="http://schemas.openxmlformats.org/officeDocument/2006/relationships/slide" Target="/ppt/slides/slide10.xml" Id="R042426f9c7da4d21" /><Relationship Type="http://schemas.openxmlformats.org/officeDocument/2006/relationships/slide" Target="/ppt/slides/slide11.xml" Id="R6bfa17b0f4f64866" /><Relationship Type="http://schemas.openxmlformats.org/officeDocument/2006/relationships/slide" Target="/ppt/slides/slide12.xml" Id="Rd6ba0e217b2748d7" /><Relationship Type="http://schemas.openxmlformats.org/officeDocument/2006/relationships/slide" Target="/ppt/slides/slide13.xml" Id="R30f7e57d560346d5" /><Relationship Type="http://schemas.openxmlformats.org/officeDocument/2006/relationships/slide" Target="/ppt/slides/slide14.xml" Id="R81e34555ea1c4abc" /><Relationship Type="http://schemas.openxmlformats.org/officeDocument/2006/relationships/slide" Target="/ppt/slides/slide15.xml" Id="R42c0c48b05ec4769" /><Relationship Type="http://schemas.openxmlformats.org/officeDocument/2006/relationships/slide" Target="/ppt/slides/slide16.xml" Id="Rc79f0fe6d9674b24" /><Relationship Type="http://schemas.openxmlformats.org/officeDocument/2006/relationships/slide" Target="/ppt/slides/slide17.xml" Id="Rf878d5dfc4704ec1" /><Relationship Type="http://schemas.openxmlformats.org/officeDocument/2006/relationships/slide" Target="/ppt/slides/slide18.xml" Id="R1f91014a1e3f442d" /><Relationship Type="http://schemas.openxmlformats.org/officeDocument/2006/relationships/slide" Target="/ppt/slides/slide19.xml" Id="R0375df052ce9458b" /><Relationship Type="http://schemas.openxmlformats.org/officeDocument/2006/relationships/slide" Target="/ppt/slides/slide20.xml" Id="Rc34d895c9ac14310" /><Relationship Type="http://schemas.openxmlformats.org/officeDocument/2006/relationships/slide" Target="/ppt/slides/slide21.xml" Id="R83922439d0ee4991" /><Relationship Type="http://schemas.openxmlformats.org/officeDocument/2006/relationships/slide" Target="/ppt/slides/slide22.xml" Id="R45ba6d05938a42ed" /><Relationship Type="http://schemas.openxmlformats.org/officeDocument/2006/relationships/slide" Target="/ppt/slides/slide23.xml" Id="Rbd6d4bcfe68d4a1c" /><Relationship Type="http://schemas.openxmlformats.org/officeDocument/2006/relationships/slide" Target="/ppt/slides/slide24.xml" Id="Ra429ab2159f14a3b" /><Relationship Type="http://schemas.openxmlformats.org/officeDocument/2006/relationships/slide" Target="/ppt/slides/slide25.xml" Id="R38deca89a5954ff2" /><Relationship Type="http://schemas.openxmlformats.org/officeDocument/2006/relationships/slide" Target="/ppt/slides/slide26.xml" Id="R9a4cc2924df645df" /><Relationship Type="http://schemas.openxmlformats.org/officeDocument/2006/relationships/slide" Target="/ppt/slides/slide27.xml" Id="R58eacc53f3e94179" /><Relationship Type="http://schemas.openxmlformats.org/officeDocument/2006/relationships/slide" Target="/ppt/slides/slide28.xml" Id="R7e2bd1e1d29d4b95" /><Relationship Type="http://schemas.openxmlformats.org/officeDocument/2006/relationships/slide" Target="/ppt/slides/slide29.xml" Id="R6f36370311fa4479" /><Relationship Type="http://schemas.openxmlformats.org/officeDocument/2006/relationships/slide" Target="/ppt/slides/slide30.xml" Id="R1dda175d1afa4115" /><Relationship Type="http://schemas.openxmlformats.org/officeDocument/2006/relationships/slide" Target="/ppt/slides/slide31.xml" Id="R87819f39085448ef" /><Relationship Type="http://schemas.openxmlformats.org/officeDocument/2006/relationships/slide" Target="/ppt/slides/slide32.xml" Id="R7c62b2f8b711497b" /><Relationship Type="http://schemas.openxmlformats.org/officeDocument/2006/relationships/slide" Target="/ppt/slides/slide33.xml" Id="R01595c49baf14b61" /><Relationship Type="http://schemas.openxmlformats.org/officeDocument/2006/relationships/slide" Target="/ppt/slides/slide34.xml" Id="R3633ba11c84542a9" /><Relationship Type="http://schemas.openxmlformats.org/officeDocument/2006/relationships/slide" Target="/ppt/slides/slide35.xml" Id="R59250da30eda433d" /><Relationship Type="http://schemas.openxmlformats.org/officeDocument/2006/relationships/slide" Target="/ppt/slides/slide36.xml" Id="R91f928f3b63b4b46" /><Relationship Type="http://schemas.openxmlformats.org/officeDocument/2006/relationships/slide" Target="/ppt/slides/slide37.xml" Id="R801a4b46d2654370" /><Relationship Type="http://schemas.openxmlformats.org/officeDocument/2006/relationships/slide" Target="/ppt/slides/slide38.xml" Id="R53a30a5c738a47d0" /><Relationship Type="http://schemas.openxmlformats.org/officeDocument/2006/relationships/slide" Target="/ppt/slides/slide39.xml" Id="Rad323330820a4101" /><Relationship Type="http://schemas.openxmlformats.org/officeDocument/2006/relationships/slide" Target="/ppt/slides/slide40.xml" Id="R7d918c5d092c49ea" /><Relationship Type="http://schemas.openxmlformats.org/officeDocument/2006/relationships/slide" Target="/ppt/slides/slide41.xml" Id="R97e9f9e234134dc2" /><Relationship Type="http://schemas.openxmlformats.org/officeDocument/2006/relationships/slide" Target="/ppt/slides/slide42.xml" Id="R675c795ed6ca46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b4aa0575be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d337298264451" /><Relationship Type="http://schemas.openxmlformats.org/officeDocument/2006/relationships/notesMaster" Target="/ppt/notesMasters/notesMaster1.xml" Id="R178e588ef0f94f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e756f775f419d" /><Relationship Type="http://schemas.openxmlformats.org/officeDocument/2006/relationships/notesMaster" Target="/ppt/notesMasters/notesMaster1.xml" Id="Rbe229ce5588c42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9da36aef1f4908" /><Relationship Type="http://schemas.openxmlformats.org/officeDocument/2006/relationships/notesMaster" Target="/ppt/notesMasters/notesMaster1.xml" Id="R5eb7568eca7849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a674a391af438e" /><Relationship Type="http://schemas.openxmlformats.org/officeDocument/2006/relationships/notesMaster" Target="/ppt/notesMasters/notesMaster1.xml" Id="R7b4710de012b49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5a4ae47e6443e" /><Relationship Type="http://schemas.openxmlformats.org/officeDocument/2006/relationships/notesMaster" Target="/ppt/notesMasters/notesMaster1.xml" Id="R551d1d84a7584c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6125e5b70b42ea" /><Relationship Type="http://schemas.openxmlformats.org/officeDocument/2006/relationships/notesMaster" Target="/ppt/notesMasters/notesMaster1.xml" Id="R6cfff1dbef7f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7c5aa5a728402a" /><Relationship Type="http://schemas.openxmlformats.org/officeDocument/2006/relationships/notesMaster" Target="/ppt/notesMasters/notesMaster1.xml" Id="Rf0bc0225c630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25d950e4054692" /><Relationship Type="http://schemas.openxmlformats.org/officeDocument/2006/relationships/notesMaster" Target="/ppt/notesMasters/notesMaster1.xml" Id="R6e526b8302a942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2510c0f1d0456b" /><Relationship Type="http://schemas.openxmlformats.org/officeDocument/2006/relationships/notesMaster" Target="/ppt/notesMasters/notesMaster1.xml" Id="R93dabbce716a4f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62f2d43e964bec" /><Relationship Type="http://schemas.openxmlformats.org/officeDocument/2006/relationships/notesMaster" Target="/ppt/notesMasters/notesMaster1.xml" Id="Rbccea5a3eb3746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227b2ef5e0493c" /><Relationship Type="http://schemas.openxmlformats.org/officeDocument/2006/relationships/notesMaster" Target="/ppt/notesMasters/notesMaster1.xml" Id="R74d9e64cad5b42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81ace5257140a0" /><Relationship Type="http://schemas.openxmlformats.org/officeDocument/2006/relationships/notesMaster" Target="/ppt/notesMasters/notesMaster1.xml" Id="R96de114c379742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e6698df32b4406" /><Relationship Type="http://schemas.openxmlformats.org/officeDocument/2006/relationships/notesMaster" Target="/ppt/notesMasters/notesMaster1.xml" Id="R207e0f265acf41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9616e56db14a34" /><Relationship Type="http://schemas.openxmlformats.org/officeDocument/2006/relationships/notesMaster" Target="/ppt/notesMasters/notesMaster1.xml" Id="Rc74943ada1e14a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9db52f42534891" /><Relationship Type="http://schemas.openxmlformats.org/officeDocument/2006/relationships/notesMaster" Target="/ppt/notesMasters/notesMaster1.xml" Id="R56c7b873b16a41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1a6948a1f048bb" /><Relationship Type="http://schemas.openxmlformats.org/officeDocument/2006/relationships/notesMaster" Target="/ppt/notesMasters/notesMaster1.xml" Id="R807cb5ddf9c046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aef3c443ab4b46" /><Relationship Type="http://schemas.openxmlformats.org/officeDocument/2006/relationships/notesMaster" Target="/ppt/notesMasters/notesMaster1.xml" Id="Rbd8f08c8a7cb49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6fa495230543f6" /><Relationship Type="http://schemas.openxmlformats.org/officeDocument/2006/relationships/notesMaster" Target="/ppt/notesMasters/notesMaster1.xml" Id="Rb1e71c1a88094c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a0857ae1c14a08" /><Relationship Type="http://schemas.openxmlformats.org/officeDocument/2006/relationships/notesMaster" Target="/ppt/notesMasters/notesMaster1.xml" Id="R2d67f7c805c444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6d0cfee414404a" /><Relationship Type="http://schemas.openxmlformats.org/officeDocument/2006/relationships/notesMaster" Target="/ppt/notesMasters/notesMaster1.xml" Id="R6cd33568b50f4e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b311a31dac47e6" /><Relationship Type="http://schemas.openxmlformats.org/officeDocument/2006/relationships/notesMaster" Target="/ppt/notesMasters/notesMaster1.xml" Id="Rba5f7da44d1a44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6708c7ba29481a" /><Relationship Type="http://schemas.openxmlformats.org/officeDocument/2006/relationships/notesMaster" Target="/ppt/notesMasters/notesMaster1.xml" Id="Rf114826177214c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734919c0a64838" /><Relationship Type="http://schemas.openxmlformats.org/officeDocument/2006/relationships/notesMaster" Target="/ppt/notesMasters/notesMaster1.xml" Id="Rd6555cec1cf744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02c368b26e454f" /><Relationship Type="http://schemas.openxmlformats.org/officeDocument/2006/relationships/notesMaster" Target="/ppt/notesMasters/notesMaster1.xml" Id="Rcc6a6c45c94e4d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c909619c0f4558" /><Relationship Type="http://schemas.openxmlformats.org/officeDocument/2006/relationships/notesMaster" Target="/ppt/notesMasters/notesMaster1.xml" Id="R08db71e62ed341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bdf3b0ae02492a" /><Relationship Type="http://schemas.openxmlformats.org/officeDocument/2006/relationships/notesMaster" Target="/ppt/notesMasters/notesMaster1.xml" Id="Ra4c877c0769641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96e309ca7564855" /><Relationship Type="http://schemas.openxmlformats.org/officeDocument/2006/relationships/notesMaster" Target="/ppt/notesMasters/notesMaster1.xml" Id="Rc415a97da19f4e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f41e0e42ecf475a" /><Relationship Type="http://schemas.openxmlformats.org/officeDocument/2006/relationships/notesMaster" Target="/ppt/notesMasters/notesMaster1.xml" Id="Rc92104e4e2c74c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4f611e528f4ae0" /><Relationship Type="http://schemas.openxmlformats.org/officeDocument/2006/relationships/notesMaster" Target="/ppt/notesMasters/notesMaster1.xml" Id="Re9129a76c98e47f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519d5116c7d4f14" /><Relationship Type="http://schemas.openxmlformats.org/officeDocument/2006/relationships/notesMaster" Target="/ppt/notesMasters/notesMaster1.xml" Id="R11aeeebee2144b5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99d3576e9304c31" /><Relationship Type="http://schemas.openxmlformats.org/officeDocument/2006/relationships/notesMaster" Target="/ppt/notesMasters/notesMaster1.xml" Id="R2aaf54830a0f4e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c6c701514c84889" /><Relationship Type="http://schemas.openxmlformats.org/officeDocument/2006/relationships/notesMaster" Target="/ppt/notesMasters/notesMaster1.xml" Id="Rb8833ccb45d447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fc78b555408455d" /><Relationship Type="http://schemas.openxmlformats.org/officeDocument/2006/relationships/notesMaster" Target="/ppt/notesMasters/notesMaster1.xml" Id="R44e969db413f441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ed0563e4de748c6" /><Relationship Type="http://schemas.openxmlformats.org/officeDocument/2006/relationships/notesMaster" Target="/ppt/notesMasters/notesMaster1.xml" Id="R6941741cdee04a8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54c9c4de89c48ea" /><Relationship Type="http://schemas.openxmlformats.org/officeDocument/2006/relationships/notesMaster" Target="/ppt/notesMasters/notesMaster1.xml" Id="Ree1ae28bb4cd45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5a4350c08b4177" /><Relationship Type="http://schemas.openxmlformats.org/officeDocument/2006/relationships/notesMaster" Target="/ppt/notesMasters/notesMaster1.xml" Id="Reedef8e2b8314f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252a39730784b0d" /><Relationship Type="http://schemas.openxmlformats.org/officeDocument/2006/relationships/notesMaster" Target="/ppt/notesMasters/notesMaster1.xml" Id="Rcc3adbc331eb4f8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054d1b0b7b0417a" /><Relationship Type="http://schemas.openxmlformats.org/officeDocument/2006/relationships/notesMaster" Target="/ppt/notesMasters/notesMaster1.xml" Id="R3936a95b3723433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bd5db8b8b8c4108" /><Relationship Type="http://schemas.openxmlformats.org/officeDocument/2006/relationships/notesMaster" Target="/ppt/notesMasters/notesMaster1.xml" Id="R68c7fdbdf96f437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13d322a7bea440a" /><Relationship Type="http://schemas.openxmlformats.org/officeDocument/2006/relationships/notesMaster" Target="/ppt/notesMasters/notesMaster1.xml" Id="R7b75b7a615e4432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e300365897f47a6" /><Relationship Type="http://schemas.openxmlformats.org/officeDocument/2006/relationships/notesMaster" Target="/ppt/notesMasters/notesMaster1.xml" Id="R5d368d28855f431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d199300b6dc42f1" /><Relationship Type="http://schemas.openxmlformats.org/officeDocument/2006/relationships/notesMaster" Target="/ppt/notesMasters/notesMaster1.xml" Id="R0a32d39fc34d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Integrated empirical contribution; no claim of a first-ever algorithm or journal acceptance.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ONWR principal-basin geometry. Basin codes and full names are retained in the thesis.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provenance, checksums and special-month audit accompany the data.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GLDAS Noah and G3P compartment data; Sharifi et al. (2025), doi:10.5194/hess-29-6985-2025.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strong score in one comparison does not validate the other two.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GRACE lag, well-head feature or unrestricted year trend enters the primary emulator.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TWSA ends September 2024; GWSA ends September 2023. Intervals are conditional within-product estimates.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Basin-level screening, not single-grid-point CSR inference. All 22 basins retain the provider caution.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Spearman rank agreement: TWSA 0.138; GWSA 0.027. Common months and cells; GWS chains also differ in compartments.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CSR RL06.3 native mapping and basin intersection weights; provider documentation.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anomaly NSE: current → memory is 0.283 → 0.890 for TWSA and 0.039 → 0.723 for GWSA.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CHIRPS replacement: anomaly NSE becomes 0.688 and 0.562. This is forcing sensitivity, not rainfall-accuracy validation.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in 2003–2015; tested in 2016–2023. Empirical delay is not aquifer residence time.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terms share observed support and the 2004–2009 anomaly reference.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CSR observations and paired WaterGAP storage; no invented 2024 counterfactual.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= H + E exactly. The residual alone is not a measured pumping history.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OLS monthly fixed effects, identical dates and 999 shared two-year-block multipliers. Sen slopes are not additive.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 = |βE| / (|βH| + |βE|). A descriptive magnitude index, not a causal human fraction.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 dataset, doi:10.5281/zenodo.15149480; source flags and original intervals retained.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2013–2022 common-period comparisons retain only eight usable storage years. No mission-gap interpolation.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Head-direction results do not estimate groundwater mass or validate total human TWSA.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extended CSR study is versioned separately from the earlier release.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bibliography and primary source metadata are included in the thesis and manuscript.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claim that GRACE analysis, storage subtraction or groundwater validation is new to Thailand.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single proxy directly measures total human-only storage. Avoid using the same data in subtraction and validation.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 pre-2004 reservoirs; calendar-month and linear-trend effects removed on matched support. Conditional year-cluster intervals. MSEA-Res: doi:10.5194/essd-17-2693-2025.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CSR basin-average trends; seasonal MK does not adjust serial dependence. All basins retain provider support cautions.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Naturalized baseline C and statistical emulator are related model estimates; neither is an observed counterfactual.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= O − C = H + E; each panel has its own scale. H is the represented model perturbation, not pumping observations.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GLDAS and naturalized land storage both include soil, canopy and snow; no groundwater or surface water.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 compartments: standardized timing/shape comparisons, not a human-only validation target.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ensemble; 2016–2023 parent-model verification. NSE colours saturate below −1.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Annual diagnostics use 12 modeled months; spatial IQR is not a confidence interval.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 correlations and annual support; hatching means insufficient evidence, not zero effect.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MSEA-Res scene estimates; reservoir changes respond to both climate and operations.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Overlapping 8-year windows require six annual pairs. Station counts are not temporal sample sizes.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soil + canopy + snow comparison. The revised report and manuscript include temporal subplots for all 22 basins.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Separately standardized on joint observed months. GLDAS land storage does not represent human-only residual ground truth.</a:t>
            </a:r>
          </a:p>
          <a:p xmlns:a="http://schemas.openxmlformats.org/drawingml/2006/main">
            <a:r>
              <a:t>Source: extended CSR-based study; the thesis, manuscript, analysis scripts and LaTeX Beamer source accompany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b3664ef9b46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10bc5f44041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cd26041a645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b46b0722041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ffcba624746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20c5e951646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E51D7C-B7C3-45CF-8D44-6B6B880410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AB78FF-A8A7-4D0B-AC6D-22F4B474B2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355667-A399-43B0-A531-0F045912C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23581C-52A1-4A66-B194-4787B178D5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136A56-F49B-4307-9CD2-962312F8F8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1DE00F-0FB2-43B3-AFEF-11810332B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4D5CF4-20FD-4423-9E38-9FC0BEBEA7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8AE9A2-8C45-4048-B62C-2C24F326A7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339A4-DCD5-4F8D-A93F-B525A3318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E90AC0-F938-4716-BE9B-4A24F4A02F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15d42d53cd4179" /><Relationship Type="http://schemas.openxmlformats.org/officeDocument/2006/relationships/slideLayout" Target="/ppt/slideLayouts/slideLayout1.xml" Id="R961aedf7c5094250" /><Relationship Type="http://schemas.openxmlformats.org/officeDocument/2006/relationships/slideLayout" Target="/ppt/slideLayouts/slideLayout2.xml" Id="R1b90be67d06b4ede" /><Relationship Type="http://schemas.openxmlformats.org/officeDocument/2006/relationships/slideLayout" Target="/ppt/slideLayouts/slideLayout3.xml" Id="Rdba80583bd214054" /><Relationship Type="http://schemas.openxmlformats.org/officeDocument/2006/relationships/slideLayout" Target="/ppt/slideLayouts/slideLayout4.xml" Id="Rb4fed21511bc4199" /><Relationship Type="http://schemas.openxmlformats.org/officeDocument/2006/relationships/slideLayout" Target="/ppt/slideLayouts/slideLayout5.xml" Id="R30ae4f3cdbc04ffd" /><Relationship Type="http://schemas.openxmlformats.org/officeDocument/2006/relationships/slideLayout" Target="/ppt/slideLayouts/slideLayout6.xml" Id="R881206eeb160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aedf7c5094250"/>
    <p:sldLayoutId xmlns:r="http://schemas.openxmlformats.org/officeDocument/2006/relationships" id="2147483650" r:id="R1b90be67d06b4ede"/>
    <p:sldLayoutId xmlns:r="http://schemas.openxmlformats.org/officeDocument/2006/relationships" id="2147483651" r:id="Rdba80583bd214054"/>
    <p:sldLayoutId xmlns:r="http://schemas.openxmlformats.org/officeDocument/2006/relationships" id="2147483652" r:id="Rb4fed21511bc4199"/>
    <p:sldLayoutId xmlns:r="http://schemas.openxmlformats.org/officeDocument/2006/relationships" id="2147483653" r:id="R30ae4f3cdbc04ffd"/>
    <p:sldLayoutId xmlns:r="http://schemas.openxmlformats.org/officeDocument/2006/relationships" id="2147483654" r:id="R881206eeb160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3ce7355db4447" /><Relationship Type="http://schemas.openxmlformats.org/officeDocument/2006/relationships/notesSlide" Target="/ppt/notesSlides/notesSlide1.xml" Id="R8220d5b82a744a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d337061654ff0" /><Relationship Type="http://schemas.openxmlformats.org/officeDocument/2006/relationships/notesSlide" Target="/ppt/notesSlides/notesSlide2.xml" Id="R216714b268f64f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057789bf341a6" /><Relationship Type="http://schemas.openxmlformats.org/officeDocument/2006/relationships/notesSlide" Target="/ppt/notesSlides/notesSlide3.xml" Id="Redfd052b5a7f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5e9302c4f41f4" /><Relationship Type="http://schemas.openxmlformats.org/officeDocument/2006/relationships/image" Target="/ppt/media/image.png" Id="R000b22051482487c" /><Relationship Type="http://schemas.openxmlformats.org/officeDocument/2006/relationships/notesSlide" Target="/ppt/notesSlides/notesSlide4.xml" Id="R963063a4192943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18f50a59d48b0" /><Relationship Type="http://schemas.openxmlformats.org/officeDocument/2006/relationships/notesSlide" Target="/ppt/notesSlides/notesSlide5.xml" Id="Raef8a62fbd3b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f238ea1a94679" /><Relationship Type="http://schemas.openxmlformats.org/officeDocument/2006/relationships/notesSlide" Target="/ppt/notesSlides/notesSlide6.xml" Id="R060b2dc2a5be4e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3d9cc0c31485b" /><Relationship Type="http://schemas.openxmlformats.org/officeDocument/2006/relationships/notesSlide" Target="/ppt/notesSlides/notesSlide7.xml" Id="Rfc6b9ba46aee4b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8ee8716424456" /><Relationship Type="http://schemas.openxmlformats.org/officeDocument/2006/relationships/notesSlide" Target="/ppt/notesSlides/notesSlide8.xml" Id="Rcaa74fd7706746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0e338acef48f7" /><Relationship Type="http://schemas.openxmlformats.org/officeDocument/2006/relationships/notesSlide" Target="/ppt/notesSlides/notesSlide9.xml" Id="R438bbe66da7141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3ba7eb66c4d87" /><Relationship Type="http://schemas.openxmlformats.org/officeDocument/2006/relationships/image" Target="/ppt/media/image2.png" Id="R68056e2c7d34499f" /><Relationship Type="http://schemas.openxmlformats.org/officeDocument/2006/relationships/notesSlide" Target="/ppt/notesSlides/notesSlide10.xml" Id="R52032e9180ec47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47e13239f46b8" /><Relationship Type="http://schemas.openxmlformats.org/officeDocument/2006/relationships/image" Target="/ppt/media/image3.png" Id="Rf7a6dc512a2d4627" /><Relationship Type="http://schemas.openxmlformats.org/officeDocument/2006/relationships/notesSlide" Target="/ppt/notesSlides/notesSlide11.xml" Id="Re209bb258fa947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c7ee737884b59" /><Relationship Type="http://schemas.openxmlformats.org/officeDocument/2006/relationships/notesSlide" Target="/ppt/notesSlides/notesSlide12.xml" Id="Raffd5194509f46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f16af9c844926" /><Relationship Type="http://schemas.openxmlformats.org/officeDocument/2006/relationships/image" Target="/ppt/media/image4.png" Id="R10b7df9613e9494d" /><Relationship Type="http://schemas.openxmlformats.org/officeDocument/2006/relationships/notesSlide" Target="/ppt/notesSlides/notesSlide13.xml" Id="R2c2bb40c468143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e5a342de5411f" /><Relationship Type="http://schemas.openxmlformats.org/officeDocument/2006/relationships/image" Target="/ppt/media/image5.png" Id="R22eb384180034d03" /><Relationship Type="http://schemas.openxmlformats.org/officeDocument/2006/relationships/notesSlide" Target="/ppt/notesSlides/notesSlide14.xml" Id="R1d556a6e8bb94f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b8efd34084dcd" /><Relationship Type="http://schemas.openxmlformats.org/officeDocument/2006/relationships/notesSlide" Target="/ppt/notesSlides/notesSlide15.xml" Id="R72094599e55247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4c60de38c4a80" /><Relationship Type="http://schemas.openxmlformats.org/officeDocument/2006/relationships/notesSlide" Target="/ppt/notesSlides/notesSlide16.xml" Id="Re88303615cb440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e4fe19a31493d" /><Relationship Type="http://schemas.openxmlformats.org/officeDocument/2006/relationships/image" Target="/ppt/media/image6.png" Id="R6e8c2b40ebef498b" /><Relationship Type="http://schemas.openxmlformats.org/officeDocument/2006/relationships/notesSlide" Target="/ppt/notesSlides/notesSlide17.xml" Id="R23e5b22fbdb54d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e2e7af221497a" /><Relationship Type="http://schemas.openxmlformats.org/officeDocument/2006/relationships/image" Target="/ppt/media/image7.png" Id="R7fc63f09971f4047" /><Relationship Type="http://schemas.openxmlformats.org/officeDocument/2006/relationships/notesSlide" Target="/ppt/notesSlides/notesSlide18.xml" Id="Rc8f38fc383d84f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1cc8c35384727" /><Relationship Type="http://schemas.openxmlformats.org/officeDocument/2006/relationships/image" Target="/ppt/media/image8.png" Id="Rcc1271161fa94d50" /><Relationship Type="http://schemas.openxmlformats.org/officeDocument/2006/relationships/notesSlide" Target="/ppt/notesSlides/notesSlide19.xml" Id="Re308ea2d1b734b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ae61c46e3423b" /><Relationship Type="http://schemas.openxmlformats.org/officeDocument/2006/relationships/notesSlide" Target="/ppt/notesSlides/notesSlide20.xml" Id="R760d8c3e426c4b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448ab6c3149bc" /><Relationship Type="http://schemas.openxmlformats.org/officeDocument/2006/relationships/notesSlide" Target="/ppt/notesSlides/notesSlide21.xml" Id="Rc15b6672d83049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b4c3a5dca4998" /><Relationship Type="http://schemas.openxmlformats.org/officeDocument/2006/relationships/notesSlide" Target="/ppt/notesSlides/notesSlide22.xml" Id="R7f4dcb706e4844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13687dd674da0" /><Relationship Type="http://schemas.openxmlformats.org/officeDocument/2006/relationships/notesSlide" Target="/ppt/notesSlides/notesSlide23.xml" Id="R12336139e9e141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d48bdce29418f" /><Relationship Type="http://schemas.openxmlformats.org/officeDocument/2006/relationships/notesSlide" Target="/ppt/notesSlides/notesSlide24.xml" Id="Ra1465dac96b148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dceffddc34422" /><Relationship Type="http://schemas.openxmlformats.org/officeDocument/2006/relationships/notesSlide" Target="/ppt/notesSlides/notesSlide25.xml" Id="R175ce89ceff4456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1e6381cd742cd" /><Relationship Type="http://schemas.openxmlformats.org/officeDocument/2006/relationships/notesSlide" Target="/ppt/notesSlides/notesSlide26.xml" Id="R52c7a5f101fd44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3382134f54099" /><Relationship Type="http://schemas.openxmlformats.org/officeDocument/2006/relationships/notesSlide" Target="/ppt/notesSlides/notesSlide27.xml" Id="R9ccade61987f476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75ed43f8e4bd4" /><Relationship Type="http://schemas.openxmlformats.org/officeDocument/2006/relationships/notesSlide" Target="/ppt/notesSlides/notesSlide28.xml" Id="R60c4c1fc8c3d4b0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87a0b666d4ae0" /><Relationship Type="http://schemas.openxmlformats.org/officeDocument/2006/relationships/notesSlide" Target="/ppt/notesSlides/notesSlide29.xml" Id="R23963a5bc2e94f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c7c75ceb3407b" /><Relationship Type="http://schemas.openxmlformats.org/officeDocument/2006/relationships/notesSlide" Target="/ppt/notesSlides/notesSlide30.xml" Id="R5c14ac4ce24b47a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12b89100b45a3" /><Relationship Type="http://schemas.openxmlformats.org/officeDocument/2006/relationships/image" Target="/ppt/media/image9.png" Id="R8ca66ea4ce964124" /><Relationship Type="http://schemas.openxmlformats.org/officeDocument/2006/relationships/notesSlide" Target="/ppt/notesSlides/notesSlide31.xml" Id="Rff625ebaba34411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d1b62fe41452b" /><Relationship Type="http://schemas.openxmlformats.org/officeDocument/2006/relationships/image" Target="/ppt/media/image10.png" Id="Rdb376a7f075442db" /><Relationship Type="http://schemas.openxmlformats.org/officeDocument/2006/relationships/notesSlide" Target="/ppt/notesSlides/notesSlide32.xml" Id="Rf3b0cf0aab76452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c7f491f234de7" /><Relationship Type="http://schemas.openxmlformats.org/officeDocument/2006/relationships/image" Target="/ppt/media/image11.png" Id="R5dff7870f6d04596" /><Relationship Type="http://schemas.openxmlformats.org/officeDocument/2006/relationships/notesSlide" Target="/ppt/notesSlides/notesSlide33.xml" Id="R979690cd5f5641b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23e6c363e4cc7" /><Relationship Type="http://schemas.openxmlformats.org/officeDocument/2006/relationships/image" Target="/ppt/media/image12.png" Id="Raf225bc18b13452f" /><Relationship Type="http://schemas.openxmlformats.org/officeDocument/2006/relationships/notesSlide" Target="/ppt/notesSlides/notesSlide34.xml" Id="R67bce8adac5745d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1162924624d1d" /><Relationship Type="http://schemas.openxmlformats.org/officeDocument/2006/relationships/image" Target="/ppt/media/image13.png" Id="Rf30c39c9bfe94490" /><Relationship Type="http://schemas.openxmlformats.org/officeDocument/2006/relationships/notesSlide" Target="/ppt/notesSlides/notesSlide35.xml" Id="Redc058f5d131462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e6d17f0644e47" /><Relationship Type="http://schemas.openxmlformats.org/officeDocument/2006/relationships/image" Target="/ppt/media/image14.png" Id="Rf26ac670fd4f46c6" /><Relationship Type="http://schemas.openxmlformats.org/officeDocument/2006/relationships/notesSlide" Target="/ppt/notesSlides/notesSlide36.xml" Id="R5c062f5f45814a1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ae834ec2a4374" /><Relationship Type="http://schemas.openxmlformats.org/officeDocument/2006/relationships/image" Target="/ppt/media/image15.png" Id="R11459db2cf3346eb" /><Relationship Type="http://schemas.openxmlformats.org/officeDocument/2006/relationships/notesSlide" Target="/ppt/notesSlides/notesSlide37.xml" Id="R2c0d116cf3274eb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eea3aa8c941d6" /><Relationship Type="http://schemas.openxmlformats.org/officeDocument/2006/relationships/image" Target="/ppt/media/image16.png" Id="Ra11245e1fd554764" /><Relationship Type="http://schemas.openxmlformats.org/officeDocument/2006/relationships/notesSlide" Target="/ppt/notesSlides/notesSlide38.xml" Id="R645cd88e7a1b40f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82ba4e0c04c53" /><Relationship Type="http://schemas.openxmlformats.org/officeDocument/2006/relationships/image" Target="/ppt/media/image17.png" Id="R2431d5eb01ec47d3" /><Relationship Type="http://schemas.openxmlformats.org/officeDocument/2006/relationships/notesSlide" Target="/ppt/notesSlides/notesSlide39.xml" Id="Rb13c96fd2ed84d7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3b40443654bf0" /><Relationship Type="http://schemas.openxmlformats.org/officeDocument/2006/relationships/image" Target="/ppt/media/image18.png" Id="Re9071512530f4d02" /><Relationship Type="http://schemas.openxmlformats.org/officeDocument/2006/relationships/notesSlide" Target="/ppt/notesSlides/notesSlide40.xml" Id="R62f4bbb9d721417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aea2c14894203" /><Relationship Type="http://schemas.openxmlformats.org/officeDocument/2006/relationships/image" Target="/ppt/media/image19.png" Id="R70aeace2f6b747b9" /><Relationship Type="http://schemas.openxmlformats.org/officeDocument/2006/relationships/notesSlide" Target="/ppt/notesSlides/notesSlide41.xml" Id="Re201a4dc64b44e0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cb041977e40bc" /><Relationship Type="http://schemas.openxmlformats.org/officeDocument/2006/relationships/image" Target="/ppt/media/image20.png" Id="Rb9e20670703b4152" /><Relationship Type="http://schemas.openxmlformats.org/officeDocument/2006/relationships/notesSlide" Target="/ppt/notesSlides/notesSlide42.xml" Id="R28b9ff49d14b4e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1946E-2E75-4CCA-97F6-CA19AAA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Water storage trends and attribution credibility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E8392-F259-414E-94D4-AE40112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63A97-A720-4BFE-8660-4EB8513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39F77-73DA-4F85-A03E-63A8764F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38325"/>
            <a:ext cx="11163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C3A16-C883-49B9-89C6-97808D47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11163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MS in Water Engineering and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3187D-3465-45B1-A265-D2361C71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95675"/>
            <a:ext cx="11163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Asian Institute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A0185-3B2F-476A-B078-6796CA60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1163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Advisor: Dr. Natthachet Tangdamrongsub</a:t>
            </a:r>
          </a:p>
        </p:txBody>
      </p:sp>
    </p:spTree>
    <p:extLst>
      <p:ext uri="{BB962C8B-B14F-4D97-AF65-F5344CB8AC3E}">
        <p14:creationId xmlns:p14="http://schemas.microsoft.com/office/powerpoint/2010/main" val="507019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BE532-A521-41EA-BB38-74A34BFD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8500B-82C9-4B03-8035-7BF86421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B0980-216B-462D-8A29-EF2ED2EA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96347-658A-47B6-AC38-D19AE057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Storage trends for all 22 principal basins and national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61D26-E873-4598-9D62-9DBFCEC6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Climate-driven storage reconstruction, paired human effects and groundwater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29058-7B88-425C-90A8-466193ED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Interactive decision support with reproducible code and data.</a:t>
            </a:r>
          </a:p>
        </p:txBody>
      </p:sp>
    </p:spTree>
    <p:extLst>
      <p:ext uri="{BB962C8B-B14F-4D97-AF65-F5344CB8AC3E}">
        <p14:creationId xmlns:p14="http://schemas.microsoft.com/office/powerpoint/2010/main" val="150776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DE48E-E4EC-4222-BB6A-86A6E46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Proposed research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5187E-B334-44EA-ABFC-9FEDF0D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3F894-0387-4C10-909F-9A93BFB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4AECB-38BF-4146-9591-FF60D914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Separate robust national decline from product-dependent basin rankings.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9DF7-DD73-43E9-AE0C-6EFC9CC2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Test climate memory beyond seasonality and native forcing.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F40B-3375-41CE-B718-294CAE16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Audit human attribution through model discrepancy and well-network sensitivity.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A3D29-E6CB-4CF8-9994-07A2012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Integrated empirical contribution; no claim of a first-ever algorithm or journal acceptance.</a:t>
            </a:r>
          </a:p>
        </p:txBody>
      </p:sp>
    </p:spTree>
    <p:extLst>
      <p:ext uri="{BB962C8B-B14F-4D97-AF65-F5344CB8AC3E}">
        <p14:creationId xmlns:p14="http://schemas.microsoft.com/office/powerpoint/2010/main" val="530509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47329-A588-42F5-B964-2CFB8E3B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Study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F4233-CD22-43EC-9F29-B2ACDAE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4DD3F-7CF4-4DBF-9530-AED1000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4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EBDD-AD5A-4037-8492-DA3149D5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ONWR principal-basin geometry. Basin codes and full names are retained in the thesis.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EC4F5-CDB3-4B2A-B0A3-C25540572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b22051482487c"/>
          <a:stretch xmlns:a="http://schemas.openxmlformats.org/drawingml/2006/main"/>
        </p:blipFill>
        <p:spPr>
          <a:xfrm xmlns:a="http://schemas.openxmlformats.org/drawingml/2006/main">
            <a:off x="4636480" y="1381125"/>
            <a:ext cx="2919041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F41E8-D90B-42FA-B129-D422B30B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Documented inputs and distinct scientific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E95DD-CA8A-4400-B191-0D662E95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B812-324A-4739-A85F-54E22D90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5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7656C-AC95-49F3-8FCA-00A02FA3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Full provenance, checksums and special-month audit accompany the data.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6AFD4-2798-45AB-875C-51C28C080AA7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525780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Period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CSR RL06.3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2002–2024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Observed TWSA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GLDAS + G3P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2002–2023/24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Storage compartments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WaterGAP pairing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1981–2023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Naturalized/historical experiment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CHIRPS and cube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2003–2024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Forcing and context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511 Thai wells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annual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Groundwater consistency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742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72A69-781A-406A-8CB5-D1733815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Groundwater storage 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CB647-2870-4819-94F2-05809D28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03D92-757B-4478-8A68-A84E78FD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6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DCF2A-BE7D-4925-BA4A-CE59D6ED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11163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GWSA = TWSA − SMSA − SWSA − CWSA − SWEA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1F87F-0F02-40FB-97FF-AD4C9881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All compartments use mm water equivalent and a common 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F6540-9CCD-471A-A057-0EFE2B6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Identical valid cells preserve the regional accounting identity.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211C1-FF97-436B-A4B7-9BD5F1F1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Product depth and filtering differences remain structural uncertainty.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92830-F145-49C0-AC2E-89F86A8A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GLDAS Noah and G3P compartment data; Sharifi et al. (2025), doi:10.5194/hess-29-6985-2025.</a:t>
            </a:r>
          </a:p>
        </p:txBody>
      </p:sp>
    </p:spTree>
    <p:extLst>
      <p:ext uri="{BB962C8B-B14F-4D97-AF65-F5344CB8AC3E}">
        <p14:creationId xmlns:p14="http://schemas.microsoft.com/office/powerpoint/2010/main" val="1361125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263E2-761C-40A1-AA0E-361B484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Three meanings of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3C80D-B793-4286-82F6-AFC853A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5AA2E-2BC0-4FBC-A367-87A90188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7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3D92B-0393-4C9D-B1D2-66871929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A strong score in one comparison does not validate the other two.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CADB0-DBA0-46DB-A946-7BD15F0D42DD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686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Comparison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it tests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Emulator / naturalized target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Reconstruction of a parent model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Matched land storage / GLDAS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Cross-model component consistency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Residual / groundwater heads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Groundwater pattern agreement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571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68F08-5062-4B52-A162-820D468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Chronological climate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AF02D-7446-4B7C-BDC0-BDD58E8A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926B-46AF-4737-9B00-C349322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8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41071-62B4-4AF2-8D8C-E271982C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No GRACE lag, well-head feature or unrestricted year trend enters the primary emulator.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09911-FD5C-41F9-9321-161279B328D8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525780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Warm-up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1981–1990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Antecedent weather memory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1991–2009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Fit and internal tuning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2010–2015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Freeze ensemble choices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2016–2023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performance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628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6FB6C-D825-4B4B-97AE-ED09692C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National CSR-based storage decline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C242-29BE-4E8D-B586-3CA6F8AD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98563-F96A-4F4D-BFD5-E5A4535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9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35BEE-F48B-4076-ABBC-F26BE403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TWSA ends September 2024; GWSA ends September 2023. Intervals are conditional within-product estimates.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48703-565C-42C5-821F-72DC2701E56B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00250"/>
                <a:gridCol w="2476500"/>
                <a:gridCol w="24955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 mm/year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95% interval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TWSA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−7.51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−9.79 to −5.68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GWSA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−6.84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−8.77 to −5.11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289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841D6-806F-4839-B4DC-41879F7E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Basin storage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480BB-D369-4E2B-B6A7-B60829F7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A6E00-F055-4065-96D1-333240C2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10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4C8EB-EB23-406C-B507-8F879FD5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Basin-level screening, not single-grid-point CSR inference. All 22 basins retain the provider caution.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7611-A147-428C-BC41-327B3861A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56e2c7d34499f"/>
          <a:stretch xmlns:a="http://schemas.openxmlformats.org/drawingml/2006/main"/>
        </p:blipFill>
        <p:spPr>
          <a:xfrm xmlns:a="http://schemas.openxmlformats.org/drawingml/2006/main">
            <a:off x="2761392" y="1381125"/>
            <a:ext cx="6669216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9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87E14-42A9-4582-93C9-8A04981E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Product-dependent basin rankings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07695-4178-4583-BCEC-BF6377B8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850CB-21DE-4B12-B6B2-A9BA126F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11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8DC01-73CD-4643-8940-CAD98BED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Spearman rank agreement: TWSA 0.138; GWSA 0.027. Common months and cells; GWS chains also differ in compartments.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91666-4A87-460E-B9DD-19B84D25DC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6dc512a2d4627"/>
          <a:stretch xmlns:a="http://schemas.openxmlformats.org/drawingml/2006/main"/>
        </p:blipFill>
        <p:spPr>
          <a:xfrm xmlns:a="http://schemas.openxmlformats.org/drawingml/2006/main">
            <a:off x="1389514" y="1381125"/>
            <a:ext cx="9412973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722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BFFAB-1D1C-427B-9FE7-D34FD647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support is shared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7AC0D-3A68-4D2A-9B3C-3B7C2851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D164B-77F8-440A-B289-66D4980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12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BF469-BE69-4E6E-A482-FCAFBAE7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National support touches 68 native mascons; inverse concentration is about 50.1.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146E4-E026-4026-8707-96A269C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All 22 principal basins are smaller than the provider’s approximate caution area.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D212F-E6BA-4ED3-A044-3D4DF13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Native concentration and overlap are diagnostics, not independent sample counts.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8EFD7-541B-4C31-9AF2-CC5A2A62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CSR RL06.3 native mapping and basin intersection weights; provider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7937677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E56D5-489A-49DB-B348-F9046EF2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Climate memory improves anomaly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D7C97-B003-4F33-B6C8-D100E231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64B8E-3868-4C0E-99D3-4541A03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13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123AC-4DE3-49BC-AA45-F11BC27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National anomaly NSE: current → memory is 0.283 → 0.890 for TWSA and 0.039 → 0.723 for GWSA.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69853-EED7-45F9-8452-251405A89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7df9613e9494d"/>
          <a:stretch xmlns:a="http://schemas.openxmlformats.org/drawingml/2006/main"/>
        </p:blipFill>
        <p:spPr>
          <a:xfrm xmlns:a="http://schemas.openxmlformats.org/drawingml/2006/main">
            <a:off x="1055015" y="1381125"/>
            <a:ext cx="10081970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49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46D29-B407-4D01-B140-371B40AA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Independent precipitation changes model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171B2-AC50-4FAD-AEDD-84BBF607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7FCC-98EA-48AF-AFB0-08A03653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14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80DF2-6527-4A68-AF8F-811C0E10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CHIRPS replacement: anomaly NSE becomes 0.688 and 0.562. This is forcing sensitivity, not rainfall-accuracy validation.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D5AE7-7F29-4520-BF45-EAD387F93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b384180034d03"/>
          <a:stretch xmlns:a="http://schemas.openxmlformats.org/drawingml/2006/main"/>
        </p:blipFill>
        <p:spPr>
          <a:xfrm xmlns:a="http://schemas.openxmlformats.org/drawingml/2006/main">
            <a:off x="1090483" y="1381125"/>
            <a:ext cx="10011034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48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F035A-3F9F-4ECA-B5CE-23C11AA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Held-out observed rainfall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EBFD4-3E31-4579-873B-DEC563A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759D5-7FE7-4F72-8263-12844C1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15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3B002-F940-4994-A696-A5D57FEA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Selected in 2003–2015; tested in 2016–2023. Empirical delay is not aquifer residence time.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61790-EC26-4D11-B72C-66E501E6BA97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667000"/>
                <a:gridCol w="1809750"/>
                <a:gridCol w="2000250"/>
                <a:gridCol w="26860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 accumulation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Delay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Paired months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TWSA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months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month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0.680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GWSA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months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months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0.606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888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3A2F1-3FA3-4E0E-91DA-34B2E2D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Attribution retains unexplained discrepancy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A0678-A510-405B-B392-D522D92A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E924-AB75-4303-8FF7-C82CB9D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16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4CCD3-4448-4167-8D78-AAED3B1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11163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R = O − C = (A − C) + (O − A) = H +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59E75-C540-4157-9321-BD402116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O: observed; C: naturalized; A: historical-human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D1DCD-4993-4AA5-9359-2FFE32EA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H = A − C is the human perturbation represented by the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02030-0F2F-4B04-92D0-7E3CF596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E = O − A remains unresolved observation–model discrepancy.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0F53F-F1E2-4E56-80CC-F7BD97E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All terms share observed support and the 2004–2009 anomaly reference.</a:t>
            </a:r>
          </a:p>
        </p:txBody>
      </p:sp>
    </p:spTree>
    <p:extLst>
      <p:ext uri="{BB962C8B-B14F-4D97-AF65-F5344CB8AC3E}">
        <p14:creationId xmlns:p14="http://schemas.microsoft.com/office/powerpoint/2010/main" val="821287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D4AC4-CBAE-4FC0-8F82-2345E1C4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Observed and modeled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D74A2-F6DE-4C08-9499-4A4CE671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A3E19-6271-4A5A-8E1D-2A8B28DC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17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470FF-5372-4537-B694-60F9167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CSR observations and paired WaterGAP storage; no invented 2024 counterfactual.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4F9E9-9717-4780-AA26-6987A4941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c2b40ebef498b"/>
          <a:stretch xmlns:a="http://schemas.openxmlformats.org/drawingml/2006/main"/>
        </p:blipFill>
        <p:spPr>
          <a:xfrm xmlns:a="http://schemas.openxmlformats.org/drawingml/2006/main">
            <a:off x="2056397" y="1381125"/>
            <a:ext cx="8079207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281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EFFF-B276-41DD-80C6-A7DDCC70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Residual and paired human effect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9381D-3D00-4198-A0EA-82B8BE8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1E26F-3E74-484A-8F93-EC9B0221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18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C9CB1-53FE-4D0B-8B2B-962208A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R = H + E exactly. The residual alone is not a measured pumping history.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DD374-5EED-4B59-9CAB-23AB9FE0E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63f09971f4047"/>
          <a:stretch xmlns:a="http://schemas.openxmlformats.org/drawingml/2006/main"/>
        </p:blipFill>
        <p:spPr>
          <a:xfrm xmlns:a="http://schemas.openxmlformats.org/drawingml/2006/main">
            <a:off x="2056397" y="1381125"/>
            <a:ext cx="8079207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131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2B5FA-EF54-4F0A-9BE7-8B8C257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Additive national trend partition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3E32-8281-4218-B950-5CFB62FF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62CD4-A7B6-4B20-B3EB-6787703B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19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67866-7423-4FD7-A969-70726CC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OLS monthly fixed effects, identical dates and 999 shared two-year-block multipliers. Sen slopes are not additive.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55095-5048-47C5-8565-92E3E03A5F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271161fa94d50"/>
          <a:stretch xmlns:a="http://schemas.openxmlformats.org/drawingml/2006/main"/>
        </p:blipFill>
        <p:spPr>
          <a:xfrm xmlns:a="http://schemas.openxmlformats.org/drawingml/2006/main">
            <a:off x="1086603" y="1381125"/>
            <a:ext cx="10018795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410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AB143-2DCB-47A3-8C8D-B6431C3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Discrepancy magnitude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DF2BB-869B-4BDC-A8DB-7057F73B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C9B8-96C8-4B14-B76E-562A6A6E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20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9E60B-DDB3-4A50-BE55-5EFC2C40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D = |βE| / (|βH| + |βE|). A descriptive magnitude index, not a causal human fraction.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7CAE3-844A-4392-AE8F-DBD597D26FE2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525780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Conditional interval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TWSA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0.938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0.822–0.997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GWSA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0.978–0.999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5335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BAA4A-2628-4E61-95FB-27302A5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Groundwater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01029-4905-48A3-BC33-3F4F65CE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42613-35FD-440D-AEF3-89A4ADC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21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C7725-2FA3-43B9-BEAB-AFFF967D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5,484 real aggregates from 511 wells; 506 annual wells and five monthly wells.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90CA0-9385-48D9-9399-FD10CE7D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Co-located wells are grouped before regional averaging.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63F98-BEE0-4A98-9B01-A95ED6B3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Heads remain in head units; aquifer storage coefficients are not invented.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EB339-5203-4E25-8777-C1F1D47D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GROW dataset, doi:10.5281/zenodo.15149480; source flags and original intervals retained.</a:t>
            </a:r>
          </a:p>
        </p:txBody>
      </p:sp>
    </p:spTree>
    <p:extLst>
      <p:ext uri="{BB962C8B-B14F-4D97-AF65-F5344CB8AC3E}">
        <p14:creationId xmlns:p14="http://schemas.microsoft.com/office/powerpoint/2010/main" val="3694435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2D2EA-A277-4B81-9394-3EA3C93B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Panel and period control change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0119E-3E96-4039-82A0-D5D6BE1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BD36A-49D5-4E75-B3EC-FC0DDCA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22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9C61B-2EE1-44CF-8FEE-D1C795D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2013–2022 common-period comparisons retain only eight usable storage years. No mission-gap interpolation.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91492-9F9E-4166-8722-6461D7C3624D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00250"/>
                <a:gridCol w="2476500"/>
                <a:gridCol w="24955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TWS 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GWS 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GWS years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overlap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0.127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eligibility/wider history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0.657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0.511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Common period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0.325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0.029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Strict balanced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0.305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-0.000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3284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F0049-60EC-4D56-9EAB-FE720E74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Groundwater evidence remains limited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F12C4-3128-4FD7-943D-3BD88DAF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741B4-2EBB-4708-A500-BA41E9F3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23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CA7A4-3CDF-4D70-84FE-4203FBC0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Strict balanced groundwater residual–head correlation is approximately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394F8-E473-4967-9D8D-610517A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382 eligible annual wells reduce to 225 coordinate-station trend trajectories.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136E-3958-4F06-83CC-096C9D99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54.2% decline in head, with a station-resampling interval of 47.1–60.0%.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D0205-3BFD-4934-8DC8-5A221101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Head-direction results do not estimate groundwater mass or validate total human TWSA.</a:t>
            </a:r>
          </a:p>
        </p:txBody>
      </p:sp>
    </p:spTree>
    <p:extLst>
      <p:ext uri="{BB962C8B-B14F-4D97-AF65-F5344CB8AC3E}">
        <p14:creationId xmlns:p14="http://schemas.microsoft.com/office/powerpoint/2010/main" val="9297446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F9F88-0435-4538-8D0B-8005D885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51E77-E89C-4080-9C35-039E17B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D318-5380-464B-94C7-AA5540A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24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8F623-1FC5-4909-B9D8-727FC919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Broad storage decline is more robust than local severity rankings.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E1E91-A6DD-4345-AA20-3A97A5C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Climate memory reconstructs a naturalized model well; attribution remains conditional.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9C9AC-FC91-4365-B71B-559E44F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Groundwater panel tests do not validate the whole residual as human-caused depletion.</a:t>
            </a:r>
          </a:p>
        </p:txBody>
      </p:sp>
    </p:spTree>
    <p:extLst>
      <p:ext uri="{BB962C8B-B14F-4D97-AF65-F5344CB8AC3E}">
        <p14:creationId xmlns:p14="http://schemas.microsoft.com/office/powerpoint/2010/main" val="2932154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E6712-B853-4D44-91D2-17B84999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Decision support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E5890-BB42-4DA1-9F66-968AFB8B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8D4C0-E711-4ECA-B37B-6432F18C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25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39806-9EE5-4EE4-83FC-D0CE83C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Inspect basin records, products, conditional uncertainty and observation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5A29C-3AC9-41F1-918B-994C8C22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Download source-specific inputs, scientific tables and executable scripts.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3D1A7-B675-45BB-B80A-B6B91CC2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github.com/pratikkhanal16/thailand-water-storage-dss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D6A4A-FF56-482B-9858-85E0D775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The extended CSR study is versioned separately from the earlier release.</a:t>
            </a:r>
          </a:p>
        </p:txBody>
      </p:sp>
    </p:spTree>
    <p:extLst>
      <p:ext uri="{BB962C8B-B14F-4D97-AF65-F5344CB8AC3E}">
        <p14:creationId xmlns:p14="http://schemas.microsoft.com/office/powerpoint/2010/main" val="17246956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2B3EA-4C8A-41FC-8AA4-1C599F8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Research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81D79-49E5-4D67-829F-52266764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17D7D-8543-452D-BFAD-2BA6CCAA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26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A7358-43D9-4926-91AF-B9EBA621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Aquifer-specific monthly heads, screened intervals and verified storage coefficients.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D3BCA-3A23-4FA2-9231-B929ACB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Independent pumping, recharge and reservoir-operation histories.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3F880-C5F0-4434-BAAE-7BE3687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Additional naturalized models and physically harmonized compartment products.</a:t>
            </a:r>
          </a:p>
        </p:txBody>
      </p:sp>
    </p:spTree>
    <p:extLst>
      <p:ext uri="{BB962C8B-B14F-4D97-AF65-F5344CB8AC3E}">
        <p14:creationId xmlns:p14="http://schemas.microsoft.com/office/powerpoint/2010/main" val="439247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51D16-A815-42E0-AF9F-20485BC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Selected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76394-1DB9-4D87-8115-35A8F4F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CD48-9B62-42F3-8885-D886282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27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85835-B818-4A57-BF43-7C87FEE5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Save et al. (2016): doi:10.1002/2016JB013007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1173D-6823-44CC-910A-E255E3C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Müller Schmied et al. (2024): doi:10.5194/gmd-17-8817-2024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07E3F-046F-4516-9DD4-4015CD6D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Sharifi et al. (2025): doi:10.5194/hess-29-6985-2025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EBE39-728C-4737-9337-194337BF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Complete bibliography and primary source metadata are included in the thesis and manuscript.</a:t>
            </a:r>
          </a:p>
        </p:txBody>
      </p:sp>
    </p:spTree>
    <p:extLst>
      <p:ext uri="{BB962C8B-B14F-4D97-AF65-F5344CB8AC3E}">
        <p14:creationId xmlns:p14="http://schemas.microsoft.com/office/powerpoint/2010/main" val="6035250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D36D4-A5DE-474F-8293-4058C29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Related Thai work and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80C82-4504-4243-AFB1-088226E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B68C5-1C21-4A6B-82D5-111393B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28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E38DD-6ECC-4AF2-8876-3CA91B8F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Abhishek et al. (2021): doi:10.1016/j.jhydrol.2021.126868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C919B-F040-4AFD-A8F0-0CBF9E2F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Sharma et al. (2025): doi:10.3390/rs17101731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FB03E-620B-4A34-A5A2-F27C6E5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E2930"/>
                </a:solidFill>
                <a:latin typeface="Times New Roman"/>
                <a:ea typeface="Times New Roman"/>
                <a:cs typeface="Times New Roman"/>
              </a:defRPr>
            </a:pPr>
            <a:r>
              <a:t>Contribution: joint product, climate-memory, discrepancy and observation-network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00BF-7621-443D-B93B-2C5FD8A0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No claim that GRACE analysis, storage subtraction or groundwater validation is new to Thailand.</a:t>
            </a:r>
          </a:p>
        </p:txBody>
      </p:sp>
    </p:spTree>
    <p:extLst>
      <p:ext uri="{BB962C8B-B14F-4D97-AF65-F5344CB8AC3E}">
        <p14:creationId xmlns:p14="http://schemas.microsoft.com/office/powerpoint/2010/main" val="8377833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A0439-49B5-485E-AAFE-6BEC415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Validation beyond groundwater levels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4167C-54B7-4471-929A-0ECFFF83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8D86C-DFA9-4DA7-8CFF-3839B247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29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68501-11EA-415C-B76C-E5A4D1F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No single proxy directly measures total human-only storage. Avoid using the same data in subtraction and validation.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9D867-3615-4A0E-A57C-3C5816023845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686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 evidence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it can test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Reservoir volume and operation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Surface-water contribution and management timing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Pumping and consumptive use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Withdrawal mechanism; returns and recharge still matter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InSAR / GNSS subsidence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Aquifer deformation; requires geomechanical context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50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274C8-37F6-4020-B507-61661ADE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New independent reservoir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37224-C3D1-449C-81F7-A034A07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68BC-C12F-4E15-8C2D-CA4DF1E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30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8A9A4-B42D-4AB5-9A6E-45ADBB2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26 pre-2004 reservoirs; calendar-month and linear-trend effects removed on matched support. Conditional year-cluster intervals. MSEA-Res: doi:10.5194/essd-17-2693-2025.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93B56-EB63-443B-8648-581B9D8E77FE}"/>
              </a:ext>
            </a:extLst>
          </p:cNvPr>
          <p:cNvGraphicFramePr/>
          <p:nvPr/>
        </p:nvGraphicFramePr>
        <p:xfrm>
          <a:off xmlns:a="http://schemas.openxmlformats.org/drawingml/2006/main" x="514350" y="1590675"/>
          <a:ext xmlns:a="http://schemas.openxmlformats.org/drawingml/2006/main" cx="111633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476500"/>
                <a:gridCol w="525780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Matched months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Adjusted TWS 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T w="6668">
                      <a:solidFill>
                        <a:srgbClr val="BDC9D0"/>
                      </a:solidFill>
                      <a:prstDash val="solid"/>
                    </a:lnT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Scene-supported Level 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0.439 [0.188, 0.665]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Provider-interpolated Level 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DC9D0"/>
                      </a:solidFill>
                      <a:prstDash val="solid"/>
                    </a:lnL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E29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0.381 [0.144, 0.552]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DC9D0"/>
                      </a:solidFill>
                      <a:prstDash val="solid"/>
                    </a:lnR>
                    <a:lnB w="6668">
                      <a:solidFill>
                        <a:srgbClr val="BDC9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0139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6AACB-1A42-44CB-A428-B88A8CB8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GRACE storage trends and Mann Kendall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1E733-E516-450C-A288-57ABAE37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DAD54-ECF7-4466-A7AF-043244C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31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4A13F-4F66-422E-81C1-6CC13BB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CSR basin-average trends; seasonal MK does not adjust serial dependence. All basins retain provider support cautions.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B41D4-CC4E-44DE-8FDF-57FC792C1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66ea4ce964124"/>
          <a:stretch xmlns:a="http://schemas.openxmlformats.org/drawingml/2006/main"/>
        </p:blipFill>
        <p:spPr>
          <a:xfrm xmlns:a="http://schemas.openxmlformats.org/drawingml/2006/main">
            <a:off x="4324048" y="1381125"/>
            <a:ext cx="3543905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2509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00469-2A7C-4A86-BAFD-F6932443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naturalized storage and climate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EC65E-F870-4AB0-8B91-4E5FFEAE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BFD30-0060-40B6-BD9D-C608F43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32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45EDE-5270-4107-94AF-BF609C58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Naturalized baseline C and statistical emulator are related model estimates; neither is an observed counterfactual.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5E861-8426-4FF5-AA68-AE423490E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76a7f075442db"/>
          <a:stretch xmlns:a="http://schemas.openxmlformats.org/drawingml/2006/main"/>
        </p:blipFill>
        <p:spPr>
          <a:xfrm xmlns:a="http://schemas.openxmlformats.org/drawingml/2006/main">
            <a:off x="4320182" y="1381125"/>
            <a:ext cx="3551637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028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BB5BB-BB22-4406-ABD4-8A0CB136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residual and modeled human perturbation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5412B-BE43-45DB-932A-40678D2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2C62A-981E-4442-807F-1421E612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33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F0EA6-0612-466F-A699-B6B249D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R = O − C = H + E; each panel has its own scale. H is the represented model perturbation, not pumping observations.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D24A0-7DF6-4B2F-A4D4-A21107EC2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f7870f6d04596"/>
          <a:stretch xmlns:a="http://schemas.openxmlformats.org/drawingml/2006/main"/>
        </p:blipFill>
        <p:spPr>
          <a:xfrm xmlns:a="http://schemas.openxmlformats.org/drawingml/2006/main">
            <a:off x="4329852" y="1381125"/>
            <a:ext cx="3532295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85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80220-E716-4645-94AD-82023ABA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GLDAS matched compartment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899DD-426A-41B3-A973-0ABA935B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06BE1-FC3E-468E-8AFF-438F24C7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34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74469-EC7E-476D-B474-CD944D20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GLDAS and naturalized land storage both include soil, canopy and snow; no groundwater or surface water.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AF404-1A8B-48A3-BCE2-C61E29C07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25bc18b13452f"/>
          <a:stretch xmlns:a="http://schemas.openxmlformats.org/drawingml/2006/main"/>
        </p:blipFill>
        <p:spPr>
          <a:xfrm xmlns:a="http://schemas.openxmlformats.org/drawingml/2006/main">
            <a:off x="557951" y="1381125"/>
            <a:ext cx="11076099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415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23661-1277-4972-B3F8-C95A466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GLDAS and residual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7692F-F3FF-473A-AEBD-FECAE1B4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64BF3-E1FC-48FA-8714-7DBDF9D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35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D9ADA-94C1-4823-B881-252F9D8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Different compartments: standardized timing/shape comparisons, not a human-only validation target.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C7DE1-BB47-463E-9F25-79DBF05F9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c39c9bfe94490"/>
          <a:stretch xmlns:a="http://schemas.openxmlformats.org/drawingml/2006/main"/>
        </p:blipFill>
        <p:spPr>
          <a:xfrm xmlns:a="http://schemas.openxmlformats.org/drawingml/2006/main">
            <a:off x="3334959" y="1381125"/>
            <a:ext cx="5522082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209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B9E17-80D4-46C2-AE79-CEE5D32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climate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C3572-D435-4432-9B6F-8A34B3D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6A2F9-8326-4791-85B9-EB7BEA31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36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AA6D7-0259-44D0-9682-88C4DDE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Frozen ensemble; 2016–2023 parent-model verification. NSE colours saturate below −1.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3CD3B-FDF7-4EF4-BB59-E6AFD10F9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ac670fd4f46c6"/>
          <a:stretch xmlns:a="http://schemas.openxmlformats.org/drawingml/2006/main"/>
        </p:blipFill>
        <p:spPr>
          <a:xfrm xmlns:a="http://schemas.openxmlformats.org/drawingml/2006/main">
            <a:off x="3357638" y="1381125"/>
            <a:ext cx="5476724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58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2CA53-B75F-4BA7-8F28-C44784AD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Climate model evaluation through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83D8B-4218-49D0-A2F4-A521E43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67DA8-A1FE-4B3E-BE4F-E545B44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37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C6A8E-7831-4C8E-B855-0A38DA51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Annual diagnostics use 12 modeled months; spatial IQR is not a confidence interval.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75F67-E93C-4C24-89DC-522345901B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59db2cf3346eb"/>
          <a:stretch xmlns:a="http://schemas.openxmlformats.org/drawingml/2006/main"/>
        </p:blipFill>
        <p:spPr>
          <a:xfrm xmlns:a="http://schemas.openxmlformats.org/drawingml/2006/main">
            <a:off x="2868135" y="1381125"/>
            <a:ext cx="6455730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167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5B13E-1882-48C2-AB2B-BAABAA24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evaluation of residual agreement with groundwater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E4A99-76CB-4D26-9C51-A67EFD3A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4254C-2048-4D8D-BB2D-DF3ED019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38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30A15-916D-44EA-8702-97CCACB2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Head correlations and annual support; hatching means insufficient evidence, not zero effect.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C83A9-3232-42B8-A15F-52033D195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245e1fd554764"/>
          <a:stretch xmlns:a="http://schemas.openxmlformats.org/drawingml/2006/main"/>
        </p:blipFill>
        <p:spPr>
          <a:xfrm xmlns:a="http://schemas.openxmlformats.org/drawingml/2006/main">
            <a:off x="3374851" y="1381125"/>
            <a:ext cx="5442297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101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B44EA-168A-4F33-96C2-F683BBD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Spatial independent reservoir component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ED78D-5BED-4559-8AF7-3C74B151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083F0-232C-4200-BC07-5623D39B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39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812F-DB56-499B-BE07-D51D049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Independent MSEA-Res scene estimates; reservoir changes respond to both climate and operations.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0CBD9-AEF8-4D93-88CF-828754992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1d5eb01ec47d3"/>
          <a:stretch xmlns:a="http://schemas.openxmlformats.org/drawingml/2006/main"/>
        </p:blipFill>
        <p:spPr>
          <a:xfrm xmlns:a="http://schemas.openxmlformats.org/drawingml/2006/main">
            <a:off x="561657" y="1381125"/>
            <a:ext cx="11068686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9051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19FB1-BB3E-461C-B3F0-CCC51C0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Residual validation metrics and network support through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F9DF5-8A06-4925-8154-FBA0979F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CAE8-3470-4DCF-A2FD-4D6AE347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40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062C-D53D-41BF-9EF9-16EDBA9B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Overlapping 8-year windows require six annual pairs. Station counts are not temporal sample sizes.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A4BB5-64E0-4F9A-8758-25B970CB2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71512530f4d02"/>
          <a:stretch xmlns:a="http://schemas.openxmlformats.org/drawingml/2006/main"/>
        </p:blipFill>
        <p:spPr>
          <a:xfrm xmlns:a="http://schemas.openxmlformats.org/drawingml/2006/main">
            <a:off x="2793442" y="1381125"/>
            <a:ext cx="6605116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759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6D63C-3229-4D16-AF22-7E812FA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Matched GLDAS comparison through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12FD7-15BA-4F7C-8798-1BCCDE8F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3E456-3B35-4DB7-8749-90000122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41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631F5-FF0D-4DDB-AD6C-6F2A43C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National soil + canopy + snow comparison. The revised report and manuscript include temporal subplots for all 22 basins.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8AB1A-2282-435E-ACB3-3F49A6AE3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eace2f6b747b9"/>
          <a:stretch xmlns:a="http://schemas.openxmlformats.org/drawingml/2006/main"/>
        </p:blipFill>
        <p:spPr>
          <a:xfrm xmlns:a="http://schemas.openxmlformats.org/drawingml/2006/main">
            <a:off x="923059" y="1381125"/>
            <a:ext cx="10345882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34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B1708-E157-4A0C-9BF8-61772B6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1163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C50"/>
                </a:solidFill>
                <a:latin typeface="Times New Roman"/>
                <a:ea typeface="Times New Roman"/>
                <a:cs typeface="Times New Roman"/>
              </a:defRPr>
            </a:pPr>
            <a:r>
              <a:t>GLDAS and residual timing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B71E3-7D9D-4D28-A826-AAB052A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Farzeen Khan  ·  AIT  · 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10F9B-8849-40F9-A7ED-D24D706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857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A"/>
                </a:solidFill>
                <a:latin typeface="Times New Roman"/>
                <a:ea typeface="Times New Roman"/>
                <a:cs typeface="Times New Roman"/>
              </a:defRPr>
            </a:pPr>
            <a:r>
              <a:t>42 /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9B0B8-0497-4CE5-88F0-A1E53379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079"/>
                </a:solidFill>
                <a:latin typeface="Times New Roman"/>
                <a:ea typeface="Times New Roman"/>
                <a:cs typeface="Times New Roman"/>
              </a:defRPr>
            </a:pPr>
            <a:r>
              <a:t>Separately standardized on joint observed months. GLDAS land storage does not represent human-only residual ground truth.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A15B-CDA6-4AAA-BD89-FF436F0B7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20670703b4152"/>
          <a:stretch xmlns:a="http://schemas.openxmlformats.org/drawingml/2006/main"/>
        </p:blipFill>
        <p:spPr>
          <a:xfrm xmlns:a="http://schemas.openxmlformats.org/drawingml/2006/main">
            <a:off x="926013" y="1381125"/>
            <a:ext cx="10339973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5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2026-10-25T07:02:36.8560000Z</dcterms:created>
  <dcterms:modified xsi:type="dcterms:W3CDTF">2026-10-25T07:02:36.8560000Z</dcterms:modified>
</coreProperties>
</file>