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8ca21971644bae" /><Relationship Type="http://schemas.openxmlformats.org/officeDocument/2006/relationships/extended-properties" Target="/docProps/app.xml" Id="R29d82550c14e4430" /><Relationship Type="http://schemas.openxmlformats.org/officeDocument/2006/relationships/officeDocument" Target="/ppt/presentation.xml" Id="R0309057283e6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a9f52bcdd74ce8"/>
  </p:sldMasterIdLst>
  <p:notesMasterIdLst>
    <p:notesMasterId xmlns:r="http://schemas.openxmlformats.org/officeDocument/2006/relationships" r:id="R99be960f60aa4ad2"/>
  </p:notesMasterIdLst>
  <p:sldIdLst>
    <p:sldId xmlns:r="http://schemas.openxmlformats.org/officeDocument/2006/relationships" id="256" r:id="R4d129489703e4959"/>
    <p:sldId xmlns:r="http://schemas.openxmlformats.org/officeDocument/2006/relationships" id="257" r:id="Rf7167c75302e432e"/>
    <p:sldId xmlns:r="http://schemas.openxmlformats.org/officeDocument/2006/relationships" id="258" r:id="R1e2183802cb042e5"/>
    <p:sldId xmlns:r="http://schemas.openxmlformats.org/officeDocument/2006/relationships" id="259" r:id="R8cf87eb03d2b4d8c"/>
    <p:sldId xmlns:r="http://schemas.openxmlformats.org/officeDocument/2006/relationships" id="260" r:id="R2638f0c1d3b24eeb"/>
    <p:sldId xmlns:r="http://schemas.openxmlformats.org/officeDocument/2006/relationships" id="261" r:id="Rc54a10e7b56e45c4"/>
    <p:sldId xmlns:r="http://schemas.openxmlformats.org/officeDocument/2006/relationships" id="262" r:id="R71a73cf9a94849b0"/>
    <p:sldId xmlns:r="http://schemas.openxmlformats.org/officeDocument/2006/relationships" id="263" r:id="R0f49203996304180"/>
    <p:sldId xmlns:r="http://schemas.openxmlformats.org/officeDocument/2006/relationships" id="264" r:id="R7450c47151ff49b2"/>
    <p:sldId xmlns:r="http://schemas.openxmlformats.org/officeDocument/2006/relationships" id="265" r:id="R7a97d4c58a524efe"/>
    <p:sldId xmlns:r="http://schemas.openxmlformats.org/officeDocument/2006/relationships" id="266" r:id="R8066d17294354384"/>
    <p:sldId xmlns:r="http://schemas.openxmlformats.org/officeDocument/2006/relationships" id="267" r:id="R1e982f0617504135"/>
    <p:sldId xmlns:r="http://schemas.openxmlformats.org/officeDocument/2006/relationships" id="268" r:id="Rc89fe81f5dba4ab7"/>
    <p:sldId xmlns:r="http://schemas.openxmlformats.org/officeDocument/2006/relationships" id="269" r:id="Rdb679728caf140f4"/>
    <p:sldId xmlns:r="http://schemas.openxmlformats.org/officeDocument/2006/relationships" id="270" r:id="R8df15399dfa4466e"/>
    <p:sldId xmlns:r="http://schemas.openxmlformats.org/officeDocument/2006/relationships" id="271" r:id="Rfd11c955433a49ae"/>
    <p:sldId xmlns:r="http://schemas.openxmlformats.org/officeDocument/2006/relationships" id="272" r:id="R4fbcff8345ea4548"/>
    <p:sldId xmlns:r="http://schemas.openxmlformats.org/officeDocument/2006/relationships" id="273" r:id="R5fd37c4564f548d7"/>
    <p:sldId xmlns:r="http://schemas.openxmlformats.org/officeDocument/2006/relationships" id="274" r:id="R95428173b3f44610"/>
    <p:sldId xmlns:r="http://schemas.openxmlformats.org/officeDocument/2006/relationships" id="275" r:id="R30c4437f5c4e4cf9"/>
    <p:sldId xmlns:r="http://schemas.openxmlformats.org/officeDocument/2006/relationships" id="276" r:id="R69be84af34f54a3a"/>
    <p:sldId xmlns:r="http://schemas.openxmlformats.org/officeDocument/2006/relationships" id="277" r:id="R4d20998dd5ad4454"/>
    <p:sldId xmlns:r="http://schemas.openxmlformats.org/officeDocument/2006/relationships" id="278" r:id="R6d96a16c90f94349"/>
    <p:sldId xmlns:r="http://schemas.openxmlformats.org/officeDocument/2006/relationships" id="279" r:id="R074378fb0f604ada"/>
    <p:sldId xmlns:r="http://schemas.openxmlformats.org/officeDocument/2006/relationships" id="280" r:id="Rccfad4562ecc4ff3"/>
    <p:sldId xmlns:r="http://schemas.openxmlformats.org/officeDocument/2006/relationships" id="281" r:id="Rf6b83a245a864e57"/>
    <p:sldId xmlns:r="http://schemas.openxmlformats.org/officeDocument/2006/relationships" id="282" r:id="Raa9df2ee017b46c5"/>
    <p:sldId xmlns:r="http://schemas.openxmlformats.org/officeDocument/2006/relationships" id="283" r:id="Ra3cdadc4c8c64a9a"/>
    <p:sldId xmlns:r="http://schemas.openxmlformats.org/officeDocument/2006/relationships" id="284" r:id="Re93ce96b868c42ab"/>
    <p:sldId xmlns:r="http://schemas.openxmlformats.org/officeDocument/2006/relationships" id="285" r:id="R880f9dec85634a41"/>
    <p:sldId xmlns:r="http://schemas.openxmlformats.org/officeDocument/2006/relationships" id="286" r:id="R0525cc3f014d4f37"/>
    <p:sldId xmlns:r="http://schemas.openxmlformats.org/officeDocument/2006/relationships" id="287" r:id="R886afc15625c4e36"/>
    <p:sldId xmlns:r="http://schemas.openxmlformats.org/officeDocument/2006/relationships" id="288" r:id="R22391838120949f8"/>
    <p:sldId xmlns:r="http://schemas.openxmlformats.org/officeDocument/2006/relationships" id="289" r:id="R8902a8d30e734de6"/>
    <p:sldId xmlns:r="http://schemas.openxmlformats.org/officeDocument/2006/relationships" id="290" r:id="R01a0a0c5a7f0470f"/>
    <p:sldId xmlns:r="http://schemas.openxmlformats.org/officeDocument/2006/relationships" id="291" r:id="R02c6a4f8d7904800"/>
    <p:sldId xmlns:r="http://schemas.openxmlformats.org/officeDocument/2006/relationships" id="292" r:id="R367ca8516f2d4ac0"/>
    <p:sldId xmlns:r="http://schemas.openxmlformats.org/officeDocument/2006/relationships" id="293" r:id="Rbfa2a4251ac549d4"/>
    <p:sldId xmlns:r="http://schemas.openxmlformats.org/officeDocument/2006/relationships" id="294" r:id="R8f12f5e9a1884d27"/>
    <p:sldId xmlns:r="http://schemas.openxmlformats.org/officeDocument/2006/relationships" id="295" r:id="R9f9e388e35d04fac"/>
    <p:sldId xmlns:r="http://schemas.openxmlformats.org/officeDocument/2006/relationships" id="296" r:id="Rf31965c771f2403a"/>
    <p:sldId xmlns:r="http://schemas.openxmlformats.org/officeDocument/2006/relationships" id="297" r:id="Reef219ff1fe342ed"/>
    <p:sldId xmlns:r="http://schemas.openxmlformats.org/officeDocument/2006/relationships" id="298" r:id="Rbaf763df9e084f53"/>
    <p:sldId xmlns:r="http://schemas.openxmlformats.org/officeDocument/2006/relationships" id="299" r:id="R9bf03a0f81134120"/>
    <p:sldId xmlns:r="http://schemas.openxmlformats.org/officeDocument/2006/relationships" id="300" r:id="Rcb67476fca814b7d"/>
    <p:sldId xmlns:r="http://schemas.openxmlformats.org/officeDocument/2006/relationships" id="301" r:id="R2708aa86e5854464"/>
    <p:sldId xmlns:r="http://schemas.openxmlformats.org/officeDocument/2006/relationships" id="302" r:id="R867415ccca9a43e4"/>
    <p:sldId xmlns:r="http://schemas.openxmlformats.org/officeDocument/2006/relationships" id="303" r:id="Ra7892f1a717549df"/>
    <p:sldId xmlns:r="http://schemas.openxmlformats.org/officeDocument/2006/relationships" id="304" r:id="Re0f77182a4924cd4"/>
    <p:sldId xmlns:r="http://schemas.openxmlformats.org/officeDocument/2006/relationships" id="305" r:id="R7d7849dd5b9745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6a8038e389473b" /><Relationship Type="http://schemas.openxmlformats.org/officeDocument/2006/relationships/slideMaster" Target="/ppt/slideMasters/slideMaster1.xml" Id="R50a9f52bcdd74ce8" /><Relationship Type="http://schemas.openxmlformats.org/officeDocument/2006/relationships/notesMaster" Target="/ppt/notesMasters/notesMaster1.xml" Id="R99be960f60aa4ad2" /><Relationship Type="http://schemas.openxmlformats.org/officeDocument/2006/relationships/presProps" Target="/ppt/presProps.xml" Id="R47c921e793534369" /><Relationship Type="http://schemas.openxmlformats.org/officeDocument/2006/relationships/tableStyles" Target="/ppt/tableStyles.xml" Id="Rc4d29b6c7e004879" /><Relationship Type="http://schemas.openxmlformats.org/officeDocument/2006/relationships/slide" Target="/ppt/slides/slide1.xml" Id="R4d129489703e4959" /><Relationship Type="http://schemas.openxmlformats.org/officeDocument/2006/relationships/slide" Target="/ppt/slides/slide2.xml" Id="Rf7167c75302e432e" /><Relationship Type="http://schemas.openxmlformats.org/officeDocument/2006/relationships/slide" Target="/ppt/slides/slide3.xml" Id="R1e2183802cb042e5" /><Relationship Type="http://schemas.openxmlformats.org/officeDocument/2006/relationships/slide" Target="/ppt/slides/slide4.xml" Id="R8cf87eb03d2b4d8c" /><Relationship Type="http://schemas.openxmlformats.org/officeDocument/2006/relationships/slide" Target="/ppt/slides/slide5.xml" Id="R2638f0c1d3b24eeb" /><Relationship Type="http://schemas.openxmlformats.org/officeDocument/2006/relationships/slide" Target="/ppt/slides/slide6.xml" Id="Rc54a10e7b56e45c4" /><Relationship Type="http://schemas.openxmlformats.org/officeDocument/2006/relationships/slide" Target="/ppt/slides/slide7.xml" Id="R71a73cf9a94849b0" /><Relationship Type="http://schemas.openxmlformats.org/officeDocument/2006/relationships/slide" Target="/ppt/slides/slide8.xml" Id="R0f49203996304180" /><Relationship Type="http://schemas.openxmlformats.org/officeDocument/2006/relationships/slide" Target="/ppt/slides/slide9.xml" Id="R7450c47151ff49b2" /><Relationship Type="http://schemas.openxmlformats.org/officeDocument/2006/relationships/slide" Target="/ppt/slides/slide10.xml" Id="R7a97d4c58a524efe" /><Relationship Type="http://schemas.openxmlformats.org/officeDocument/2006/relationships/slide" Target="/ppt/slides/slide11.xml" Id="R8066d17294354384" /><Relationship Type="http://schemas.openxmlformats.org/officeDocument/2006/relationships/slide" Target="/ppt/slides/slide12.xml" Id="R1e982f0617504135" /><Relationship Type="http://schemas.openxmlformats.org/officeDocument/2006/relationships/slide" Target="/ppt/slides/slide13.xml" Id="Rc89fe81f5dba4ab7" /><Relationship Type="http://schemas.openxmlformats.org/officeDocument/2006/relationships/slide" Target="/ppt/slides/slide14.xml" Id="Rdb679728caf140f4" /><Relationship Type="http://schemas.openxmlformats.org/officeDocument/2006/relationships/slide" Target="/ppt/slides/slide15.xml" Id="R8df15399dfa4466e" /><Relationship Type="http://schemas.openxmlformats.org/officeDocument/2006/relationships/slide" Target="/ppt/slides/slide16.xml" Id="Rfd11c955433a49ae" /><Relationship Type="http://schemas.openxmlformats.org/officeDocument/2006/relationships/slide" Target="/ppt/slides/slide17.xml" Id="R4fbcff8345ea4548" /><Relationship Type="http://schemas.openxmlformats.org/officeDocument/2006/relationships/slide" Target="/ppt/slides/slide18.xml" Id="R5fd37c4564f548d7" /><Relationship Type="http://schemas.openxmlformats.org/officeDocument/2006/relationships/slide" Target="/ppt/slides/slide19.xml" Id="R95428173b3f44610" /><Relationship Type="http://schemas.openxmlformats.org/officeDocument/2006/relationships/slide" Target="/ppt/slides/slide20.xml" Id="R30c4437f5c4e4cf9" /><Relationship Type="http://schemas.openxmlformats.org/officeDocument/2006/relationships/slide" Target="/ppt/slides/slide21.xml" Id="R69be84af34f54a3a" /><Relationship Type="http://schemas.openxmlformats.org/officeDocument/2006/relationships/slide" Target="/ppt/slides/slide22.xml" Id="R4d20998dd5ad4454" /><Relationship Type="http://schemas.openxmlformats.org/officeDocument/2006/relationships/slide" Target="/ppt/slides/slide23.xml" Id="R6d96a16c90f94349" /><Relationship Type="http://schemas.openxmlformats.org/officeDocument/2006/relationships/slide" Target="/ppt/slides/slide24.xml" Id="R074378fb0f604ada" /><Relationship Type="http://schemas.openxmlformats.org/officeDocument/2006/relationships/slide" Target="/ppt/slides/slide25.xml" Id="Rccfad4562ecc4ff3" /><Relationship Type="http://schemas.openxmlformats.org/officeDocument/2006/relationships/slide" Target="/ppt/slides/slide26.xml" Id="Rf6b83a245a864e57" /><Relationship Type="http://schemas.openxmlformats.org/officeDocument/2006/relationships/slide" Target="/ppt/slides/slide27.xml" Id="Raa9df2ee017b46c5" /><Relationship Type="http://schemas.openxmlformats.org/officeDocument/2006/relationships/slide" Target="/ppt/slides/slide28.xml" Id="Ra3cdadc4c8c64a9a" /><Relationship Type="http://schemas.openxmlformats.org/officeDocument/2006/relationships/slide" Target="/ppt/slides/slide29.xml" Id="Re93ce96b868c42ab" /><Relationship Type="http://schemas.openxmlformats.org/officeDocument/2006/relationships/slide" Target="/ppt/slides/slide30.xml" Id="R880f9dec85634a41" /><Relationship Type="http://schemas.openxmlformats.org/officeDocument/2006/relationships/slide" Target="/ppt/slides/slide31.xml" Id="R0525cc3f014d4f37" /><Relationship Type="http://schemas.openxmlformats.org/officeDocument/2006/relationships/slide" Target="/ppt/slides/slide32.xml" Id="R886afc15625c4e36" /><Relationship Type="http://schemas.openxmlformats.org/officeDocument/2006/relationships/slide" Target="/ppt/slides/slide33.xml" Id="R22391838120949f8" /><Relationship Type="http://schemas.openxmlformats.org/officeDocument/2006/relationships/slide" Target="/ppt/slides/slide34.xml" Id="R8902a8d30e734de6" /><Relationship Type="http://schemas.openxmlformats.org/officeDocument/2006/relationships/slide" Target="/ppt/slides/slide35.xml" Id="R01a0a0c5a7f0470f" /><Relationship Type="http://schemas.openxmlformats.org/officeDocument/2006/relationships/slide" Target="/ppt/slides/slide36.xml" Id="R02c6a4f8d7904800" /><Relationship Type="http://schemas.openxmlformats.org/officeDocument/2006/relationships/slide" Target="/ppt/slides/slide37.xml" Id="R367ca8516f2d4ac0" /><Relationship Type="http://schemas.openxmlformats.org/officeDocument/2006/relationships/slide" Target="/ppt/slides/slide38.xml" Id="Rbfa2a4251ac549d4" /><Relationship Type="http://schemas.openxmlformats.org/officeDocument/2006/relationships/slide" Target="/ppt/slides/slide39.xml" Id="R8f12f5e9a1884d27" /><Relationship Type="http://schemas.openxmlformats.org/officeDocument/2006/relationships/slide" Target="/ppt/slides/slide40.xml" Id="R9f9e388e35d04fac" /><Relationship Type="http://schemas.openxmlformats.org/officeDocument/2006/relationships/slide" Target="/ppt/slides/slide41.xml" Id="Rf31965c771f2403a" /><Relationship Type="http://schemas.openxmlformats.org/officeDocument/2006/relationships/slide" Target="/ppt/slides/slide42.xml" Id="Reef219ff1fe342ed" /><Relationship Type="http://schemas.openxmlformats.org/officeDocument/2006/relationships/slide" Target="/ppt/slides/slide43.xml" Id="Rbaf763df9e084f53" /><Relationship Type="http://schemas.openxmlformats.org/officeDocument/2006/relationships/slide" Target="/ppt/slides/slide44.xml" Id="R9bf03a0f81134120" /><Relationship Type="http://schemas.openxmlformats.org/officeDocument/2006/relationships/slide" Target="/ppt/slides/slide45.xml" Id="Rcb67476fca814b7d" /><Relationship Type="http://schemas.openxmlformats.org/officeDocument/2006/relationships/slide" Target="/ppt/slides/slide46.xml" Id="R2708aa86e5854464" /><Relationship Type="http://schemas.openxmlformats.org/officeDocument/2006/relationships/slide" Target="/ppt/slides/slide47.xml" Id="R867415ccca9a43e4" /><Relationship Type="http://schemas.openxmlformats.org/officeDocument/2006/relationships/slide" Target="/ppt/slides/slide48.xml" Id="Ra7892f1a717549df" /><Relationship Type="http://schemas.openxmlformats.org/officeDocument/2006/relationships/slide" Target="/ppt/slides/slide49.xml" Id="Re0f77182a4924cd4" /><Relationship Type="http://schemas.openxmlformats.org/officeDocument/2006/relationships/slide" Target="/ppt/slides/slide50.xml" Id="R7d7849dd5b97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8780e57d20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7ce24f25149e5" /><Relationship Type="http://schemas.openxmlformats.org/officeDocument/2006/relationships/notesMaster" Target="/ppt/notesMasters/notesMaster1.xml" Id="R642174a188f24d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02c98f6c914782" /><Relationship Type="http://schemas.openxmlformats.org/officeDocument/2006/relationships/notesMaster" Target="/ppt/notesMasters/notesMaster1.xml" Id="R57cac7e58f66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8ce4f6ace4c6c" /><Relationship Type="http://schemas.openxmlformats.org/officeDocument/2006/relationships/notesMaster" Target="/ppt/notesMasters/notesMaster1.xml" Id="Ra7da3b1df1eb41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ae2bd90a0c482b" /><Relationship Type="http://schemas.openxmlformats.org/officeDocument/2006/relationships/notesMaster" Target="/ppt/notesMasters/notesMaster1.xml" Id="R1ec1e64a2d79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522ab3d3f04fc1" /><Relationship Type="http://schemas.openxmlformats.org/officeDocument/2006/relationships/notesMaster" Target="/ppt/notesMasters/notesMaster1.xml" Id="Rdc1b43904baa4d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3de4aaeb464366" /><Relationship Type="http://schemas.openxmlformats.org/officeDocument/2006/relationships/notesMaster" Target="/ppt/notesMasters/notesMaster1.xml" Id="R2657dd312fb746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7b92838e84351" /><Relationship Type="http://schemas.openxmlformats.org/officeDocument/2006/relationships/notesMaster" Target="/ppt/notesMasters/notesMaster1.xml" Id="Rdd64c239fbf045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4e45b0aca44b0c" /><Relationship Type="http://schemas.openxmlformats.org/officeDocument/2006/relationships/notesMaster" Target="/ppt/notesMasters/notesMaster1.xml" Id="R206db6bcadab45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bb3cd43ff34fad" /><Relationship Type="http://schemas.openxmlformats.org/officeDocument/2006/relationships/notesMaster" Target="/ppt/notesMasters/notesMaster1.xml" Id="R2a43f7281f8145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61d781c0ee42cc" /><Relationship Type="http://schemas.openxmlformats.org/officeDocument/2006/relationships/notesMaster" Target="/ppt/notesMasters/notesMaster1.xml" Id="R9f1f3c5836ce44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0d6b6afe86468b" /><Relationship Type="http://schemas.openxmlformats.org/officeDocument/2006/relationships/notesMaster" Target="/ppt/notesMasters/notesMaster1.xml" Id="R004b53cc62f54e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7fc79113e747aa" /><Relationship Type="http://schemas.openxmlformats.org/officeDocument/2006/relationships/notesMaster" Target="/ppt/notesMasters/notesMaster1.xml" Id="R6bc96b7792954d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80111160e34431" /><Relationship Type="http://schemas.openxmlformats.org/officeDocument/2006/relationships/notesMaster" Target="/ppt/notesMasters/notesMaster1.xml" Id="R86df97429e5342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e367c7c973406f" /><Relationship Type="http://schemas.openxmlformats.org/officeDocument/2006/relationships/notesMaster" Target="/ppt/notesMasters/notesMaster1.xml" Id="R8585bbb1a5d648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f25e348a4b4ca2" /><Relationship Type="http://schemas.openxmlformats.org/officeDocument/2006/relationships/notesMaster" Target="/ppt/notesMasters/notesMaster1.xml" Id="Rb8f66926454a4a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ba607087654d63" /><Relationship Type="http://schemas.openxmlformats.org/officeDocument/2006/relationships/notesMaster" Target="/ppt/notesMasters/notesMaster1.xml" Id="R2531d2c5d49a4b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ac70ea42e14d01" /><Relationship Type="http://schemas.openxmlformats.org/officeDocument/2006/relationships/notesMaster" Target="/ppt/notesMasters/notesMaster1.xml" Id="R761b0b8c8ceb43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16122946e646bd" /><Relationship Type="http://schemas.openxmlformats.org/officeDocument/2006/relationships/notesMaster" Target="/ppt/notesMasters/notesMaster1.xml" Id="R517d9da8545344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63d939f18e456b" /><Relationship Type="http://schemas.openxmlformats.org/officeDocument/2006/relationships/notesMaster" Target="/ppt/notesMasters/notesMaster1.xml" Id="R808743d6ac2341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fc205576304d4e" /><Relationship Type="http://schemas.openxmlformats.org/officeDocument/2006/relationships/notesMaster" Target="/ppt/notesMasters/notesMaster1.xml" Id="R8f11c19b3e4e4e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a8e573a8dc4103" /><Relationship Type="http://schemas.openxmlformats.org/officeDocument/2006/relationships/notesMaster" Target="/ppt/notesMasters/notesMaster1.xml" Id="Rc2f76380ed754d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e10941e1394d58" /><Relationship Type="http://schemas.openxmlformats.org/officeDocument/2006/relationships/notesMaster" Target="/ppt/notesMasters/notesMaster1.xml" Id="R471c6e93808449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be20b7c37344f3" /><Relationship Type="http://schemas.openxmlformats.org/officeDocument/2006/relationships/notesMaster" Target="/ppt/notesMasters/notesMaster1.xml" Id="R98b1df78611341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e8ab1ce58e431e" /><Relationship Type="http://schemas.openxmlformats.org/officeDocument/2006/relationships/notesMaster" Target="/ppt/notesMasters/notesMaster1.xml" Id="R47c098f166c2416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ba894d03864a92" /><Relationship Type="http://schemas.openxmlformats.org/officeDocument/2006/relationships/notesMaster" Target="/ppt/notesMasters/notesMaster1.xml" Id="R050b7d2159504b6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06b0565ec4740d6" /><Relationship Type="http://schemas.openxmlformats.org/officeDocument/2006/relationships/notesMaster" Target="/ppt/notesMasters/notesMaster1.xml" Id="R395596465d7c41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ffe469b1d004355" /><Relationship Type="http://schemas.openxmlformats.org/officeDocument/2006/relationships/notesMaster" Target="/ppt/notesMasters/notesMaster1.xml" Id="R6e4f64a48dc847b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ade2b2d62a449ca" /><Relationship Type="http://schemas.openxmlformats.org/officeDocument/2006/relationships/notesMaster" Target="/ppt/notesMasters/notesMaster1.xml" Id="Rf8ec52224bec46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2cf31e820d48c5" /><Relationship Type="http://schemas.openxmlformats.org/officeDocument/2006/relationships/notesMaster" Target="/ppt/notesMasters/notesMaster1.xml" Id="R5d7ffee952994a2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bf5447fe92f48d9" /><Relationship Type="http://schemas.openxmlformats.org/officeDocument/2006/relationships/notesMaster" Target="/ppt/notesMasters/notesMaster1.xml" Id="Rb2d1dd761ba64e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41086ec541940f3" /><Relationship Type="http://schemas.openxmlformats.org/officeDocument/2006/relationships/notesMaster" Target="/ppt/notesMasters/notesMaster1.xml" Id="R9d176ebf4e6947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8b80eb669244018" /><Relationship Type="http://schemas.openxmlformats.org/officeDocument/2006/relationships/notesMaster" Target="/ppt/notesMasters/notesMaster1.xml" Id="Red148c377913406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6c0702424a547a3" /><Relationship Type="http://schemas.openxmlformats.org/officeDocument/2006/relationships/notesMaster" Target="/ppt/notesMasters/notesMaster1.xml" Id="R3edc9470530944e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62a6d83af5049c4" /><Relationship Type="http://schemas.openxmlformats.org/officeDocument/2006/relationships/notesMaster" Target="/ppt/notesMasters/notesMaster1.xml" Id="Rf71726fa750e4d6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d5b7530ce1643c9" /><Relationship Type="http://schemas.openxmlformats.org/officeDocument/2006/relationships/notesMaster" Target="/ppt/notesMasters/notesMaster1.xml" Id="R5636daf546f949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f30ea0c0f7a4362" /><Relationship Type="http://schemas.openxmlformats.org/officeDocument/2006/relationships/notesMaster" Target="/ppt/notesMasters/notesMaster1.xml" Id="Rc0ff21fe4977402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8e50b6cceb45ae" /><Relationship Type="http://schemas.openxmlformats.org/officeDocument/2006/relationships/notesMaster" Target="/ppt/notesMasters/notesMaster1.xml" Id="R00a9ca95870a472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f0a98cd946f43ac" /><Relationship Type="http://schemas.openxmlformats.org/officeDocument/2006/relationships/notesMaster" Target="/ppt/notesMasters/notesMaster1.xml" Id="R5f0cc4415b514fe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23776bc468048ff" /><Relationship Type="http://schemas.openxmlformats.org/officeDocument/2006/relationships/notesMaster" Target="/ppt/notesMasters/notesMaster1.xml" Id="Rc777624c022d414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fa3e26ed297404c" /><Relationship Type="http://schemas.openxmlformats.org/officeDocument/2006/relationships/notesMaster" Target="/ppt/notesMasters/notesMaster1.xml" Id="R329b9f4b03084d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63f5856898d412c" /><Relationship Type="http://schemas.openxmlformats.org/officeDocument/2006/relationships/notesMaster" Target="/ppt/notesMasters/notesMaster1.xml" Id="R31379364aa9c45c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decc9a797504fb1" /><Relationship Type="http://schemas.openxmlformats.org/officeDocument/2006/relationships/notesMaster" Target="/ppt/notesMasters/notesMaster1.xml" Id="Reccd2d2ea100424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0c411f556d94525" /><Relationship Type="http://schemas.openxmlformats.org/officeDocument/2006/relationships/notesMaster" Target="/ppt/notesMasters/notesMaster1.xml" Id="Rd582984576ec4df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24a0032f10b4d06" /><Relationship Type="http://schemas.openxmlformats.org/officeDocument/2006/relationships/notesMaster" Target="/ppt/notesMasters/notesMaster1.xml" Id="R09e6f8faa9574fe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d9d31b0f9bb442e" /><Relationship Type="http://schemas.openxmlformats.org/officeDocument/2006/relationships/notesMaster" Target="/ppt/notesMasters/notesMaster1.xml" Id="R41d92a24a6d0496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ba6db547caf4ba6" /><Relationship Type="http://schemas.openxmlformats.org/officeDocument/2006/relationships/notesMaster" Target="/ppt/notesMasters/notesMaster1.xml" Id="Rae780112d28b44e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c81966ef4b749e9" /><Relationship Type="http://schemas.openxmlformats.org/officeDocument/2006/relationships/notesMaster" Target="/ppt/notesMasters/notesMaster1.xml" Id="R5f67ed4ae419491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f4c8ee366f34160" /><Relationship Type="http://schemas.openxmlformats.org/officeDocument/2006/relationships/notesMaster" Target="/ppt/notesMasters/notesMaster1.xml" Id="R260fba7b0c59417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419251407474548" /><Relationship Type="http://schemas.openxmlformats.org/officeDocument/2006/relationships/notesMaster" Target="/ppt/notesMasters/notesMaster1.xml" Id="Rcb3e504bccd342c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5fc1ee5cfda46d3" /><Relationship Type="http://schemas.openxmlformats.org/officeDocument/2006/relationships/notesMaster" Target="/ppt/notesMasters/notesMaster1.xml" Id="Rf0ee14593484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ONWR principal-basin geometry. Reporting units do not imply independent GRACE observations.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TWSA: April 2002–September 2024. Derived GWSA: April 2002–September 2023.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Storage anomalies use mm of equivalent water depth. Snow is small in Thailand but retained consistently.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Paired simulations share model structure and forcing. The naturalized baseline remains a model experiment.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statistical emulator reconstructs C from weather. Its prediction does not replace C in the primary residual.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Ridge, Elastic Net, splines and Random Forest. Predictors exclude GRACE and groundwater observations.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monthly values, 2003–2023. Native P/PET drive reconstruction. CHIRPS supplies the rainfall replacement test.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Available-month basin means, 2003–2023. Values are mm/month, not annual totals. Each map uses its labelled scale.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CSR TWSA and compartment-derived GWSA. Missing months remain gaps. Groundwater ends earlier because of compartment availability.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237 TWSA months through September 2024; 225 GWSA months through September 2023. Full-record seasonal Sen slopes.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Seasonal Sen slopes. Negative values indicate decline. All basins retain the CSR small-area caution.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Seasonal Mann–Kendall with basin FDR. Colours saturate at q = 0.10. This test does not remove serial dependence or product uncertainty.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Common-date rank correlations: TWSA 0.138 and GWSA 0.027. Groundwater chains also differ in compartment processing.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Ensemble test anomaly NSE against naturalized WaterGAP, 2016–2023. High scores verify reconstruction of the parent model.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series. Training: 1991–2009; validation: 2010–2015; test: 2016–2023. Parent-model agreement is distinct from observational validation.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Controlled Ridge experiment. National test anomaly NSE: current weather / memory = 0.283 / 0.890 for TWSA and 0.039 / 0.723 for GWSA.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2022 national anomaly NSE: TWSA 0.234; GWSA −1.067. Negative NSE indicates performance below the mean benchmark.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 = H + E on common observed months. The remaining discrepancy includes unresolved model and observation errors.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Calendar-month fixed-effect OLS slopes on matched support. These slopes describe residual change and do not measure pumping.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OLS slopes, mm/year, using the same months. R = H + E. Seasonal Sen slopes are reported separately because their medians are not additive.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Soil + canopy + snow only. National r = 0.969, NSE = 0.738, RMSE = 52.49 mm across 261 months. Groundwater and surface water are excluded.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Matched land-storage benchmark. NSE colours saturate below −1 and RMSE above 100 mm. GLDAS also contributes to the groundwater subtraction.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head-to-storage conversion requires aquifer storage coefficients and representative areas. Those inputs are unavailable here.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511 wells provide 5,484 aggregates. Co-located wells are grouped. The common-period panels cover eight usable storage years within 2013–2022.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Residual–head correlations on available annual pairs. Grey hatching marks insufficient evidence. These comparisons cannot validate a human-only total.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26-reservoir fixed panel, 73 scene-supported months. Adjusted r = 0.439, year-cluster 95% interval 0.188–0.665. Both curves remove season and linear trend.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Scene-screened MSEA-Res Level 1. Reservoir storage checks a surface-water component. Climate and operating decisions both affect reservoirs.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PET and the native-forced parent target stay fixed. This tests forcing dependence, rather than which rainfall product is more accurate.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https://pratikkhanal16.github.io/thailand-water-storage-dss/extended/  •  Source repository: pratikkhanal16/thailand-water-storage-dss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Contribution: a reproducible joint assessment of product sensitivity, climate memory, paired-model discrepancy and monitoring-network uncertainty.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bibliography, source terms and basin results accompany the report. Theme: Metropolis by Matthias Vogelgesang and contributors, https://github.com/matze/mtheme.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Main research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National monthly observations, 2003–2023. Actual ET, soil moisture and surface temperature provide context; they are not added primary predictors.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Basin available-month means, 2003–2023. Product coverage differs. Volumetric moisture is distinct from storage in mm.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Slopes are seasonal Sen estimates in mm/year. q is seasonal Mann–Kendall FDR across basins; n is observed months. Full intervals and original p-values remain in CSR_basin_trends.csv. Basin names are listed in Appendix A.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Slopes are seasonal Sen estimates in mm/year. q is seasonal Mann–Kendall FDR across basins; n is observed months. Full intervals and original p-values remain in CSR_basin_trends.csv. Basin names are listed in Appendix A.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ensemble, 2016–2023 test data. Target: naturalized WaterGAP, not GRACE. Errors are mm; anomaly NSE removes the training monthly climatology. Higher NSE and lower errors are better.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ensemble, 2016–2023 test data. Target: naturalized WaterGAP, not GRACE. Errors are mm; anomaly NSE removes the training monthly climatology. Higher NSE and lower errors are better.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ensemble, 2016–2023 test data. Target: naturalized WaterGAP, not GRACE. Errors are mm; anomaly NSE removes the training monthly climatology. Higher NSE and lower errors are better.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ensemble, 2016–2023 test data. Target: naturalized WaterGAP, not GRACE. Errors are mm; anomaly NSE removes the training monthly climatology. Higher NSE and lower errors are better.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Soil, canopy and snow only; naturalized WaterGAP compared with GLDAS Noah on matched months. Errors are mm; bias = WaterGAP minus GLDAS. This does not validate full TWS, GWS or human-only storage.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Soil, canopy and snow only; naturalized WaterGAP compared with GLDAS Noah on matched months. Errors are mm; bias = WaterGAP minus GLDAS. This does not validate full TWS, GWS or human-only storage.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Longest-overlap retained-flags panel. Positive r means lower residual tends to occur with lower head. Detr r removes a linear trend. An em dash means unavailable evidence, not zero. Head is not converted into storage; no cross-unit NSE or RMSE is reported. Other station panels and conditional intervals remain in the complete CSV.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Longest-overlap retained-flags panel. Positive r means lower residual tends to occur with lower head. Detr r removes a linear trend. An em dash means unavailable evidence, not zero. Head is not converted into storage; no cross-unit NSE or RMSE is reported. Other station panels and conditional intervals remain in the complete CSV.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https://pratikkhanal16.github.io/thailand-water-storage-dss/extended/basin_forcing/</a:t>
            </a:r>
          </a:p>
          <a:p xmlns:a="http://schemas.openxmlformats.org/drawingml/2006/main">
            <a:r>
              <a:t>Source: verified Thailand extended study, report and basin/forcing appendix.</a:t>
            </a:r>
          </a:p>
          <a:p xmlns:a="http://schemas.openxmlformats.org/drawingml/2006/main">
            <a:r>
              <a:t>Backup slide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343d1536342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b0abada9e4c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72cdf626346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f631f273548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a77b448e64d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48ebf74414f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590209-D231-4820-9B33-D08C870FF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3035D1-6B04-4F6D-B751-C1781038E7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DBEB5D-0C2C-4C69-AF9D-516E97E72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9F6C4E-AB25-44DF-A6F7-32F851CE7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BAD69C-20B8-4CA3-A5FB-8C0445EF99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294C90-E5D9-4CC5-A758-DF1EB30D6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25E8B8-E248-4769-9A71-5ECEF9BD7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174AA5-3166-46C4-B903-FB939790E2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3C4D9D-71C8-41A1-B25D-3BA5818BC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2199D0-290A-4BB0-A412-BF707EFAC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5b77f0a074c9c" /><Relationship Type="http://schemas.openxmlformats.org/officeDocument/2006/relationships/slideLayout" Target="/ppt/slideLayouts/slideLayout1.xml" Id="R3174e4344f984bad" /><Relationship Type="http://schemas.openxmlformats.org/officeDocument/2006/relationships/slideLayout" Target="/ppt/slideLayouts/slideLayout2.xml" Id="Rb2a69e147f734835" /><Relationship Type="http://schemas.openxmlformats.org/officeDocument/2006/relationships/slideLayout" Target="/ppt/slideLayouts/slideLayout3.xml" Id="R7d362ba5f5594a12" /><Relationship Type="http://schemas.openxmlformats.org/officeDocument/2006/relationships/slideLayout" Target="/ppt/slideLayouts/slideLayout4.xml" Id="Rfc8b881c47204a55" /><Relationship Type="http://schemas.openxmlformats.org/officeDocument/2006/relationships/slideLayout" Target="/ppt/slideLayouts/slideLayout5.xml" Id="Rebf844abd3d74da1" /><Relationship Type="http://schemas.openxmlformats.org/officeDocument/2006/relationships/slideLayout" Target="/ppt/slideLayouts/slideLayout6.xml" Id="R6d378e37925249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74e4344f984bad"/>
    <p:sldLayoutId xmlns:r="http://schemas.openxmlformats.org/officeDocument/2006/relationships" id="2147483650" r:id="Rb2a69e147f734835"/>
    <p:sldLayoutId xmlns:r="http://schemas.openxmlformats.org/officeDocument/2006/relationships" id="2147483651" r:id="R7d362ba5f5594a12"/>
    <p:sldLayoutId xmlns:r="http://schemas.openxmlformats.org/officeDocument/2006/relationships" id="2147483652" r:id="Rfc8b881c47204a55"/>
    <p:sldLayoutId xmlns:r="http://schemas.openxmlformats.org/officeDocument/2006/relationships" id="2147483653" r:id="Rebf844abd3d74da1"/>
    <p:sldLayoutId xmlns:r="http://schemas.openxmlformats.org/officeDocument/2006/relationships" id="2147483654" r:id="R6d378e37925249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c5fd9c0124c53" /><Relationship Type="http://schemas.openxmlformats.org/officeDocument/2006/relationships/notesSlide" Target="/ppt/notesSlides/notesSlide1.xml" Id="R1d492c5d60c247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abae6d74b4f2e" /><Relationship Type="http://schemas.openxmlformats.org/officeDocument/2006/relationships/notesSlide" Target="/ppt/notesSlides/notesSlide2.xml" Id="R8f9f79b67e4a4a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a2e386b974abf" /><Relationship Type="http://schemas.openxmlformats.org/officeDocument/2006/relationships/notesSlide" Target="/ppt/notesSlides/notesSlide3.xml" Id="Rf241e265cb4a4e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588869d8147f8" /><Relationship Type="http://schemas.openxmlformats.org/officeDocument/2006/relationships/image" Target="/ppt/media/image.png" Id="R7aa7995d10a449f9" /><Relationship Type="http://schemas.openxmlformats.org/officeDocument/2006/relationships/notesSlide" Target="/ppt/notesSlides/notesSlide4.xml" Id="Rcf62bf442895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542569ea54bf8" /><Relationship Type="http://schemas.openxmlformats.org/officeDocument/2006/relationships/notesSlide" Target="/ppt/notesSlides/notesSlide5.xml" Id="R9d9d21907bd540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045b0c01b461c" /><Relationship Type="http://schemas.openxmlformats.org/officeDocument/2006/relationships/notesSlide" Target="/ppt/notesSlides/notesSlide6.xml" Id="R7a374ff8da024f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f74e5050c49f1" /><Relationship Type="http://schemas.openxmlformats.org/officeDocument/2006/relationships/notesSlide" Target="/ppt/notesSlides/notesSlide7.xml" Id="R2cbcaa0d3c6042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0e4a281074869" /><Relationship Type="http://schemas.openxmlformats.org/officeDocument/2006/relationships/notesSlide" Target="/ppt/notesSlides/notesSlide8.xml" Id="Rea7698a7f13245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56a095d5e48be" /><Relationship Type="http://schemas.openxmlformats.org/officeDocument/2006/relationships/notesSlide" Target="/ppt/notesSlides/notesSlide9.xml" Id="R135ac124727f43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1bccdaa894d8e" /><Relationship Type="http://schemas.openxmlformats.org/officeDocument/2006/relationships/notesSlide" Target="/ppt/notesSlides/notesSlide10.xml" Id="Rf55375b2b04342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0bc984b8a420a" /><Relationship Type="http://schemas.openxmlformats.org/officeDocument/2006/relationships/image" Target="/ppt/media/image2.png" Id="R2056ee6e827849dd" /><Relationship Type="http://schemas.openxmlformats.org/officeDocument/2006/relationships/notesSlide" Target="/ppt/notesSlides/notesSlide11.xml" Id="Rc7f5dd3f932e44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184a5b42f4684" /><Relationship Type="http://schemas.openxmlformats.org/officeDocument/2006/relationships/image" Target="/ppt/media/image3.png" Id="Rcc372c60c9d4426a" /><Relationship Type="http://schemas.openxmlformats.org/officeDocument/2006/relationships/notesSlide" Target="/ppt/notesSlides/notesSlide12.xml" Id="R48e3bf4f4f5444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1d777d29342c0" /><Relationship Type="http://schemas.openxmlformats.org/officeDocument/2006/relationships/image" Target="/ppt/media/image4.png" Id="R0f89f9f607c44346" /><Relationship Type="http://schemas.openxmlformats.org/officeDocument/2006/relationships/notesSlide" Target="/ppt/notesSlides/notesSlide13.xml" Id="R6dd59538b1814a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eff895e0f4d17" /><Relationship Type="http://schemas.openxmlformats.org/officeDocument/2006/relationships/notesSlide" Target="/ppt/notesSlides/notesSlide14.xml" Id="Rcbcc521ac3c440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c8f04598047ce" /><Relationship Type="http://schemas.openxmlformats.org/officeDocument/2006/relationships/image" Target="/ppt/media/image5.png" Id="R69db3d3802f548c9" /><Relationship Type="http://schemas.openxmlformats.org/officeDocument/2006/relationships/notesSlide" Target="/ppt/notesSlides/notesSlide15.xml" Id="Rb09e107a3cf04e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0e76df4d24b26" /><Relationship Type="http://schemas.openxmlformats.org/officeDocument/2006/relationships/image" Target="/ppt/media/image6.png" Id="Reebe47d62d4a40df" /><Relationship Type="http://schemas.openxmlformats.org/officeDocument/2006/relationships/notesSlide" Target="/ppt/notesSlides/notesSlide16.xml" Id="R21aac33988fd42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bf7b2c24549b0" /><Relationship Type="http://schemas.openxmlformats.org/officeDocument/2006/relationships/image" Target="/ppt/media/image7.png" Id="R8280848bda5c4ecf" /><Relationship Type="http://schemas.openxmlformats.org/officeDocument/2006/relationships/notesSlide" Target="/ppt/notesSlides/notesSlide17.xml" Id="R65208c670f7341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25d4cea0444ad" /><Relationship Type="http://schemas.openxmlformats.org/officeDocument/2006/relationships/image" Target="/ppt/media/image8.png" Id="R847847ac30da4e2b" /><Relationship Type="http://schemas.openxmlformats.org/officeDocument/2006/relationships/notesSlide" Target="/ppt/notesSlides/notesSlide18.xml" Id="R34686f794ff74c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a3fca23574d5e" /><Relationship Type="http://schemas.openxmlformats.org/officeDocument/2006/relationships/image" Target="/ppt/media/image9.png" Id="R65cc91ab259b4625" /><Relationship Type="http://schemas.openxmlformats.org/officeDocument/2006/relationships/notesSlide" Target="/ppt/notesSlides/notesSlide19.xml" Id="R151d9966d6dd42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3ae80b569941a2" /><Relationship Type="http://schemas.openxmlformats.org/officeDocument/2006/relationships/image" Target="/ppt/media/image10.png" Id="R9136965938764a56" /><Relationship Type="http://schemas.openxmlformats.org/officeDocument/2006/relationships/notesSlide" Target="/ppt/notesSlides/notesSlide20.xml" Id="Rd60c79b309834f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90c6419f84a44" /><Relationship Type="http://schemas.openxmlformats.org/officeDocument/2006/relationships/image" Target="/ppt/media/image11.png" Id="R855db9e0ed7e4eab" /><Relationship Type="http://schemas.openxmlformats.org/officeDocument/2006/relationships/notesSlide" Target="/ppt/notesSlides/notesSlide21.xml" Id="Rb5dbfb3dcd574a4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394b171e3464a" /><Relationship Type="http://schemas.openxmlformats.org/officeDocument/2006/relationships/image" Target="/ppt/media/image12.png" Id="R7c07981db18f40fd" /><Relationship Type="http://schemas.openxmlformats.org/officeDocument/2006/relationships/notesSlide" Target="/ppt/notesSlides/notesSlide22.xml" Id="R8a9ae6e99f6c47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f4d05ff50459b" /><Relationship Type="http://schemas.openxmlformats.org/officeDocument/2006/relationships/image" Target="/ppt/media/image13.png" Id="R63a89000f2a24892" /><Relationship Type="http://schemas.openxmlformats.org/officeDocument/2006/relationships/notesSlide" Target="/ppt/notesSlides/notesSlide23.xml" Id="R274bc6ace80648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330cc8bbd400d" /><Relationship Type="http://schemas.openxmlformats.org/officeDocument/2006/relationships/notesSlide" Target="/ppt/notesSlides/notesSlide24.xml" Id="R5d83c61805f64b7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5c7a4a0814079" /><Relationship Type="http://schemas.openxmlformats.org/officeDocument/2006/relationships/image" Target="/ppt/media/image14.png" Id="Rc86a77332ac744b8" /><Relationship Type="http://schemas.openxmlformats.org/officeDocument/2006/relationships/notesSlide" Target="/ppt/notesSlides/notesSlide25.xml" Id="R27aca597b5c5485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ff9b234454532" /><Relationship Type="http://schemas.openxmlformats.org/officeDocument/2006/relationships/image" Target="/ppt/media/image15.png" Id="R3d32fc99fd6247d2" /><Relationship Type="http://schemas.openxmlformats.org/officeDocument/2006/relationships/notesSlide" Target="/ppt/notesSlides/notesSlide26.xml" Id="R0bec9795688745e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fbdca24814b6f" /><Relationship Type="http://schemas.openxmlformats.org/officeDocument/2006/relationships/notesSlide" Target="/ppt/notesSlides/notesSlide27.xml" Id="R03b6445c2b5d44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5b95da60f4c0d" /><Relationship Type="http://schemas.openxmlformats.org/officeDocument/2006/relationships/notesSlide" Target="/ppt/notesSlides/notesSlide28.xml" Id="Rd422c1d8eae545c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10884627c458a" /><Relationship Type="http://schemas.openxmlformats.org/officeDocument/2006/relationships/image" Target="/ppt/media/image16.png" Id="R741380d5ef8847e4" /><Relationship Type="http://schemas.openxmlformats.org/officeDocument/2006/relationships/notesSlide" Target="/ppt/notesSlides/notesSlide29.xml" Id="Re9ce5a9a785b47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abd7deb0c4159" /><Relationship Type="http://schemas.openxmlformats.org/officeDocument/2006/relationships/image" Target="/ppt/media/image17.png" Id="Re01dd5dbf2934646" /><Relationship Type="http://schemas.openxmlformats.org/officeDocument/2006/relationships/notesSlide" Target="/ppt/notesSlides/notesSlide30.xml" Id="R832ed4f00d5049e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41ac58f5e4c99" /><Relationship Type="http://schemas.openxmlformats.org/officeDocument/2006/relationships/image" Target="/ppt/media/image18.png" Id="R4aa7cd3aeed54310" /><Relationship Type="http://schemas.openxmlformats.org/officeDocument/2006/relationships/notesSlide" Target="/ppt/notesSlides/notesSlide31.xml" Id="Rff51a930f3b646c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4e446961a44c4" /><Relationship Type="http://schemas.openxmlformats.org/officeDocument/2006/relationships/notesSlide" Target="/ppt/notesSlides/notesSlide32.xml" Id="R7a891fefb28f40b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7a66cb8d943a3" /><Relationship Type="http://schemas.openxmlformats.org/officeDocument/2006/relationships/notesSlide" Target="/ppt/notesSlides/notesSlide33.xml" Id="R15acf804d4c44dc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e87d6548b4e88" /><Relationship Type="http://schemas.openxmlformats.org/officeDocument/2006/relationships/notesSlide" Target="/ppt/notesSlides/notesSlide34.xml" Id="R7d3b4b8780ab4b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8962d8b124274" /><Relationship Type="http://schemas.openxmlformats.org/officeDocument/2006/relationships/notesSlide" Target="/ppt/notesSlides/notesSlide35.xml" Id="R215bc3a132da467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7e5d82c0bd453f" /><Relationship Type="http://schemas.openxmlformats.org/officeDocument/2006/relationships/notesSlide" Target="/ppt/notesSlides/notesSlide36.xml" Id="R9f436d8425b84db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3aa4d96b04fba" /><Relationship Type="http://schemas.openxmlformats.org/officeDocument/2006/relationships/image" Target="/ppt/media/image19.png" Id="R2bc0a81298094c04" /><Relationship Type="http://schemas.openxmlformats.org/officeDocument/2006/relationships/notesSlide" Target="/ppt/notesSlides/notesSlide37.xml" Id="R6e7053bbeaa74f3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db0fdf5ff64a5a" /><Relationship Type="http://schemas.openxmlformats.org/officeDocument/2006/relationships/image" Target="/ppt/media/image20.png" Id="R5bc5454c56864ded" /><Relationship Type="http://schemas.openxmlformats.org/officeDocument/2006/relationships/notesSlide" Target="/ppt/notesSlides/notesSlide38.xml" Id="R98723f18533748f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d7ec114184de1" /><Relationship Type="http://schemas.openxmlformats.org/officeDocument/2006/relationships/notesSlide" Target="/ppt/notesSlides/notesSlide39.xml" Id="R337e36fcfd154f7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c44278d6b491c" /><Relationship Type="http://schemas.openxmlformats.org/officeDocument/2006/relationships/notesSlide" Target="/ppt/notesSlides/notesSlide40.xml" Id="R3936c695de98499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c84ecb2b24739" /><Relationship Type="http://schemas.openxmlformats.org/officeDocument/2006/relationships/notesSlide" Target="/ppt/notesSlides/notesSlide41.xml" Id="R42c41df7c9ee439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db2151b43489b" /><Relationship Type="http://schemas.openxmlformats.org/officeDocument/2006/relationships/notesSlide" Target="/ppt/notesSlides/notesSlide42.xml" Id="R0dfc65b5bd2f418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252d22a294f4a" /><Relationship Type="http://schemas.openxmlformats.org/officeDocument/2006/relationships/notesSlide" Target="/ppt/notesSlides/notesSlide43.xml" Id="R9f4bf10cec43414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fe2af75424259" /><Relationship Type="http://schemas.openxmlformats.org/officeDocument/2006/relationships/notesSlide" Target="/ppt/notesSlides/notesSlide44.xml" Id="R2c5c8d5b61ee435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627c3eb7f4192" /><Relationship Type="http://schemas.openxmlformats.org/officeDocument/2006/relationships/notesSlide" Target="/ppt/notesSlides/notesSlide45.xml" Id="R0f590a000d8f447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5a26a11df241db" /><Relationship Type="http://schemas.openxmlformats.org/officeDocument/2006/relationships/notesSlide" Target="/ppt/notesSlides/notesSlide46.xml" Id="R86da53dc88e6405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bd8ca886c4493" /><Relationship Type="http://schemas.openxmlformats.org/officeDocument/2006/relationships/notesSlide" Target="/ppt/notesSlides/notesSlide47.xml" Id="R83c55450f713468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66ac3b9524183" /><Relationship Type="http://schemas.openxmlformats.org/officeDocument/2006/relationships/notesSlide" Target="/ppt/notesSlides/notesSlide48.xml" Id="R05a66ba0b6e0436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796a4e49e4a5c" /><Relationship Type="http://schemas.openxmlformats.org/officeDocument/2006/relationships/notesSlide" Target="/ppt/notesSlides/notesSlide49.xml" Id="R6ade97dcd6664b3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d29d5fb384793" /><Relationship Type="http://schemas.openxmlformats.org/officeDocument/2006/relationships/notesSlide" Target="/ppt/notesSlides/notesSlide50.xml" Id="Rdacceb8e849d45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6639A-F99B-4B0B-B445-6BE2144C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76325"/>
            <a:ext cx="104775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Water storage change across Thailand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79B56-2573-4D75-9CD4-FF4EDA56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95575"/>
            <a:ext cx="10477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68C83"/>
                </a:solidFill>
                <a:latin typeface="Arial"/>
                <a:ea typeface="Arial"/>
                <a:cs typeface="Arial"/>
              </a:defRPr>
            </a:pPr>
            <a:r>
              <a:t>Climate reconstruction and the limits of human attribution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A2045-609E-4C5D-A2D4-F1D4FF77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1047750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Farzeen Khan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AEF57-9B8B-4991-8FED-A99CC41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57725"/>
            <a:ext cx="10477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MS in Water Engineering and Management</a:t>
            </a:r>
            <a:br/>
            <a:r>
              <a:t>Asian Institute of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83D7C-07EA-40E1-AAF9-08190201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95950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Advisor: Dr. Natthachet Tangdamrongsub</a:t>
            </a:r>
          </a:p>
        </p:txBody>
      </p:sp>
    </p:spTree>
    <p:extLst>
      <p:ext uri="{BB962C8B-B14F-4D97-AF65-F5344CB8AC3E}">
        <p14:creationId xmlns:p14="http://schemas.microsoft.com/office/powerpoint/2010/main" val="468982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1834B-1EC6-435D-9DE3-ECEFB9FE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C9E26-C48B-40CF-8850-4CA199F7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Research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EF826-D7BB-45A3-AE6F-7DBAF4B2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69668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D956-F258-4476-B041-4EC62169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How are total and groundwater storage changing across Thailand’s 22 principal basins?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FF132-BD5E-4075-8537-EAEB6198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How much of the observed change can the climate baseline explain?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EC7A5-79B6-4BE6-8B92-B6309F7F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How strongly do independent observations support the remaining residual?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3F7B5-C464-4CF6-A5C1-4AF8C4E8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Introduction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0A38F-0472-4919-8D06-4D5C4FC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 / 35</a:t>
            </a:r>
          </a:p>
        </p:txBody>
      </p:sp>
    </p:spTree>
    <p:extLst>
      <p:ext uri="{BB962C8B-B14F-4D97-AF65-F5344CB8AC3E}">
        <p14:creationId xmlns:p14="http://schemas.microsoft.com/office/powerpoint/2010/main" val="1730612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3AB6A-1DAB-49CB-9ABD-7A93D6B2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9590C-4741-4004-B58F-C29A2740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Research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92378-AECE-4A15-BD6E-71F586D0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0450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B9817-0F69-473C-9850-8E3488BB3D52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972425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Objective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  Storage change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Monthly TWSA/GWSA, Sen slopes and Mann–Kendall tests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  Climate and residual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Climate reconstruction, GLDAS benchmark and observation checks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  Decision support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Interactive basin app, input data and reproducible code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FAA22-B61D-47DD-8167-493960F2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33170-D836-442E-BB45-3A4EED2C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3 / 35</a:t>
            </a:r>
          </a:p>
        </p:txBody>
      </p:sp>
    </p:spTree>
    <p:extLst>
      <p:ext uri="{BB962C8B-B14F-4D97-AF65-F5344CB8AC3E}">
        <p14:creationId xmlns:p14="http://schemas.microsoft.com/office/powerpoint/2010/main" val="24114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8822E-88CA-4326-9AC5-7911C25C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DBBA5-43CC-489B-806A-E6F87C4B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Thailand’s 22 principal basins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940B-F4A7-4C8E-AFBB-853EB1D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3933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012AC-FD70-4260-A744-ADC7C2BF9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7995d10a449f9"/>
          <a:stretch xmlns:a="http://schemas.openxmlformats.org/drawingml/2006/main"/>
        </p:blipFill>
        <p:spPr>
          <a:xfrm xmlns:a="http://schemas.openxmlformats.org/drawingml/2006/main">
            <a:off x="1556848" y="1323975"/>
            <a:ext cx="2944205" cy="4457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77057-E087-41C8-B364-8FDB20E6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52625"/>
            <a:ext cx="533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Official ONWR reporting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C35E2-8561-4C36-B981-A9879CA6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24200"/>
            <a:ext cx="533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GRACE information extends across basin boundaries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07ECF-970D-474F-8A85-16D10DC0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95775"/>
            <a:ext cx="533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All basin tables retain coverage and 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689B5-828D-451C-9F7E-4BFCBA9A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ONWR principal-basin geometry. Reporting units do not imply independent GRACE observations.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F5F7F-683C-4BBD-8A23-00BC4F6D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Study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F222D-E45F-40D7-8857-16662227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4 / 35</a:t>
            </a:r>
          </a:p>
        </p:txBody>
      </p:sp>
    </p:spTree>
    <p:extLst>
      <p:ext uri="{BB962C8B-B14F-4D97-AF65-F5344CB8AC3E}">
        <p14:creationId xmlns:p14="http://schemas.microsoft.com/office/powerpoint/2010/main" val="674826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BE5CA-9CF9-4A0D-AB5A-0CDD0FC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2FD52-9C5A-4BAE-B93A-3B2F38D7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Data and scientific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014FE-BC78-4381-9B13-08CE07BF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7417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41B20-3654-4342-8C64-74699C100D1A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972425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Record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CSR RL06.3 GRACE/GRACE-FO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Observed total storage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GLDAS Noah and G3P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Non-groundwater storage compartments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Paired WaterGAP simulations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Naturalized and historical-human baselines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Native P/PET and CHIRPS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Weather reconstruction and rainfall sensitivity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Thai wells and MSEA-Res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Groundwater and reservoir consistency evidence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05EEB-158C-4613-8E95-1B8C1BDF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Primary TWSA: April 2002–September 2024. Derived GWSA: April 2002–September 2023.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32AAC-C5F9-41DD-9422-F88C4843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Study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04B80-69F7-4F56-88FD-74619288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5 / 35</a:t>
            </a:r>
          </a:p>
        </p:txBody>
      </p:sp>
    </p:spTree>
    <p:extLst>
      <p:ext uri="{BB962C8B-B14F-4D97-AF65-F5344CB8AC3E}">
        <p14:creationId xmlns:p14="http://schemas.microsoft.com/office/powerpoint/2010/main" val="1771365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AAE2B-80F1-445C-A401-EEFA5864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A89F8-9CEB-4EA1-ABDC-F823D0C7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Analysis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B9061-7D16-4857-B1DC-0FE9401B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209005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51FF0-3B6B-4EFF-A69E-7E63A50F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Harmonize monthly units, dates, area weights and the 2004–2009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2C58B-944B-4F2C-8DB2-0D9884D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Calculate GWSA and estimate storage trends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64303-9144-438C-9510-074C7EC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Reconstruct naturalized storage using weather and climate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EE913-A825-41E7-AED4-A94CDD3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Calculate the residual, examine uncertainty and compare independent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7C60A-4DFD-4A51-AEA0-6C8C733E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FF258-9609-43B1-A30C-085BF6DA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6 / 35</a:t>
            </a:r>
          </a:p>
        </p:txBody>
      </p:sp>
    </p:spTree>
    <p:extLst>
      <p:ext uri="{BB962C8B-B14F-4D97-AF65-F5344CB8AC3E}">
        <p14:creationId xmlns:p14="http://schemas.microsoft.com/office/powerpoint/2010/main" val="121873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84519-90C3-4367-A9C5-04AF436D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B456A-A1F6-4314-9553-3FFB556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Groundwater storage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9E42F-88DF-4024-BB1A-ED80DFA5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243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B554D-EDF2-4F2A-AD6C-F1577725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pPr>
            <a:r>
              <a:t>GWSA = TWSA − SMSA − SWSA − CWSA − SWEA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9CB02-B5E7-42D1-961B-270FEE1A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Subtract soil, surface, canopy and snow storage anomalies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67982-DB41-482E-A990-38E64971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Use common valid cells and a common reference period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8585A-4DD0-4B33-9067-8B6C0C2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Groundwater uncertainty includes every subtracted compartment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7D368-3A2E-43A2-955C-49A14DD3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Storage anomalies use mm of equivalent water depth. Snow is small in Thailand but retained consistently.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B3734-5134-47ED-8CC2-90B2789A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F41B8-E374-4CFC-8520-6E94637B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7 / 35</a:t>
            </a:r>
          </a:p>
        </p:txBody>
      </p:sp>
    </p:spTree>
    <p:extLst>
      <p:ext uri="{BB962C8B-B14F-4D97-AF65-F5344CB8AC3E}">
        <p14:creationId xmlns:p14="http://schemas.microsoft.com/office/powerpoint/2010/main" val="1322204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49EB0-450F-43C1-A2F5-BFBD0A66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BA81F-2FD2-4D63-B79E-70FA9BC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Naturalized and historical simulations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31E7E-9EAC-4834-991F-1F34DF4A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278674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AC89B-80BA-427F-9498-97C33A813D8C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972425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Symbol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Observed or compartment-derived storage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Naturalized WaterGAP baseline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Historical WaterGAP with represented human activities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D828A-DC13-4FB4-A08E-CF770020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Paired simulations share model structure and forcing. The naturalized baseline remains a model experiment.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92BB0-463D-4B38-8707-19B6F47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0D968-8B8C-4A41-BBD7-F691A56F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8 / 35</a:t>
            </a:r>
          </a:p>
        </p:txBody>
      </p:sp>
    </p:spTree>
    <p:extLst>
      <p:ext uri="{BB962C8B-B14F-4D97-AF65-F5344CB8AC3E}">
        <p14:creationId xmlns:p14="http://schemas.microsoft.com/office/powerpoint/2010/main" val="748835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6BBB0-910F-4C95-BE95-B4B37FE7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0ADEA-9BEE-42E1-AE93-05598199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Residual accounting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A0C86-1BFA-4004-878F-5416D8DE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313508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35EC0-0808-4EB1-8C36-41B8B0F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1163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368C83"/>
                </a:solidFill>
                <a:latin typeface="Arial"/>
                <a:ea typeface="Arial"/>
                <a:cs typeface="Arial"/>
              </a:defRPr>
            </a:pPr>
            <a:r>
              <a:t>R = O − C = (A − C) + (O − A) = H +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D63AF-3E71-4167-8207-FD53C5B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H describes the human effect represented by the paired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1168B-4F50-41D3-8DB6-AC4242CB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E retains the observation–historical-model discrepancy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44D30-5F25-4855-9780-CAB821B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The primary residual uses the published naturalized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D09F3-907D-444F-8C3B-0AB44E8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The statistical emulator reconstructs C from weather. Its prediction does not replace C in the primary residual.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18D7E-1FE7-4779-8EF8-07E8B9D8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49CC2-D03E-45E4-85A9-D644AA1C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9 / 35</a:t>
            </a:r>
          </a:p>
        </p:txBody>
      </p:sp>
    </p:spTree>
    <p:extLst>
      <p:ext uri="{BB962C8B-B14F-4D97-AF65-F5344CB8AC3E}">
        <p14:creationId xmlns:p14="http://schemas.microsoft.com/office/powerpoint/2010/main" val="845331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FA612-FA06-4A86-9D40-4DDD348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5509B-61C4-46F8-A43C-2BB7352E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Chronological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796A1-0771-4941-B676-53A6D0C0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34834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EDB61-A1F9-45E5-AA7E-A086EABA87A4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143250"/>
                <a:gridCol w="4114800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Use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Warm-up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1981–1990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Initialize climate memory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1991–2009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Fit transformations and tune models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2010–2015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Freeze model selection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2016–2023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Evaluate unseen 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EC31B-4D00-4DD1-82F0-404431C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Ridge, Elastic Net, splines and Random Forest. Predictors exclude GRACE and groundwater observations.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4537C-A1BE-4C35-BD89-244E60D7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Methodology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13E67-A723-425D-B4E5-E2739AA9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10 / 35</a:t>
            </a:r>
          </a:p>
        </p:txBody>
      </p:sp>
    </p:spTree>
    <p:extLst>
      <p:ext uri="{BB962C8B-B14F-4D97-AF65-F5344CB8AC3E}">
        <p14:creationId xmlns:p14="http://schemas.microsoft.com/office/powerpoint/2010/main" val="1882601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9ABD8-60E1-4202-9141-2EC6953C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44BDF-F565-420E-BA52-A8FFF8A4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Precipitation and potential 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24434-62A0-4B8D-8F4F-952444B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38317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78C84-C268-4697-9DC9-6E49C7CBC4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6ee6e827849dd"/>
          <a:stretch xmlns:a="http://schemas.openxmlformats.org/drawingml/2006/main"/>
        </p:blipFill>
        <p:spPr>
          <a:xfrm xmlns:a="http://schemas.openxmlformats.org/drawingml/2006/main">
            <a:off x="1386433" y="1285875"/>
            <a:ext cx="941913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BA728-B3CF-469B-9A6F-E3FDA03F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National monthly values, 2003–2023. Native P/PET drive reconstruction. CHIRPS supplies the rainfall replacement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56B18-6CFF-46A8-AB1E-6E51777F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Climate forcing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99DD1-5684-4D4D-9533-7E2E62BA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11 / 35</a:t>
            </a:r>
          </a:p>
        </p:txBody>
      </p:sp>
    </p:spTree>
    <p:extLst>
      <p:ext uri="{BB962C8B-B14F-4D97-AF65-F5344CB8AC3E}">
        <p14:creationId xmlns:p14="http://schemas.microsoft.com/office/powerpoint/2010/main" val="17730217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8FFA4-EC69-4463-A303-BA37C69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C7D71-1ED2-4D03-B94A-632B513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Spatial distribution of the meteorological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D4DD4-3E0B-4A90-9758-9265AA03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41801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597FC-AA9B-4A4C-A1FC-271DA809D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72c60c9d4426a"/>
          <a:stretch xmlns:a="http://schemas.openxmlformats.org/drawingml/2006/main"/>
        </p:blipFill>
        <p:spPr>
          <a:xfrm xmlns:a="http://schemas.openxmlformats.org/drawingml/2006/main">
            <a:off x="631343" y="1285875"/>
            <a:ext cx="1092931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08873-67DB-4CAA-8F43-32822964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Available-month basin means, 2003–2023. Values are mm/month, not annual totals. Each map uses its labelled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C1337-4014-4923-915F-F1D3316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Climate forcing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362A-0F5D-4B76-B13E-0F63951B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12 / 35</a:t>
            </a:r>
          </a:p>
        </p:txBody>
      </p:sp>
    </p:spTree>
    <p:extLst>
      <p:ext uri="{BB962C8B-B14F-4D97-AF65-F5344CB8AC3E}">
        <p14:creationId xmlns:p14="http://schemas.microsoft.com/office/powerpoint/2010/main" val="2127010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DE6DE-AB6A-4286-886C-4A472FE2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BAB6-3706-402D-BA6D-ADEA332A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Observed storage through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B8B48-4622-4D20-A15F-5EE1E929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452845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76F01-61DD-46A5-9FE3-F3D47CB51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9f9f607c44346"/>
          <a:stretch xmlns:a="http://schemas.openxmlformats.org/drawingml/2006/main"/>
        </p:blipFill>
        <p:spPr>
          <a:xfrm xmlns:a="http://schemas.openxmlformats.org/drawingml/2006/main">
            <a:off x="1920730" y="1285875"/>
            <a:ext cx="835054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CE567-D940-4362-ADAE-0A87085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National CSR TWSA and compartment-derived GWSA. Missing months remain gaps. Groundwater ends earlier because of compartment availability.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49D21-D1F6-4514-BFB1-DC3DBDF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236E6-1E89-4637-AAED-8E65154A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13 / 35</a:t>
            </a:r>
          </a:p>
        </p:txBody>
      </p:sp>
    </p:spTree>
    <p:extLst>
      <p:ext uri="{BB962C8B-B14F-4D97-AF65-F5344CB8AC3E}">
        <p14:creationId xmlns:p14="http://schemas.microsoft.com/office/powerpoint/2010/main" val="2874281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CEAAF-B169-44C6-9A81-5DA3B295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A0866-D36A-4FE1-A81F-D3027678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National storage decline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1B5FF-0139-42C5-A1CA-A9D4BA57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487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48553-87A7-45C0-A773-3A3D15D13D25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143250"/>
                <a:gridCol w="4114800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Sen slope (mm/year)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Conditional 95% interval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Total storage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−7.51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−9.79 to −5.68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Groundwater storage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−6.84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−8.77 to −5.11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515E1-3D8F-41E7-BDDC-7A94E6D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237 TWSA months through September 2024; 225 GWSA months through September 2023. Full-record seasonal Sen slopes.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46892-B1CD-4797-BCF7-47AD2AF8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BF1FA-16FD-494B-90F5-5BDAEB5F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14 / 35</a:t>
            </a:r>
          </a:p>
        </p:txBody>
      </p:sp>
    </p:spTree>
    <p:extLst>
      <p:ext uri="{BB962C8B-B14F-4D97-AF65-F5344CB8AC3E}">
        <p14:creationId xmlns:p14="http://schemas.microsoft.com/office/powerpoint/2010/main" val="17668434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43D27-FF49-41FE-8941-A5C1EFC4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A0DA1-5513-4A4D-B1A2-4E637BAA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Storage trend patterns across basins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79C9A-5C37-4CFA-9661-916FF716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522514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6F592-E129-4496-B898-88BC8FFF2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b3d3802f548c9"/>
          <a:stretch xmlns:a="http://schemas.openxmlformats.org/drawingml/2006/main"/>
        </p:blipFill>
        <p:spPr>
          <a:xfrm xmlns:a="http://schemas.openxmlformats.org/drawingml/2006/main">
            <a:off x="2526231" y="1285875"/>
            <a:ext cx="7139539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55242-6931-4CB8-94A7-624D761A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Seasonal Sen slopes. Negative values indicate decline. All basins retain the CSR small-area caution.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3A60F-827E-4C33-9225-C774B735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7EF58-BA6D-4225-90DD-1234C1D4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15 / 35</a:t>
            </a:r>
          </a:p>
        </p:txBody>
      </p:sp>
    </p:spTree>
    <p:extLst>
      <p:ext uri="{BB962C8B-B14F-4D97-AF65-F5344CB8AC3E}">
        <p14:creationId xmlns:p14="http://schemas.microsoft.com/office/powerpoint/2010/main" val="1053692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51ECF-6A95-479C-9FC6-0AB6294E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08632-2460-4732-8591-4524CEE8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Statistical evidence for basin trends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4B56B-84C1-4F62-ADD2-66820CA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557348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536E7-E56C-4B51-8B17-6BB48491F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e47d62d4a40df"/>
          <a:stretch xmlns:a="http://schemas.openxmlformats.org/drawingml/2006/main"/>
        </p:blipFill>
        <p:spPr>
          <a:xfrm xmlns:a="http://schemas.openxmlformats.org/drawingml/2006/main">
            <a:off x="2516768" y="1285875"/>
            <a:ext cx="715846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B3D97-6F76-49A7-8905-92793A05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Seasonal Mann–Kendall with basin FDR. Colours saturate at q = 0.10. This test does not remove serial dependence or product uncertainty.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A3FB0-38CE-448C-B99A-E575F22A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186BD-EFB6-44AF-99E4-24885DA4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16 / 35</a:t>
            </a:r>
          </a:p>
        </p:txBody>
      </p:sp>
    </p:spTree>
    <p:extLst>
      <p:ext uri="{BB962C8B-B14F-4D97-AF65-F5344CB8AC3E}">
        <p14:creationId xmlns:p14="http://schemas.microsoft.com/office/powerpoint/2010/main" val="18419088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B6B81-2E3F-4507-A39C-8AFE01E9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9817E-3FF5-475F-860E-3DFD5D0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Basin ranking depends on the processing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31A7E-97EF-4CC0-92B7-B6686F5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59218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77225-FDFC-4088-B48C-516A531F2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0848bda5c4ecf"/>
          <a:stretch xmlns:a="http://schemas.openxmlformats.org/drawingml/2006/main"/>
        </p:blipFill>
        <p:spPr>
          <a:xfrm xmlns:a="http://schemas.openxmlformats.org/drawingml/2006/main">
            <a:off x="1480803" y="1285875"/>
            <a:ext cx="923039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D356D-202A-439B-9AE0-60DAAF8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Common-date rank correlations: TWSA 0.138 and GWSA 0.027. Groundwater chains also differ in compartment processing.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D2605-3363-4F3E-B2C8-3FF45CFD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8A308-05A7-4764-94AF-644F496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17 / 35</a:t>
            </a:r>
          </a:p>
        </p:txBody>
      </p:sp>
    </p:spTree>
    <p:extLst>
      <p:ext uri="{BB962C8B-B14F-4D97-AF65-F5344CB8AC3E}">
        <p14:creationId xmlns:p14="http://schemas.microsoft.com/office/powerpoint/2010/main" val="12546913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86EBD-D315-4E93-9F36-BB5EDA75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036FA-022E-4A1B-98A4-5D35DA6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Climate reconstruction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5D5F-CC94-4CA2-A4E7-B9347A6D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62701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28FA3-10E0-41A1-A3A3-101F86123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847ac30da4e2b"/>
          <a:stretch xmlns:a="http://schemas.openxmlformats.org/drawingml/2006/main"/>
        </p:blipFill>
        <p:spPr>
          <a:xfrm xmlns:a="http://schemas.openxmlformats.org/drawingml/2006/main">
            <a:off x="2566447" y="1285875"/>
            <a:ext cx="7059106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FA6AD-3C89-4BD2-801D-CBA4336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Ensemble test anomaly NSE against naturalized WaterGAP, 2016–2023. High scores verify reconstruction of the parent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809E1-A744-4F20-B9E3-6EFEC453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BA5A0-8BF8-459C-80A0-E9E2DE0B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18 / 35</a:t>
            </a:r>
          </a:p>
        </p:txBody>
      </p:sp>
    </p:spTree>
    <p:extLst>
      <p:ext uri="{BB962C8B-B14F-4D97-AF65-F5344CB8AC3E}">
        <p14:creationId xmlns:p14="http://schemas.microsoft.com/office/powerpoint/2010/main" val="17689760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6D524-0337-4C13-AEFE-63C4CA0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15F28-9C9E-471E-8D5F-AB256A46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Naturalized storage and weather reconstruction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59C13-9971-494A-B2A0-5E6A7E07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66185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3F34-F26B-4879-91EC-28DCC2B7B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c91ab259b4625"/>
          <a:stretch xmlns:a="http://schemas.openxmlformats.org/drawingml/2006/main"/>
        </p:blipFill>
        <p:spPr>
          <a:xfrm xmlns:a="http://schemas.openxmlformats.org/drawingml/2006/main">
            <a:off x="1926677" y="1285875"/>
            <a:ext cx="8338645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70393-6F10-4BEC-81A1-A7F0733B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National series. Training: 1991–2009; validation: 2010–2015; test: 2016–2023. Parent-model agreement is distinct from observational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43493-6E56-4CA1-AA5B-5958E87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CFFDD-2660-4350-8B01-A5BED562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19 / 35</a:t>
            </a:r>
          </a:p>
        </p:txBody>
      </p:sp>
    </p:spTree>
    <p:extLst>
      <p:ext uri="{BB962C8B-B14F-4D97-AF65-F5344CB8AC3E}">
        <p14:creationId xmlns:p14="http://schemas.microsoft.com/office/powerpoint/2010/main" val="10993412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4A2D8-3578-43C8-9FA7-D6435752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3B1EA-A9D1-43AA-8B6D-CCF3E19D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Climate memory improves reconstruction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F0883-A904-44FD-AE43-41BBE314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696685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252FB-3B94-4FD0-A83A-F502039B7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6965938764a56"/>
          <a:stretch xmlns:a="http://schemas.openxmlformats.org/drawingml/2006/main"/>
        </p:blipFill>
        <p:spPr>
          <a:xfrm xmlns:a="http://schemas.openxmlformats.org/drawingml/2006/main">
            <a:off x="1152793" y="1285875"/>
            <a:ext cx="988641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FE698-D839-4DDB-95A3-5DC0D9D2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Controlled Ridge experiment. National test anomaly NSE: current weather / memory = 0.283 / 0.890 for TWSA and 0.039 / 0.723 for GWSA.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F2315-F31A-46A0-BE85-A072EC48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8DCCC-5FFC-45B0-B196-B6FF7CF2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20 / 35</a:t>
            </a:r>
          </a:p>
        </p:txBody>
      </p:sp>
    </p:spTree>
    <p:extLst>
      <p:ext uri="{BB962C8B-B14F-4D97-AF65-F5344CB8AC3E}">
        <p14:creationId xmlns:p14="http://schemas.microsoft.com/office/powerpoint/2010/main" val="18547045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549CF-23FA-4AE7-B810-F17DF946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6348E-9189-4547-AA19-98353F4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Performance varies between test years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C3932-DD01-4492-8025-A7177F7C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731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EE17E-2EBD-4E4D-9DCF-BAFFC016D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db9e0ed7e4eab"/>
          <a:stretch xmlns:a="http://schemas.openxmlformats.org/drawingml/2006/main"/>
        </p:blipFill>
        <p:spPr>
          <a:xfrm xmlns:a="http://schemas.openxmlformats.org/drawingml/2006/main">
            <a:off x="571096" y="1285875"/>
            <a:ext cx="11049807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80FE6-7376-4999-8935-41A9FF21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2022 national anomaly NSE: TWSA 0.234; GWSA −1.067. Negative NSE indicates performance below the mean benchmark.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B882E-4912-4385-828A-78B3366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54E78-C55D-4C28-9CAA-12AF934D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21 / 35</a:t>
            </a:r>
          </a:p>
        </p:txBody>
      </p:sp>
    </p:spTree>
    <p:extLst>
      <p:ext uri="{BB962C8B-B14F-4D97-AF65-F5344CB8AC3E}">
        <p14:creationId xmlns:p14="http://schemas.microsoft.com/office/powerpoint/2010/main" val="8141765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35D99-1F29-4FC5-B113-6E076FD2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692EF-9585-4BE5-B6F7-69C8CF6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Residual and modeled human effects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AF754-86AB-432D-B5A7-ECF24F9B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766354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03E7D-97B1-4706-B37D-30FDAC860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7981db18f40fd"/>
          <a:stretch xmlns:a="http://schemas.openxmlformats.org/drawingml/2006/main"/>
        </p:blipFill>
        <p:spPr>
          <a:xfrm xmlns:a="http://schemas.openxmlformats.org/drawingml/2006/main">
            <a:off x="1920730" y="1285875"/>
            <a:ext cx="835054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EF2AA-DE85-459E-B9FF-385877D4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R = H + E on common observed months. The remaining discrepancy includes unresolved model and observation errors.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66CA3-A998-42D0-ACB0-42BA3791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58D12-5E93-4401-8605-E605846C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22 / 35</a:t>
            </a:r>
          </a:p>
        </p:txBody>
      </p:sp>
    </p:spTree>
    <p:extLst>
      <p:ext uri="{BB962C8B-B14F-4D97-AF65-F5344CB8AC3E}">
        <p14:creationId xmlns:p14="http://schemas.microsoft.com/office/powerpoint/2010/main" val="21125561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E20FC-324F-4072-9B5C-589D8E97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DBA92-4A10-471A-95CA-479227AD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Spatial residual trends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B8130-7F1B-4115-B055-BFDF8671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801188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0BB34-64DA-42C7-B79A-E6C0907EAE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89000f2a24892"/>
          <a:stretch xmlns:a="http://schemas.openxmlformats.org/drawingml/2006/main"/>
        </p:blipFill>
        <p:spPr>
          <a:xfrm xmlns:a="http://schemas.openxmlformats.org/drawingml/2006/main">
            <a:off x="2526231" y="1285875"/>
            <a:ext cx="7139539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24E9F-0611-45FE-9C90-506C9E1F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Calendar-month fixed-effect OLS slopes on matched support. These slopes describe residual change and do not measure pumping.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903E8-A25B-44F4-AAEC-51057DAA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20B11-69E4-4EB8-8020-A931A531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23 / 35</a:t>
            </a:r>
          </a:p>
        </p:txBody>
      </p:sp>
    </p:spTree>
    <p:extLst>
      <p:ext uri="{BB962C8B-B14F-4D97-AF65-F5344CB8AC3E}">
        <p14:creationId xmlns:p14="http://schemas.microsoft.com/office/powerpoint/2010/main" val="14880642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EB2AF-B43C-4785-84E9-D074543E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0306C-4516-4480-A946-B3D60055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Additive national trend partition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6894F-B2F8-4AC7-A0E3-2425F6E1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83602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0B15C-2D4B-49E1-B6F2-04B57214B55D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143250"/>
                <a:gridCol w="4114800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Observed 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-8.36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-7.28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Naturalized C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-0.54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-0.21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Modeled human H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-0.49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Residual R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-7.81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Discrepancy 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-7.13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6B5C9-6CEA-41FA-9614-D0B9B375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OLS slopes, mm/year, using the same months. R = H + E. Seasonal Sen slopes are reported separately because their medians are not additive.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38F37-1F9C-4039-83E5-23D900A8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42440-B4C9-4A90-B195-67E535FD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24 / 35</a:t>
            </a:r>
          </a:p>
        </p:txBody>
      </p:sp>
    </p:spTree>
    <p:extLst>
      <p:ext uri="{BB962C8B-B14F-4D97-AF65-F5344CB8AC3E}">
        <p14:creationId xmlns:p14="http://schemas.microsoft.com/office/powerpoint/2010/main" val="16825816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BDEB0-1B88-4278-BC3A-85B83685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90E66-538C-411F-9891-D9B3699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GLDAS comparison on matching compartments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EE58B-6846-47A6-AB9D-94D7EB7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87085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BC434-44BA-4FFB-B563-84EB4594D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a77332ac744b8"/>
          <a:stretch xmlns:a="http://schemas.openxmlformats.org/drawingml/2006/main"/>
        </p:blipFill>
        <p:spPr>
          <a:xfrm xmlns:a="http://schemas.openxmlformats.org/drawingml/2006/main">
            <a:off x="514350" y="1311325"/>
            <a:ext cx="11163300" cy="4282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8BBA1-AD5E-4D81-84AA-263D3A1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Soil + canopy + snow only. National r = 0.969, NSE = 0.738, RMSE = 52.49 mm across 261 months. Groundwater and surface water are excluded.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3178E-B90E-4FE2-888C-7BDA2F89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CBA13-CA8E-4A30-A403-6AC9040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25 / 35</a:t>
            </a:r>
          </a:p>
        </p:txBody>
      </p:sp>
    </p:spTree>
    <p:extLst>
      <p:ext uri="{BB962C8B-B14F-4D97-AF65-F5344CB8AC3E}">
        <p14:creationId xmlns:p14="http://schemas.microsoft.com/office/powerpoint/2010/main" val="3922356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A0E6D-80E0-4BD3-9518-2EE6300F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C3A80-82A0-4BC6-9F91-E03676E3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GLDAS agreement varies among basins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CB31A-2278-4A1E-A6EE-B401950B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90569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1AC72-AF41-4E7F-AC87-A52B21790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2fc99fd6247d2"/>
          <a:stretch xmlns:a="http://schemas.openxmlformats.org/drawingml/2006/main"/>
        </p:blipFill>
        <p:spPr>
          <a:xfrm xmlns:a="http://schemas.openxmlformats.org/drawingml/2006/main">
            <a:off x="2604297" y="1285875"/>
            <a:ext cx="6983406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FCA11-06EF-4CA3-BD08-251B9B40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Matched land-storage benchmark. NSE colours saturate below −1 and RMSE above 100 mm. GLDAS also contributes to the groundwater subtraction.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77982-2990-4F88-8ECF-702FDA8C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87857-0B8A-4CA0-BA8E-208457DE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26 / 35</a:t>
            </a:r>
          </a:p>
        </p:txBody>
      </p:sp>
    </p:spTree>
    <p:extLst>
      <p:ext uri="{BB962C8B-B14F-4D97-AF65-F5344CB8AC3E}">
        <p14:creationId xmlns:p14="http://schemas.microsoft.com/office/powerpoint/2010/main" val="9968439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339EC-C1A9-459B-8401-D359D822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99F67-C403-4C00-B5C7-A6A51B6A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Groundwater level and storage use different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ECDBD-5019-41A6-A87B-B96FD8A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940525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20B8C-D514-481B-A5D3-DD0378E94CD4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972425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What the comparison establishes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Groundwater head or depth (m)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Local aquifer response and direction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Regional storage anomaly (mm)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Water-mass change over a basin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Paired annual correlation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Agreement in timing on observed 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E0DA4-FB3E-4C8C-A7FD-203FFD54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A head-to-storage conversion requires aquifer storage coefficients and representative areas. Those inputs are unavailable here.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C595C-F540-4CC0-BBCA-E5A55C25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3A7A4-FF30-47B7-8D5A-B13760A1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27 / 35</a:t>
            </a:r>
          </a:p>
        </p:txBody>
      </p:sp>
    </p:spTree>
    <p:extLst>
      <p:ext uri="{BB962C8B-B14F-4D97-AF65-F5344CB8AC3E}">
        <p14:creationId xmlns:p14="http://schemas.microsoft.com/office/powerpoint/2010/main" val="16567960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1788C-98F5-4F00-B975-68F0E629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030D6-39FF-46EC-999C-9204CAD0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Well selection changes residual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BF09-9AB2-4298-B562-DD39189B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975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A314A-85B2-43CB-A0A9-00EE091F7622}"/>
              </a:ext>
            </a:extLst>
          </p:cNvPr>
          <p:cNvGraphicFramePr/>
          <p:nvPr/>
        </p:nvGraphicFramePr>
        <p:xfrm>
          <a:off xmlns:a="http://schemas.openxmlformats.org/drawingml/2006/main" x="514350" y="1571625"/>
          <a:ext xmlns:a="http://schemas.openxmlformats.org/drawingml/2006/main" cx="111633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809750"/>
                <a:gridCol w="1809750"/>
                <a:gridCol w="21145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Station panel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Longest overlap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0.127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Fixed eligibility / wider history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0.657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0.511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Common period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0.029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Strictly balanced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0.305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≈0.000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BB739-E070-4EA0-BF66-680CF739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511 wells provide 5,484 aggregates. Co-located wells are grouped. The common-period panels cover eight usable storage years within 2013–2022.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E8072-877A-4EBC-8916-1E3B3FB4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7DC17-D71E-43CC-8BD9-DA1E2A73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28 / 35</a:t>
            </a:r>
          </a:p>
        </p:txBody>
      </p:sp>
    </p:spTree>
    <p:extLst>
      <p:ext uri="{BB962C8B-B14F-4D97-AF65-F5344CB8AC3E}">
        <p14:creationId xmlns:p14="http://schemas.microsoft.com/office/powerpoint/2010/main" val="14277703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E7976-5D42-4774-B880-A58D52C7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CE238-A233-48AD-B299-0BF0765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Spatial groundwater consistency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CF448-61C9-4972-8596-E809AAA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010194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EC6DD-9900-4D5B-A872-8C2AFA0B8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380d5ef8847e4"/>
          <a:stretch xmlns:a="http://schemas.openxmlformats.org/drawingml/2006/main"/>
        </p:blipFill>
        <p:spPr>
          <a:xfrm xmlns:a="http://schemas.openxmlformats.org/drawingml/2006/main">
            <a:off x="2502574" y="1285875"/>
            <a:ext cx="7186852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B84EA-7FF5-4C46-80EF-CDFC59A7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Residual–head correlations on available annual pairs. Grey hatching marks insufficient evidence. These comparisons cannot validate a human-only total.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5CA61-F237-4F16-A122-1F8DDE70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80B1D-733C-4CED-817E-F5D3536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29 / 35</a:t>
            </a:r>
          </a:p>
        </p:txBody>
      </p:sp>
    </p:spTree>
    <p:extLst>
      <p:ext uri="{BB962C8B-B14F-4D97-AF65-F5344CB8AC3E}">
        <p14:creationId xmlns:p14="http://schemas.microsoft.com/office/powerpoint/2010/main" val="27012462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3EDA6-0E60-46F2-B20F-B90A481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E11ED-C417-4F0D-B7F4-EE3CEBD9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Independent reservoir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27913-4860-4928-9423-4F11A4F7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045028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A923-6AB0-4C49-97A9-B7E5E0D77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dd5dbf2934646"/>
          <a:stretch xmlns:a="http://schemas.openxmlformats.org/drawingml/2006/main"/>
        </p:blipFill>
        <p:spPr>
          <a:xfrm xmlns:a="http://schemas.openxmlformats.org/drawingml/2006/main">
            <a:off x="514350" y="1297049"/>
            <a:ext cx="11163300" cy="43115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083C7-766D-4E42-BCC6-329CA6E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26-reservoir fixed panel, 73 scene-supported months. Adjusted r = 0.439, year-cluster 95% interval 0.188–0.665. Both curves remove season and linear trend.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1B09B-47DC-47CB-9028-8DB07055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C7A85-BC62-405D-9BE8-F14273F2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30 / 35</a:t>
            </a:r>
          </a:p>
        </p:txBody>
      </p:sp>
    </p:spTree>
    <p:extLst>
      <p:ext uri="{BB962C8B-B14F-4D97-AF65-F5344CB8AC3E}">
        <p14:creationId xmlns:p14="http://schemas.microsoft.com/office/powerpoint/2010/main" val="16060140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2E072-72D7-448C-AFB7-366FC36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ECA3F-BF02-40C5-B8A9-6B66A830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Reservoir agreement and observation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F7A36-ACF2-4BE8-A3EA-F20E1713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079862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BAD62-84EE-4F5E-B2C8-0A22428D3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7cd3aeed54310"/>
          <a:stretch xmlns:a="http://schemas.openxmlformats.org/drawingml/2006/main"/>
        </p:blipFill>
        <p:spPr>
          <a:xfrm xmlns:a="http://schemas.openxmlformats.org/drawingml/2006/main">
            <a:off x="2521499" y="1285875"/>
            <a:ext cx="7149001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15B90-3055-4C2B-BC97-DE37B47D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Scene-screened MSEA-Res Level 1. Reservoir storage checks a surface-water component. Climate and operating decisions both affect reservoirs.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07B47-28CC-4820-B822-CED036F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85598-C3DB-4FF5-99EC-7AE96493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31 / 35</a:t>
            </a:r>
          </a:p>
        </p:txBody>
      </p:sp>
    </p:spTree>
    <p:extLst>
      <p:ext uri="{BB962C8B-B14F-4D97-AF65-F5344CB8AC3E}">
        <p14:creationId xmlns:p14="http://schemas.microsoft.com/office/powerpoint/2010/main" val="4061180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87FD3-57F6-4CC1-AD8C-1500523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A349D-3F66-4349-8AF0-2211682B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Sensitivity to the rainfall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1E484-EA74-4A4B-9D58-490B8E2D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11469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20C93-9014-4B9C-8ED8-BCBD47EE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66825"/>
            <a:ext cx="11163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Test anomaly NSE in the frozen Ridge memory experiment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BBC72-8979-4D95-9792-4E178EC1D37E}"/>
              </a:ext>
            </a:extLst>
          </p:cNvPr>
          <p:cNvGraphicFramePr/>
          <p:nvPr/>
        </p:nvGraphicFramePr>
        <p:xfrm>
          <a:off xmlns:a="http://schemas.openxmlformats.org/drawingml/2006/main" x="514350" y="1809750"/>
          <a:ext xmlns:a="http://schemas.openxmlformats.org/drawingml/2006/main" cx="111633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143250"/>
                <a:gridCol w="4114800"/>
              </a:tblGrid>
              <a:tr h="5905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Native rainfall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CHIRPS replacement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0.688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0.723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98C45-1F29-4453-9E48-C60148DF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PET and the native-forced parent target stay fixed. This tests forcing dependence, rather than which rainfall product is more accurate.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01458-C044-4301-9DDE-A1386CF4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CCEA8-6AE3-43B4-BA3C-2CB3B4C2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32 / 35</a:t>
            </a:r>
          </a:p>
        </p:txBody>
      </p:sp>
    </p:spTree>
    <p:extLst>
      <p:ext uri="{BB962C8B-B14F-4D97-AF65-F5344CB8AC3E}">
        <p14:creationId xmlns:p14="http://schemas.microsoft.com/office/powerpoint/2010/main" val="5827839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86D61-2D25-4870-B41E-31052E9A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00B3C-AF85-4CF9-AF48-787409A7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Decision support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0CA1F-CCD1-4C74-BF8B-3E3110DB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14953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68199-A75B-44A9-92A1-E7B7410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Interactive storage histories, trend maps and observation support for all 22 basins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979DB-73F1-4AE9-A139-13B27064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Downloadable basin performance tables and spatial/temporal forcing figures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16EEF-58F2-4806-80E7-C30367CF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Input subsets, pinned dependencies and executable scientific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A657B-AB2A-43FD-AE02-ED023800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https://pratikkhanal16.github.io/thailand-water-storage-dss/extended/  •  Source repository: pratikkhanal16/thailand-water-storage-dss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6D04D-914E-499D-B54E-153FBD3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Objective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BE55C-0DB2-489E-8856-D9BE7DB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33 / 35</a:t>
            </a:r>
          </a:p>
        </p:txBody>
      </p:sp>
    </p:spTree>
    <p:extLst>
      <p:ext uri="{BB962C8B-B14F-4D97-AF65-F5344CB8AC3E}">
        <p14:creationId xmlns:p14="http://schemas.microsoft.com/office/powerpoint/2010/main" val="17824874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2149F-A8B3-4205-88C9-E942FA72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FAE4-55E9-405F-AC4B-CE5C1ED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A6708-FA2C-47AB-AAB5-DEAB3FE4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184365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9473B-80CA-4E1C-B1CA-3E4B581E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The primary records show national TWSA and GWSA decline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CB2CA-70D2-4CCC-9D3D-9BD6A69D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Basin rankings and residual interpretation depend on products and observation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24481-9AB0-4DD5-A570-69DA1052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Climate memory reconstructs the naturalized parent well, with weaker performance in some years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DA822-DC34-49AB-B731-2888C904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Wells and reservoirs provide complementary, limited evidence for residual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2DD40-C785-494D-A95E-BCB77CE2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Contribution: a reproducible joint assessment of product sensitivity, climate memory, paired-model discrepancy and monitoring-network uncertainty.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4530B-95DE-4282-9752-E83A5DFC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Conclusions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D513C-E6F9-4DD4-8BF1-44CDDE84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34 / 35</a:t>
            </a:r>
          </a:p>
        </p:txBody>
      </p:sp>
    </p:spTree>
    <p:extLst>
      <p:ext uri="{BB962C8B-B14F-4D97-AF65-F5344CB8AC3E}">
        <p14:creationId xmlns:p14="http://schemas.microsoft.com/office/powerpoint/2010/main" val="14108186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71D95-92E1-4D09-A9CC-69F8D7F8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F9A7F-8D11-4A82-937C-FF1A7114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Selected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437D5-7071-406D-8A85-1F34FEA3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A5B4D-9D7F-4F6D-82B4-F7BD10F8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Save et al. (2016), CSR mascons. doi:10.1002/2016JB013007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CFB9A-065B-407A-9EDE-5E943F5B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Müller Schmied et al. (2024), WaterGAP. doi:10.5194/gmd-17-8817-2024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89EFC-5157-4F4A-BD20-EA9548E9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Sharifi et al. (2025), groundwater storage. doi:10.5194/hess-29-6985-2025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CADF4-3F4E-4621-AFAE-3A1DE09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MSEA-Res (2025), reservoir storage. doi:10.5194/essd-17-2693-2025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209EC-41AB-4A6B-BDCF-E8A3FC56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GROW groundwater observations. doi:10.5281/zenodo.15149480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1414B-9ED1-4BF9-9388-F1025316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Full bibliography, source terms and basin results accompany the report. Theme: Metropolis by Matthias Vogelgesang and contributors, https://github.com/matze/mtheme.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B5E54-F271-4893-ADAE-A68A088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2AF9D-E487-4C6E-908F-5B3D34D3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35 / 35</a:t>
            </a:r>
          </a:p>
        </p:txBody>
      </p:sp>
    </p:spTree>
    <p:extLst>
      <p:ext uri="{BB962C8B-B14F-4D97-AF65-F5344CB8AC3E}">
        <p14:creationId xmlns:p14="http://schemas.microsoft.com/office/powerpoint/2010/main" val="6709932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05FAC-1520-476B-B09C-6144F1D8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EB9F-CFF2-4FF4-8989-922D6294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39008-79CA-46A3-901F-7D6BD779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19D15-7BD1-4AB4-B967-27E23C6D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Additional hydroclimatic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35E0A-D56D-4EF2-9F7F-DCE2E750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Basin performance tables for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6615E-DEE8-46A9-B16D-B8483E1C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Observation support and 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2EB75-BF76-4DDD-B070-18F7382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CC95F-E167-42DB-A762-44547D75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B1</a:t>
            </a:r>
          </a:p>
        </p:txBody>
      </p:sp>
    </p:spTree>
    <p:extLst>
      <p:ext uri="{BB962C8B-B14F-4D97-AF65-F5344CB8AC3E}">
        <p14:creationId xmlns:p14="http://schemas.microsoft.com/office/powerpoint/2010/main" val="41474453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F436B-6C18-4B24-8F70-8982F55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9489A-9AF2-4126-AE63-4B5085B7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Supporting hydroclimatic histories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F16DC-94E8-4227-8660-FCB16EC5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D25F4-3E08-466B-8B84-2E8E19B4D6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0a81298094c04"/>
          <a:stretch xmlns:a="http://schemas.openxmlformats.org/drawingml/2006/main"/>
        </p:blipFill>
        <p:spPr>
          <a:xfrm xmlns:a="http://schemas.openxmlformats.org/drawingml/2006/main">
            <a:off x="1720493" y="1285875"/>
            <a:ext cx="875101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7C474-DFC3-43F3-9F18-74BD0CE6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National monthly observations, 2003–2023. Actual ET, soil moisture and surface temperature provide context; they are not added primary predictors.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F8D8F-EDD8-4F51-A17C-31FA7131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481AE-A405-44DB-8390-45803B83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7606978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80588-2E43-4B0A-B80F-EA8902D0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22D68-0273-44E3-B57B-0BDF9377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Spatial hydroclimatic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83BF9-1B0B-4038-8DA6-910670F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1A1E1-91C1-41AF-8441-65494CA34E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5454c56864ded"/>
          <a:stretch xmlns:a="http://schemas.openxmlformats.org/drawingml/2006/main"/>
        </p:blipFill>
        <p:spPr>
          <a:xfrm xmlns:a="http://schemas.openxmlformats.org/drawingml/2006/main">
            <a:off x="514350" y="1808828"/>
            <a:ext cx="11163300" cy="32879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A3C5A-80BF-493A-B351-4616943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Basin available-month means, 2003–2023. Product coverage differs. Volumetric moisture is distinct from storage in mm.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B15DB-3DAF-4DA4-83F6-B5128DB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339E0-2FBC-4B1A-9A0C-B3E515CA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B3</a:t>
            </a:r>
          </a:p>
        </p:txBody>
      </p:sp>
    </p:spTree>
    <p:extLst>
      <p:ext uri="{BB962C8B-B14F-4D97-AF65-F5344CB8AC3E}">
        <p14:creationId xmlns:p14="http://schemas.microsoft.com/office/powerpoint/2010/main" val="46184252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44BD4-29A3-4441-8F01-774ECDE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7E4DB-D660-4B6F-9C50-8B74888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Spatial support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E9D75-DB2E-4551-986B-2580D9FB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C0035-C214-4557-9F61-FCB82285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National aggregation touches 68 native CSR mascons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75F1D-F928-41F1-91EA-F878807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Inverse weight concentration is about 50.1 and does not count independent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33299-697D-4F3E-B8B4-6D58EFA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Every principal basin is below the provider’s approximate 200,000 km² small-area caution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3D950-05AA-4436-BEE6-9E83558F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0953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Conditional intervals do not include all gravity, compartment and hydrological-model 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B8C5B-0C17-43C9-90EE-8F6E92D9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AC582-8FE1-4C03-A12F-AE4462A4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B4</a:t>
            </a:r>
          </a:p>
        </p:txBody>
      </p:sp>
    </p:spTree>
    <p:extLst>
      <p:ext uri="{BB962C8B-B14F-4D97-AF65-F5344CB8AC3E}">
        <p14:creationId xmlns:p14="http://schemas.microsoft.com/office/powerpoint/2010/main" val="173383721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CED4C-A56E-443B-9101-CDD16573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8F541-068E-4689-AF86-F40EB45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Observed storage trends for every basin (01–11)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E3BA9-6760-4B3E-B1CE-E6931592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528AB-2FAF-46EE-AD6F-53F44CC5BF65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slope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q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slope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q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-3.59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-2.88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-1.90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0.010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-1.83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-1.32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-1.59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-3.65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-4.42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-3.47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-3.71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-3.10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-3.21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-3.79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-3.97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-3.94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-7.36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-7.47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-5.50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-5.20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F47C6-9CE8-4504-9122-D9382228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Slopes are seasonal Sen estimates in mm/year. q is seasonal Mann–Kendall FDR across basins; n is observed months. Full intervals and original p-values remain in CSR_basin_trends.csv. Basin names are listed in Appendix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A5F38-0EEC-4B1F-94F1-F483B2CF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0F0C2-F818-4F89-A318-A0FDB2C1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B5</a:t>
            </a:r>
          </a:p>
        </p:txBody>
      </p:sp>
    </p:spTree>
    <p:extLst>
      <p:ext uri="{BB962C8B-B14F-4D97-AF65-F5344CB8AC3E}">
        <p14:creationId xmlns:p14="http://schemas.microsoft.com/office/powerpoint/2010/main" val="17167734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18E9F-6669-44F0-9E6D-0E4A2687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5F782-F8AF-4F58-8807-7A739EA5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Observed storage trends for every basin (12–22)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28209-91B4-465B-82D2-05009FE4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7EDB8-6116-4B42-B7CF-B97E1A6A2119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slope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q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slope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q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-7.06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-7.35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-6.89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-6.36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-5.25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-5.48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-8.64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-8.12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-7.30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-7.51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-7.92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-5.85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-4.75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-34.37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-36.08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-6.25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-7.45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-1.62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-21.48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-20.95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&lt;.001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FA60D-C2C3-496B-8908-D1E4F68D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Slopes are seasonal Sen estimates in mm/year. q is seasonal Mann–Kendall FDR across basins; n is observed months. Full intervals and original p-values remain in CSR_basin_trends.csv. Basin names are listed in Appendix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ED5EA-9817-4429-B33C-76039B5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4F575-4A28-4777-9571-CED9E92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B6</a:t>
            </a:r>
          </a:p>
        </p:txBody>
      </p:sp>
    </p:spTree>
    <p:extLst>
      <p:ext uri="{BB962C8B-B14F-4D97-AF65-F5344CB8AC3E}">
        <p14:creationId xmlns:p14="http://schemas.microsoft.com/office/powerpoint/2010/main" val="17824273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B2FD-9335-4B94-B11B-6EACBBD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F37A8-AB22-4C8D-BB96-55D96B1B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TWSA climate reconstruction performance (01–11)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E773A-4B74-4876-9595-2B55D5D7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8C2A0-F93F-462E-AB59-7B251BE01C7D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Anom 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0.991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22.08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16.90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17.32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13.88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27.37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19.39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0.821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15.61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11.58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0.946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21.43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15.40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0.991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0.876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15.90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12.00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15.24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0.873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15.38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11.43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0.992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14.14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10.83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0.928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0.792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42.23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30.13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0.875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15.34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12.27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496B2-FEBE-4D40-AC4F-4D63DC8C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Frozen ensemble, 2016–2023 test data. Target: naturalized WaterGAP, not GRACE. Errors are mm; anomaly NSE removes the training monthly climatology. Higher NSE and lower errors are better.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81DA2-0D3D-41E8-93C7-9303212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B969E-C0A0-4108-9259-E0D14790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B7</a:t>
            </a:r>
          </a:p>
        </p:txBody>
      </p:sp>
    </p:spTree>
    <p:extLst>
      <p:ext uri="{BB962C8B-B14F-4D97-AF65-F5344CB8AC3E}">
        <p14:creationId xmlns:p14="http://schemas.microsoft.com/office/powerpoint/2010/main" val="18420174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86212-CEE9-4FBB-AA01-1789FE7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D11AE-0A8E-40E1-94E8-F804CF2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TWSA climate reconstruction performance (12–22)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3155-CFBE-4893-A94E-A89F9324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C0842-5E02-4EF6-BE96-DD93050AF557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Anom 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11.22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8.35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0.778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32.00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23.99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0.991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0.856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18.49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14.13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28.65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22.72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0.705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14.60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11.45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16.75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13.62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0.827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14.38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10.97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0.911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17.38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13.55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22.54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18.01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25.44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18.76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17.36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13.16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6000D-880E-4B68-B358-8C767C4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Frozen ensemble, 2016–2023 test data. Target: naturalized WaterGAP, not GRACE. Errors are mm; anomaly NSE removes the training monthly climatology. Higher NSE and lower errors are better.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F8FDA-1E9B-43C9-8FD4-A15CD793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E545B-5AE7-42FF-A37B-D17329DF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B8</a:t>
            </a:r>
          </a:p>
        </p:txBody>
      </p:sp>
    </p:spTree>
    <p:extLst>
      <p:ext uri="{BB962C8B-B14F-4D97-AF65-F5344CB8AC3E}">
        <p14:creationId xmlns:p14="http://schemas.microsoft.com/office/powerpoint/2010/main" val="171975725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FF646-8D4C-45FD-963A-E29E1B56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CF6EC-C52E-4E63-A6E1-51D02D41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GWSA climate reconstruction performance (01–11)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F1709-7E4C-4D1D-8787-E4125CB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06D20-9629-44F3-8D20-DBDD18FC67C5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Anom 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0.830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5.74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4.47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4.98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0.781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10.59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7.70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0.933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0.755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7.04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5.33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0.927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0.678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8.87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6.32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3.94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2.92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0.948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0.824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4.83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0.865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5.52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4.22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6.04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4.78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0.935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0.627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7.09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5.40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EE8AE-FAAB-48B1-9D24-3EBEFF5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Frozen ensemble, 2016–2023 test data. Target: naturalized WaterGAP, not GRACE. Errors are mm; anomaly NSE removes the training monthly climatology. Higher NSE and lower errors are better.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CA83C-9F6F-4087-9A07-6D4CF5A5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1DE18-785B-4DAA-BC46-8BC50A53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B9</a:t>
            </a:r>
          </a:p>
        </p:txBody>
      </p:sp>
    </p:spTree>
    <p:extLst>
      <p:ext uri="{BB962C8B-B14F-4D97-AF65-F5344CB8AC3E}">
        <p14:creationId xmlns:p14="http://schemas.microsoft.com/office/powerpoint/2010/main" val="184355758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95BA2-0B84-4F6C-A30A-2BC6A4B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FF464-7A60-4D4B-B756-86931A9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GWSA climate reconstruction performance (12–22)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E6ACD-2538-45AA-ABDF-1F74C6E0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FC9BF-10A1-4D00-85CA-133FB731AA0D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Anom 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0.920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5.50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4.45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4.39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0.360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10.51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8.46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0.933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10.88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8.87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0.980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0.589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11.67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9.60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0.711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6.84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5.11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0.926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0.823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10.40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8.46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0.946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0.892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11.69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9.70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9.19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7.33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0.922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0.780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8.94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32795-E2D0-4274-9994-2977944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Frozen ensemble, 2016–2023 test data. Target: naturalized WaterGAP, not GRACE. Errors are mm; anomaly NSE removes the training monthly climatology. Higher NSE and lower errors are better.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AE085-3A95-48FB-ABCE-67AEA70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329EB-4C49-4B3C-AB01-E99F0361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B10</a:t>
            </a:r>
          </a:p>
        </p:txBody>
      </p:sp>
    </p:spTree>
    <p:extLst>
      <p:ext uri="{BB962C8B-B14F-4D97-AF65-F5344CB8AC3E}">
        <p14:creationId xmlns:p14="http://schemas.microsoft.com/office/powerpoint/2010/main" val="5323906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A38D3-E65A-4D97-8602-492F5EA1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25377-AD2A-4CDE-A10C-85964E98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GLDAS matched land storage performance (01–11)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2689C-85D6-4149-9CF4-C818DDC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90A6C-F0E7-42FE-A5ED-ABEA9E382A63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Bias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0.949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55.42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46.06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4.24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0.877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38.82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31.16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-3.20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62.72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55.91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3.44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0.940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0.702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56.19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48.08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11.12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0.931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0.620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65.72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57.34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12.09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37.15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30.56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3.75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36.09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29.37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-2.62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0.926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59.38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51.34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-2.20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0.825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48.01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41.12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1.04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0.871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77.84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69.70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7.74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0.756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59.88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49.64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3.91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E025C-B91B-4797-B874-8D2B249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Soil, canopy and snow only; naturalized WaterGAP compared with GLDAS Noah on matched months. Errors are mm; bias = WaterGAP minus GLDAS. This does not validate full TWS, GWS or human-only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5A4F4-4869-418A-B616-534798C2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57E6C-6E78-4833-842A-F66BE89D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B11</a:t>
            </a:r>
          </a:p>
        </p:txBody>
      </p:sp>
    </p:spTree>
    <p:extLst>
      <p:ext uri="{BB962C8B-B14F-4D97-AF65-F5344CB8AC3E}">
        <p14:creationId xmlns:p14="http://schemas.microsoft.com/office/powerpoint/2010/main" val="64455440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99E56-C175-42BC-9081-6B096B0F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3F7A3-4C58-4C69-A31E-4FA510C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GLDAS matched land storage performance (12–22)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4ADF0-D68B-4E10-AAA4-CCE2DC66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8C927-BA16-4FC6-8C2E-8F31A9CE4E78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NSE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Bias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0.848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0.465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75.38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66.62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7.09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95.06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85.91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13.97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0.955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0.788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62.51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53.84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4.43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0.934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0.621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60.08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51.92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5.74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0.860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0.453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78.69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68.66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9.02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0.891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0.559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71.30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62.24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3.90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0.858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80.68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71.40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13.50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0.866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0.690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49.28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39.89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0.844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0.544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53.29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41.99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10.73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0.678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0.403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62.21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51.62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9.14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261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0.887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0.686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49.60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40.29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-6.04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E3749-F4FF-42A9-AAB0-4FEEBC84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Soil, canopy and snow only; naturalized WaterGAP compared with GLDAS Noah on matched months. Errors are mm; bias = WaterGAP minus GLDAS. This does not validate full TWS, GWS or human-only storage.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FEBAF-512E-452C-A740-1F9A853C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29F16-4868-4D49-BE76-FA6C0EC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B12</a:t>
            </a:r>
          </a:p>
        </p:txBody>
      </p:sp>
    </p:spTree>
    <p:extLst>
      <p:ext uri="{BB962C8B-B14F-4D97-AF65-F5344CB8AC3E}">
        <p14:creationId xmlns:p14="http://schemas.microsoft.com/office/powerpoint/2010/main" val="3559878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F757F-DA6D-4113-8FF1-2101D20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43158-103B-47E5-9370-5C846810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Residual agreement with annual groundwater head (01–11)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15C5B-42AF-468F-9C36-144528CA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6E0AA-B590-49E4-9BA1-6FB8EB1B7009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detr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detr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0.449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-0.215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0.167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0.330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0.345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0.279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0.399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-0.121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-0.084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0.063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-0.009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-0.030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-0.168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-0.023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0.113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0.103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-0.007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0.070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0.385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0.432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0.229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0.293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-0.089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-0.043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-0.244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0.047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0.236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0.157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0.277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-0.124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0.208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0.176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0.026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-0.198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0.152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0.519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0.200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854E1-806A-4E03-BC9E-34128750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Longest-overlap retained-flags panel. Positive r means lower residual tends to occur with lower head. Detr r removes a linear trend. An em dash means unavailable evidence, not zero. Head is not converted into storage; no cross-unit NSE or RMSE is reported. Other station panels and conditional intervals remain in the complete 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C4900-A1DF-457B-9834-3C0A7A7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2EDAE-749D-4343-86F8-EA0DE837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B13</a:t>
            </a:r>
          </a:p>
        </p:txBody>
      </p:sp>
    </p:spTree>
    <p:extLst>
      <p:ext uri="{BB962C8B-B14F-4D97-AF65-F5344CB8AC3E}">
        <p14:creationId xmlns:p14="http://schemas.microsoft.com/office/powerpoint/2010/main" val="199830695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A08AF-B998-4CED-AD39-E3E31960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80943-F36C-43E8-84F3-D79023AE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Residual agreement with annual groundwater head (12–22)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44390-7E97-4B45-9A7C-1C1FDB0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8C58C-7D2C-4387-A0E7-AFE368030FEC}"/>
              </a:ext>
            </a:extLst>
          </p:cNvPr>
          <p:cNvGraphicFramePr/>
          <p:nvPr/>
        </p:nvGraphicFramePr>
        <p:xfrm>
          <a:off xmlns:a="http://schemas.openxmlformats.org/drawingml/2006/main" x="514350" y="1371600"/>
          <a:ext xmlns:a="http://schemas.openxmlformats.org/drawingml/2006/main" cx="111633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94757"/>
                <a:gridCol w="1594757"/>
                <a:gridCol w="1594757"/>
                <a:gridCol w="1594757"/>
                <a:gridCol w="1594757"/>
                <a:gridCol w="1594757"/>
                <a:gridCol w="1594757"/>
              </a:tblGrid>
              <a:tr h="329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Basin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TWS detr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GWS detr 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Years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T w="4763">
                      <a:solidFill>
                        <a:srgbClr val="CCD3D5"/>
                      </a:solidFill>
                      <a:prstDash val="solid"/>
                    </a:lnT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E5EDEC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-0.044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-0.212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0.027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-0.147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0.094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0.074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0.093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-0.041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-0.082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-0.187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0.041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0.136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-0.420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-0.215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-0.335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-0.394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-0.289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-0.115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0.227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0.096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0.033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-0.147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-0.197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-0.656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-0.375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-0.722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  <a:tr h="329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CD3D5"/>
                      </a:solidFill>
                      <a:prstDash val="solid"/>
                    </a:lnL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-0.080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-0.143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-0.389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-0.450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A49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CD3D5"/>
                      </a:solidFill>
                      <a:prstDash val="solid"/>
                    </a:lnR>
                    <a:lnB w="4763">
                      <a:solidFill>
                        <a:srgbClr val="CCD3D5"/>
                      </a:solidFill>
                      <a:prstDash val="solid"/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B90D-B94E-45DE-A388-5A91B7C5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Longest-overlap retained-flags panel. Positive r means lower residual tends to occur with lower head. Detr r removes a linear trend. An em dash means unavailable evidence, not zero. Head is not converted into storage; no cross-unit NSE or RMSE is reported. Other station panels and conditional intervals remain in the complete 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ACDEA-2D71-4042-84D1-2C1E66EB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8FE97-82EE-4B5D-8D32-F2DDF2BB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B14</a:t>
            </a:r>
          </a:p>
        </p:txBody>
      </p:sp>
    </p:spTree>
    <p:extLst>
      <p:ext uri="{BB962C8B-B14F-4D97-AF65-F5344CB8AC3E}">
        <p14:creationId xmlns:p14="http://schemas.microsoft.com/office/powerpoint/2010/main" val="11607427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42250-8CE1-49E9-A802-6CCE4BA5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A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56FC6-EB9B-44C6-8C33-2AFC54E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11633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Complete basin results and source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B836A-924D-46E5-A93F-1DDE7191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04A06-0274-4B2E-92C3-B81CF2D4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Report Appendix C: 11 tables for every basin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C55CF-A4AB-41F1-A884-82A7DD10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Report Appendix D: 10 spatial and temporal forcing figures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D888F-6B19-417F-8852-488C5F9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10953750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A49"/>
                </a:solidFill>
                <a:latin typeface="Arial"/>
                <a:ea typeface="Arial"/>
                <a:cs typeface="Arial"/>
              </a:defRPr>
            </a:pPr>
            <a:r>
              <a:t>The website supplies full-precision CSVs, vector figures and runnable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6CABC-2869-407E-8F59-1CB93DDF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1163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https://pratikkhanal16.github.io/thailand-water-storage-dss/extended/basin_forcing/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3FE5D-CF59-4D57-BEC0-91F058D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9810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Supporting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B160A-CA9B-444D-B9B2-12F7F5DC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9144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C75"/>
                </a:solidFill>
                <a:latin typeface="Arial"/>
                <a:ea typeface="Arial"/>
                <a:cs typeface="Arial"/>
              </a:defRPr>
            </a:pPr>
            <a:r>
              <a:t>B15</a:t>
            </a:r>
          </a:p>
        </p:txBody>
      </p:sp>
    </p:spTree>
    <p:extLst>
      <p:ext uri="{BB962C8B-B14F-4D97-AF65-F5344CB8AC3E}">
        <p14:creationId xmlns:p14="http://schemas.microsoft.com/office/powerpoint/2010/main" val="959918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2026-10-25T07:57:52.4870000Z</dcterms:created>
  <dcterms:modified xsi:type="dcterms:W3CDTF">2026-10-25T07:57:52.4870000Z</dcterms:modified>
</coreProperties>
</file>