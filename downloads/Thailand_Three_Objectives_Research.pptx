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dceb9299744c0c" /><Relationship Type="http://schemas.openxmlformats.org/officeDocument/2006/relationships/extended-properties" Target="/docProps/app.xml" Id="Re9aa26a85d474d1f" /><Relationship Type="http://schemas.openxmlformats.org/officeDocument/2006/relationships/officeDocument" Target="/ppt/presentation.xml" Id="Ref01ea50e1144992" /></Relationships>
</file>

<file path=ppt/presentation.xml><?xml version="1.0" encoding="utf-8"?>
<p:presentation xmlns:p="http://schemas.openxmlformats.org/presentationml/2006/main">
  <p:sldMasterIdLst>
    <p:sldMasterId xmlns:r="http://schemas.openxmlformats.org/officeDocument/2006/relationships" id="2147483648" r:id="R76202b9759ff4dcc"/>
  </p:sldMasterIdLst>
  <p:notesMasterIdLst>
    <p:notesMasterId xmlns:r="http://schemas.openxmlformats.org/officeDocument/2006/relationships" r:id="R96b8b49581514794"/>
  </p:notesMasterIdLst>
  <p:sldIdLst>
    <p:sldId xmlns:r="http://schemas.openxmlformats.org/officeDocument/2006/relationships" id="256" r:id="Re19bb2a8849d46b2"/>
    <p:sldId xmlns:r="http://schemas.openxmlformats.org/officeDocument/2006/relationships" id="257" r:id="R9a5179a866b54bb5"/>
    <p:sldId xmlns:r="http://schemas.openxmlformats.org/officeDocument/2006/relationships" id="258" r:id="Re25a81cd07f94805"/>
    <p:sldId xmlns:r="http://schemas.openxmlformats.org/officeDocument/2006/relationships" id="259" r:id="Race4fa8851ac45bb"/>
    <p:sldId xmlns:r="http://schemas.openxmlformats.org/officeDocument/2006/relationships" id="260" r:id="Ra7e1797a249949af"/>
    <p:sldId xmlns:r="http://schemas.openxmlformats.org/officeDocument/2006/relationships" id="261" r:id="R59b8de70fc8743dc"/>
    <p:sldId xmlns:r="http://schemas.openxmlformats.org/officeDocument/2006/relationships" id="262" r:id="R976e3634fcdb432f"/>
    <p:sldId xmlns:r="http://schemas.openxmlformats.org/officeDocument/2006/relationships" id="263" r:id="R9c8ed6a61cef4fc1"/>
    <p:sldId xmlns:r="http://schemas.openxmlformats.org/officeDocument/2006/relationships" id="264" r:id="Re80c9efbb5de4bbe"/>
    <p:sldId xmlns:r="http://schemas.openxmlformats.org/officeDocument/2006/relationships" id="265" r:id="Rb722bf159ebf41e0"/>
    <p:sldId xmlns:r="http://schemas.openxmlformats.org/officeDocument/2006/relationships" id="266" r:id="R8701eabe007d481b"/>
    <p:sldId xmlns:r="http://schemas.openxmlformats.org/officeDocument/2006/relationships" id="267" r:id="R011bd80176f547a3"/>
    <p:sldId xmlns:r="http://schemas.openxmlformats.org/officeDocument/2006/relationships" id="268" r:id="R8fe8c1fe3e5247a4"/>
    <p:sldId xmlns:r="http://schemas.openxmlformats.org/officeDocument/2006/relationships" id="269" r:id="R1d29917fc751467e"/>
    <p:sldId xmlns:r="http://schemas.openxmlformats.org/officeDocument/2006/relationships" id="270" r:id="R3f7d6766dae54839"/>
    <p:sldId xmlns:r="http://schemas.openxmlformats.org/officeDocument/2006/relationships" id="271" r:id="R9be8e2d97eb240ae"/>
    <p:sldId xmlns:r="http://schemas.openxmlformats.org/officeDocument/2006/relationships" id="272" r:id="R579541ba95ee4f3d"/>
    <p:sldId xmlns:r="http://schemas.openxmlformats.org/officeDocument/2006/relationships" id="273" r:id="R6989eec450cd46eb"/>
    <p:sldId xmlns:r="http://schemas.openxmlformats.org/officeDocument/2006/relationships" id="274" r:id="R84be04b3a74d4ba3"/>
    <p:sldId xmlns:r="http://schemas.openxmlformats.org/officeDocument/2006/relationships" id="275" r:id="R3e82dd9695654e74"/>
    <p:sldId xmlns:r="http://schemas.openxmlformats.org/officeDocument/2006/relationships" id="276" r:id="Rc7cf9d586f27438d"/>
    <p:sldId xmlns:r="http://schemas.openxmlformats.org/officeDocument/2006/relationships" id="277" r:id="Rc052306fb39c488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9884a99a5b46ef" /><Relationship Type="http://schemas.openxmlformats.org/officeDocument/2006/relationships/slideMaster" Target="/ppt/slideMasters/slideMaster1.xml" Id="R76202b9759ff4dcc" /><Relationship Type="http://schemas.openxmlformats.org/officeDocument/2006/relationships/notesMaster" Target="/ppt/notesMasters/notesMaster1.xml" Id="R96b8b49581514794" /><Relationship Type="http://schemas.openxmlformats.org/officeDocument/2006/relationships/presProps" Target="/ppt/presProps.xml" Id="Re14aec8c3d2241d7" /><Relationship Type="http://schemas.openxmlformats.org/officeDocument/2006/relationships/tableStyles" Target="/ppt/tableStyles.xml" Id="R3cb3ece8654b44cb" /><Relationship Type="http://schemas.openxmlformats.org/officeDocument/2006/relationships/slide" Target="/ppt/slides/slide1.xml" Id="Re19bb2a8849d46b2" /><Relationship Type="http://schemas.openxmlformats.org/officeDocument/2006/relationships/slide" Target="/ppt/slides/slide2.xml" Id="R9a5179a866b54bb5" /><Relationship Type="http://schemas.openxmlformats.org/officeDocument/2006/relationships/slide" Target="/ppt/slides/slide3.xml" Id="Re25a81cd07f94805" /><Relationship Type="http://schemas.openxmlformats.org/officeDocument/2006/relationships/slide" Target="/ppt/slides/slide4.xml" Id="Race4fa8851ac45bb" /><Relationship Type="http://schemas.openxmlformats.org/officeDocument/2006/relationships/slide" Target="/ppt/slides/slide5.xml" Id="Ra7e1797a249949af" /><Relationship Type="http://schemas.openxmlformats.org/officeDocument/2006/relationships/slide" Target="/ppt/slides/slide6.xml" Id="R59b8de70fc8743dc" /><Relationship Type="http://schemas.openxmlformats.org/officeDocument/2006/relationships/slide" Target="/ppt/slides/slide7.xml" Id="R976e3634fcdb432f" /><Relationship Type="http://schemas.openxmlformats.org/officeDocument/2006/relationships/slide" Target="/ppt/slides/slide8.xml" Id="R9c8ed6a61cef4fc1" /><Relationship Type="http://schemas.openxmlformats.org/officeDocument/2006/relationships/slide" Target="/ppt/slides/slide9.xml" Id="Re80c9efbb5de4bbe" /><Relationship Type="http://schemas.openxmlformats.org/officeDocument/2006/relationships/slide" Target="/ppt/slides/slide10.xml" Id="Rb722bf159ebf41e0" /><Relationship Type="http://schemas.openxmlformats.org/officeDocument/2006/relationships/slide" Target="/ppt/slides/slide11.xml" Id="R8701eabe007d481b" /><Relationship Type="http://schemas.openxmlformats.org/officeDocument/2006/relationships/slide" Target="/ppt/slides/slide12.xml" Id="R011bd80176f547a3" /><Relationship Type="http://schemas.openxmlformats.org/officeDocument/2006/relationships/slide" Target="/ppt/slides/slide13.xml" Id="R8fe8c1fe3e5247a4" /><Relationship Type="http://schemas.openxmlformats.org/officeDocument/2006/relationships/slide" Target="/ppt/slides/slide14.xml" Id="R1d29917fc751467e" /><Relationship Type="http://schemas.openxmlformats.org/officeDocument/2006/relationships/slide" Target="/ppt/slides/slide15.xml" Id="R3f7d6766dae54839" /><Relationship Type="http://schemas.openxmlformats.org/officeDocument/2006/relationships/slide" Target="/ppt/slides/slide16.xml" Id="R9be8e2d97eb240ae" /><Relationship Type="http://schemas.openxmlformats.org/officeDocument/2006/relationships/slide" Target="/ppt/slides/slide17.xml" Id="R579541ba95ee4f3d" /><Relationship Type="http://schemas.openxmlformats.org/officeDocument/2006/relationships/slide" Target="/ppt/slides/slide18.xml" Id="R6989eec450cd46eb" /><Relationship Type="http://schemas.openxmlformats.org/officeDocument/2006/relationships/slide" Target="/ppt/slides/slide19.xml" Id="R84be04b3a74d4ba3" /><Relationship Type="http://schemas.openxmlformats.org/officeDocument/2006/relationships/slide" Target="/ppt/slides/slide20.xml" Id="R3e82dd9695654e74" /><Relationship Type="http://schemas.openxmlformats.org/officeDocument/2006/relationships/slide" Target="/ppt/slides/slide21.xml" Id="Rc7cf9d586f27438d" /><Relationship Type="http://schemas.openxmlformats.org/officeDocument/2006/relationships/slide" Target="/ppt/slides/slide22.xml" Id="Rc052306fb39c48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86c7b3995f40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b9b709f82e4f41" /><Relationship Type="http://schemas.openxmlformats.org/officeDocument/2006/relationships/notesMaster" Target="/ppt/notesMasters/notesMaster1.xml" Id="R2343226cd28141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16b4bd29794a67" /><Relationship Type="http://schemas.openxmlformats.org/officeDocument/2006/relationships/notesMaster" Target="/ppt/notesMasters/notesMaster1.xml" Id="Rfd1197cf042b42b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03892f54974f79" /><Relationship Type="http://schemas.openxmlformats.org/officeDocument/2006/relationships/notesMaster" Target="/ppt/notesMasters/notesMaster1.xml" Id="R413e21d91f704d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104ba3d719471c" /><Relationship Type="http://schemas.openxmlformats.org/officeDocument/2006/relationships/notesMaster" Target="/ppt/notesMasters/notesMaster1.xml" Id="R4e513c9ef0474202"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50fef35a494409" /><Relationship Type="http://schemas.openxmlformats.org/officeDocument/2006/relationships/notesMaster" Target="/ppt/notesMasters/notesMaster1.xml" Id="R3e780217320c4f6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b6b51391cd4391" /><Relationship Type="http://schemas.openxmlformats.org/officeDocument/2006/relationships/notesMaster" Target="/ppt/notesMasters/notesMaster1.xml" Id="Ra400e8ab40bf4e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2494e1ec84b4adc" /><Relationship Type="http://schemas.openxmlformats.org/officeDocument/2006/relationships/notesMaster" Target="/ppt/notesMasters/notesMaster1.xml" Id="R6069f1dcfb3d404d" /></Relationships>
</file>

<file path=ppt/notesSlides/_rels/notesSlide8.xml.rels>&#65279;<?xml version="1.0" encoding="utf-8"?><Relationships xmlns="http://schemas.openxmlformats.org/package/2006/relationships"><Relationship Type="http://schemas.openxmlformats.org/officeDocument/2006/relationships/slide" Target="/ppt/slides/slide8.xml" Id="R2416e46502fd419f" /><Relationship Type="http://schemas.openxmlformats.org/officeDocument/2006/relationships/notesMaster" Target="/ppt/notesMasters/notesMaster1.xml" Id="R6872f2d6c6b749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2e9a4363048433b" /><Relationship Type="http://schemas.openxmlformats.org/officeDocument/2006/relationships/notesMaster" Target="/ppt/notesMasters/notesMaster1.xml" Id="Rdfb29555b6414d5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129cc9551149ad" /><Relationship Type="http://schemas.openxmlformats.org/officeDocument/2006/relationships/notesMaster" Target="/ppt/notesMasters/notesMaster1.xml" Id="R9de32f18491a4c2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0625b76ba24ce2" /><Relationship Type="http://schemas.openxmlformats.org/officeDocument/2006/relationships/notesMaster" Target="/ppt/notesMasters/notesMaster1.xml" Id="R921bba7a8a574cb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6de3d1321ef4900" /><Relationship Type="http://schemas.openxmlformats.org/officeDocument/2006/relationships/notesMaster" Target="/ppt/notesMasters/notesMaster1.xml" Id="R5cb53ee606b5459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9d141f984d4eae" /><Relationship Type="http://schemas.openxmlformats.org/officeDocument/2006/relationships/notesMaster" Target="/ppt/notesMasters/notesMaster1.xml" Id="Rf97be5755b1a4dc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a38122742364326" /><Relationship Type="http://schemas.openxmlformats.org/officeDocument/2006/relationships/notesMaster" Target="/ppt/notesMasters/notesMaster1.xml" Id="R0ae71619251a401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f778a43ca8846b4" /><Relationship Type="http://schemas.openxmlformats.org/officeDocument/2006/relationships/notesMaster" Target="/ppt/notesMasters/notesMaster1.xml" Id="R0ce9337d327f4bc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a9bcef751454e34" /><Relationship Type="http://schemas.openxmlformats.org/officeDocument/2006/relationships/notesMaster" Target="/ppt/notesMasters/notesMaster1.xml" Id="R8476f4c475264c9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893a8b8570c4558" /><Relationship Type="http://schemas.openxmlformats.org/officeDocument/2006/relationships/notesMaster" Target="/ppt/notesMasters/notesMaster1.xml" Id="Re48bf5a1c843419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f5250922b1c491c" /><Relationship Type="http://schemas.openxmlformats.org/officeDocument/2006/relationships/notesMaster" Target="/ppt/notesMasters/notesMaster1.xml" Id="Rd8690b38cf5f4b6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4b6aad615d84193" /><Relationship Type="http://schemas.openxmlformats.org/officeDocument/2006/relationships/notesMaster" Target="/ppt/notesMasters/notesMaster1.xml" Id="R682b4f1e06e4427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4c5610240f245a3" /><Relationship Type="http://schemas.openxmlformats.org/officeDocument/2006/relationships/notesMaster" Target="/ppt/notesMasters/notesMaster1.xml" Id="R663f607f9ebe405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71ff376bbaf4062" /><Relationship Type="http://schemas.openxmlformats.org/officeDocument/2006/relationships/notesMaster" Target="/ppt/notesMasters/notesMaster1.xml" Id="R755c0ae48e5a478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2e094cfa6054843" /><Relationship Type="http://schemas.openxmlformats.org/officeDocument/2006/relationships/notesMaster" Target="/ppt/notesMasters/notesMaster1.xml" Id="Re9d3f6852dca47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Three-objective research release. TWSA ends September 2024; full-compartment GWSA ends September 2023. Human residuals are candidate influences plus unresolved errors. Actual groundwater observations were acquired from GROW.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Basin and grid trends include Sen slopes and original/seasonal Mann–Kendall, FDR and uncertainty. Objective 2 includes both storage targets, GLDAS benchmarking, actual wells and static irrigation associations. Objective 3 hosts aggregate data in GitHub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GRACE source units cm were converted to mm. Core GRACE, precipitation, MODIS ET/LST end September 2024. ESA root-zone predictor is the 0–1 m variable. G3P surface water ends September 2023. Missing observations are not filled.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soil storage is the sum of four GLDAS Noah soil layers. G3P filtered root-zone storage supplies a soil-product sensitivity. GRACE cell values use a joint valid reference for the balance. Component errors and spatial filtering differences are retained as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source shapefile has 22 principal basin features plus six separately coded islands; islands are attached to parent codes for observation assignment and web geometry. Nominal 0.25° sampling is not independent GRACE resolution. G3P has 250 km filtering, not necessarily matched to the local GRACE/GLDAS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Seasonal MK does not fully correct serial dependence. Calendar-year bootstrap intervals are a sensitivity to temporal clustering rather than a complete uncertainty model. Hamed–Rao annual correction is only reported when annual time series are contiguous. Annual means require at least eight observed months.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National fractional-area aggregate. TWSA has 235 observed monthly values; full-compartment GWSA has 223. Seasonal MK p-values are below floating-point precision, not exactly proven zero. Serial dependence remains a limitation.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Seasonal Sen slopes in mm/year. The full CSV and scientific figure provide 95% calendar-year block-bootstrap intervals. All principal basins are included; the strongest coastal trends warrant examination of coverage and leakage. Small basins share GRACE 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Grid-level seasonal Sen slopes in mm/year. The companion NetCDF contains original/seasonal MK and FDR. Grid p-values remain unadjusted for serial correlation. These maps are not independent high-resolution groundwater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Inner blocked folds tune hyperparameters using only the training period. Scaling and spline transformations are fitted in training. All M0–M4 comparisons use common complete-case support across both ET products; no gap interpolation. Each target/region has 30 configurations, including seasonal climatology. 46 ensembles and 1,380 configurations were evaluated.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forcing has lags 0, 1, 2, 3 and 6 months. ET is alternately GLEAM or MODIS. M0 is identical across ET labels and is not duplicated. Soil products can contain irrigation effects; they are not purely natural forcings.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national test on common observed support. TWSA test 2020–September 2024, 57 paired months; GWSA 2020–September 2023, 45. Deseasonalization uses training-period calendar-month means. High r can coexist with negative NSE because of bias and amplitude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monthly test NSE. Deseasonalized NSE is retained in the full validation CSV and scientific figure. Negative NSE means worse than the observed test-period mean. Spatial dependence and partial coastal coverage constrain interpretation. No basin is silently excluded.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National TWSA model versus GLDAS test NSE 0.685 and r 0.893. National GWSA model versus related G3P test NSE -0.663 and r 0.685. GLDAS soil/canopy/snow are used in groundwater subtraction, so product dependencies preclude independent validation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Candidate human-related residual = observed storage minus climate reconstruction. Validation-error bands are empirical and have only 68% TWSA / 67% GWSA test coverage, rather than calibrated 90% coverage. Missing GRACE epochs remain gaps; post-observation projections are not displayed.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Basin maps show seasonal Sen slopes of candidate human-related/unexplained residuals. They are not measured pumping or established anthropogenic storage. Climate and residual trend tables include MK/FDR and block-bootstrap intervals.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GROW Thai extraction includes 5,484 observed aggregates from 511 wells. 506 annual wells have 5,259 observed rows, 2004–2024. Five monthly wells have 225 rows, March 2018–June 2023. All 511 assigned to principal basins; Lower East Coast has no available historical wells. Annual source aggregates typically contain two original readings. Aquifer identities are missing. Source flags are retained with an exclusion sensitivity; annual fixed-eligibility panel selects wells with at least eight annual observations in 2013–2022, but availability may still vary by year.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national TWSA storage n18, GWSA n17. Fixed-eligibility changes sampling but is not a fully balanced panel. Primary annual residual correlations TWSA r0.318 n17, GWSA r0.137 n16, with confidence intervals spanning zero. Post-2015 TWSA residual r0.114 n6 has extremely wide uncertainty. Actual sign-corrected head anomalies and equal-coordinate station weighting are used. No specific yield/storativity or head-to-storage NSE is invented.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Spearman residual slope versus groundwater-equipped percent total land: TWSA rho0.167 p0.459; GWSA rho0.084 p0.710. Total equipped area rho-0.060/0.005. Nominal spatial p-values assume independence that GRACE basins do not satisfy. FAO Thailand reference 2007 equipped-area statistics; groundwater share inferred from 1994–2006 crop/provincial assumptions. No current pumping data or causal attribution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GitHub Pages app with 22 basins + national, TWSA/GWSA controls, observed/climate/residual maps, time-series zoom, annual observations, data limitations and CSV downloads. Leaflet and ECharts are vendored; no API keys required. Source https://github.com/pratikkhanal16/thailand-water-storage-dss ; live https://pratikkhanal16.github.io/thailand-water-storage-dss/ . Browser tests check all objectives, basin selection, dates, CSV and mobile overflow.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Authoritative local outputs: P:/twsa/Thailand_Objective1/analysis_v3, P:/twsa/Thailand_Objective2/analysis_v3, P:/twsa/Thailand_Objective3/web_app. Scripts 01–05, shared source subsets, original fractional weights, source provenance and QA reports are retained. Earlier outputs_advanced are historical/superseded and original inputs are preserved. Redundant globally downloaded extraction intermediates are audited separately. GROW package CC BY-NC-SA4.0; Thai source metadata CC BY4.0. Noncommercial research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deliverables are complete as data-supported analyses, not as proof of a desired attribution. Improve future inference using aquifer-resolved monthly heads, documented storage coefficients, pumping histories and independent reservoir observations. GRACE leakage, component filtering, groundwater network changes and model bias remain material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695f35186674c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9ca5dd471946d0" /><Relationship Type="http://schemas.openxmlformats.org/officeDocument/2006/relationships/slideLayout" Target="/ppt/slideLayouts/slideLayout1.xml" Id="R637aeb6d1b234ef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7aeb6d1b234e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27086dfd4d0481a" /><Relationship Type="http://schemas.openxmlformats.org/officeDocument/2006/relationships/notesSlide" Target="/ppt/notesSlides/notesSlide1.xml" Id="Rb01621b86fdc4c4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2cb1fb88884461b" /><Relationship Type="http://schemas.openxmlformats.org/officeDocument/2006/relationships/notesSlide" Target="/ppt/notesSlides/notesSlide2.xml" Id="R4dc513d408f540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eb61d161464775" /><Relationship Type="http://schemas.openxmlformats.org/officeDocument/2006/relationships/notesSlide" Target="/ppt/notesSlides/notesSlide3.xml" Id="R28b1ab7d01d048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0ddaf4311e64990" /><Relationship Type="http://schemas.openxmlformats.org/officeDocument/2006/relationships/notesSlide" Target="/ppt/notesSlides/notesSlide4.xml" Id="R64c58f1b1c974c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c37227a6225473d" /><Relationship Type="http://schemas.openxmlformats.org/officeDocument/2006/relationships/notesSlide" Target="/ppt/notesSlides/notesSlide5.xml" Id="R611f6dc77b7342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8a88daa4b6d462a" /><Relationship Type="http://schemas.openxmlformats.org/officeDocument/2006/relationships/notesSlide" Target="/ppt/notesSlides/notesSlide6.xml" Id="R566a54ae3c954d8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828a452a9784ea7" /><Relationship Type="http://schemas.openxmlformats.org/officeDocument/2006/relationships/notesSlide" Target="/ppt/notesSlides/notesSlide7.xml" Id="R2513aceb075a4fb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a2c0ec33af64407" /><Relationship Type="http://schemas.openxmlformats.org/officeDocument/2006/relationships/notesSlide" Target="/ppt/notesSlides/notesSlide8.xml" Id="R3056721a1b9c4c6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ca88cd7f2054bc7" /><Relationship Type="http://schemas.openxmlformats.org/officeDocument/2006/relationships/image" Target="/ppt/media/image.png" Id="Rf1a75cb4682b4ec3" /><Relationship Type="http://schemas.openxmlformats.org/officeDocument/2006/relationships/notesSlide" Target="/ppt/notesSlides/notesSlide9.xml" Id="Rbc50cf59904947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147309cb85a437a" /><Relationship Type="http://schemas.openxmlformats.org/officeDocument/2006/relationships/notesSlide" Target="/ppt/notesSlides/notesSlide10.xml" Id="R6302e767ad74440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8a611e58e92439d" /><Relationship Type="http://schemas.openxmlformats.org/officeDocument/2006/relationships/notesSlide" Target="/ppt/notesSlides/notesSlide11.xml" Id="R2bfa672d2a8e47b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39c6440f0d64d08" /><Relationship Type="http://schemas.openxmlformats.org/officeDocument/2006/relationships/notesSlide" Target="/ppt/notesSlides/notesSlide12.xml" Id="R53933526b7474fc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158d3942979499e" /><Relationship Type="http://schemas.openxmlformats.org/officeDocument/2006/relationships/notesSlide" Target="/ppt/notesSlides/notesSlide13.xml" Id="R9e49492d19f34d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5c796c5c469444a" /><Relationship Type="http://schemas.openxmlformats.org/officeDocument/2006/relationships/notesSlide" Target="/ppt/notesSlides/notesSlide14.xml" Id="R4593558d6dea465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a6a2621190244c9" /><Relationship Type="http://schemas.openxmlformats.org/officeDocument/2006/relationships/image" Target="/ppt/media/image2.png" Id="R0f925f7248a942f5" /><Relationship Type="http://schemas.openxmlformats.org/officeDocument/2006/relationships/notesSlide" Target="/ppt/notesSlides/notesSlide15.xml" Id="R665ea51cfa8b46c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d826ad9cce54e48" /><Relationship Type="http://schemas.openxmlformats.org/officeDocument/2006/relationships/image" Target="/ppt/media/image3.png" Id="R63e7b8a172a448ad" /><Relationship Type="http://schemas.openxmlformats.org/officeDocument/2006/relationships/notesSlide" Target="/ppt/notesSlides/notesSlide16.xml" Id="Red655c722e454ae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c785c6176c0445c" /><Relationship Type="http://schemas.openxmlformats.org/officeDocument/2006/relationships/image" Target="/ppt/media/image4.png" Id="Rcffee44f4cb34e95" /><Relationship Type="http://schemas.openxmlformats.org/officeDocument/2006/relationships/notesSlide" Target="/ppt/notesSlides/notesSlide17.xml" Id="R547206f3cd9247b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d7866798bc24049" /><Relationship Type="http://schemas.openxmlformats.org/officeDocument/2006/relationships/notesSlide" Target="/ppt/notesSlides/notesSlide18.xml" Id="R46710aa0a5dd4aa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8f27d184acf4efb" /><Relationship Type="http://schemas.openxmlformats.org/officeDocument/2006/relationships/notesSlide" Target="/ppt/notesSlides/notesSlide19.xml" Id="Rac853685a66b4a1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fc7b37c975d474c" /><Relationship Type="http://schemas.openxmlformats.org/officeDocument/2006/relationships/image" Target="/ppt/media/image5.png" Id="R0358c0933f4d4120" /><Relationship Type="http://schemas.openxmlformats.org/officeDocument/2006/relationships/notesSlide" Target="/ppt/notesSlides/notesSlide20.xml" Id="R3551affeb3ad4c1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df904d9dd3f40e0" /><Relationship Type="http://schemas.openxmlformats.org/officeDocument/2006/relationships/notesSlide" Target="/ppt/notesSlides/notesSlide21.xml" Id="R31f5d3de5f48417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257582996044d98" /><Relationship Type="http://schemas.openxmlformats.org/officeDocument/2006/relationships/notesSlide" Target="/ppt/notesSlides/notesSlide22.xml" Id="R0c5fa4914a23419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deck-title">
            <a:extLst xmlns:a="http://schemas.openxmlformats.org/drawingml/2006/main">
              <a:ext uri="{FF2B5EF4-FFF2-40B4-BE49-F238E27FC236}">
                <a16:creationId xmlns:a16="http://schemas.microsoft.com/office/drawing/2014/main" id="{5FDE7B78-CFD7-4EC3-AE94-897200A12DC5}"/>
              </a:ext>
            </a:extLst>
          </p:cNvPr>
          <p:cNvSpPr>
            <a:spLocks xmlns:a="http://schemas.openxmlformats.org/drawingml/2006/main" noGrp="1"/>
          </p:cNvSpPr>
          <p:nvPr/>
        </p:nvSpPr>
        <p:spPr>
          <a:xfrm xmlns:a="http://schemas.openxmlformats.org/drawingml/2006/main">
            <a:off x="514350" y="762000"/>
            <a:ext cx="11049000" cy="2238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5700" b="0">
                <a:solidFill>
                  <a:srgbClr val="173A3C"/>
                </a:solidFill>
              </a:defRPr>
            </a:pPr>
            <a:r>
              <a:t>Water storage change
across Thailand</a:t>
            </a:r>
          </a:p>
        </p:txBody>
      </p:sp>
      <p:sp>
        <p:nvSpPr>
          <p:cNvPr id="2" name="body">
            <a:extLst xmlns:a="http://schemas.openxmlformats.org/drawingml/2006/main">
              <a:ext uri="{FF2B5EF4-FFF2-40B4-BE49-F238E27FC236}">
                <a16:creationId xmlns:a16="http://schemas.microsoft.com/office/drawing/2014/main" id="{1E784FBD-F7DD-47B4-9839-EF67CBEDF7A0}"/>
              </a:ext>
            </a:extLst>
          </p:cNvPr>
          <p:cNvSpPr>
            <a:spLocks xmlns:a="http://schemas.openxmlformats.org/drawingml/2006/main" noGrp="1"/>
          </p:cNvSpPr>
          <p:nvPr/>
        </p:nvSpPr>
        <p:spPr>
          <a:xfrm xmlns:a="http://schemas.openxmlformats.org/drawingml/2006/main">
            <a:off x="514350" y="3524250"/>
            <a:ext cx="10763250" cy="1095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850" b="0">
                <a:solidFill>
                  <a:srgbClr val="243D3F"/>
                </a:solidFill>
              </a:defRPr>
            </a:pPr>
            <a:r>
              <a:t>Trends, climate reconstruction
and groundwater evidence</a:t>
            </a:r>
          </a:p>
        </p:txBody>
      </p:sp>
      <p:sp>
        <p:nvSpPr>
          <p:cNvPr id="3" name="body">
            <a:extLst xmlns:a="http://schemas.openxmlformats.org/drawingml/2006/main">
              <a:ext uri="{FF2B5EF4-FFF2-40B4-BE49-F238E27FC236}">
                <a16:creationId xmlns:a16="http://schemas.microsoft.com/office/drawing/2014/main" id="{705D4B8C-FEA2-4AF2-82D9-820192B8C009}"/>
              </a:ext>
            </a:extLst>
          </p:cNvPr>
          <p:cNvSpPr>
            <a:spLocks xmlns:a="http://schemas.openxmlformats.org/drawingml/2006/main" noGrp="1"/>
          </p:cNvSpPr>
          <p:nvPr/>
        </p:nvSpPr>
        <p:spPr>
          <a:xfrm xmlns:a="http://schemas.openxmlformats.org/drawingml/2006/main">
            <a:off x="514350" y="5143500"/>
            <a:ext cx="10953750" cy="4762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22 principal basins • GRACE / GRACE-FO</a:t>
            </a:r>
          </a:p>
        </p:txBody>
      </p:sp>
      <p:sp>
        <p:nvSpPr>
          <p:cNvPr id="4" name="body">
            <a:extLst xmlns:a="http://schemas.openxmlformats.org/drawingml/2006/main">
              <a:ext uri="{FF2B5EF4-FFF2-40B4-BE49-F238E27FC236}">
                <a16:creationId xmlns:a16="http://schemas.microsoft.com/office/drawing/2014/main" id="{A28BC919-5BBB-4911-AEE6-70AA8728D605}"/>
              </a:ext>
            </a:extLst>
          </p:cNvPr>
          <p:cNvSpPr>
            <a:spLocks xmlns:a="http://schemas.openxmlformats.org/drawingml/2006/main" noGrp="1"/>
          </p:cNvSpPr>
          <p:nvPr/>
        </p:nvSpPr>
        <p:spPr>
          <a:xfrm xmlns:a="http://schemas.openxmlformats.org/drawingml/2006/main">
            <a:off x="514350" y="6305550"/>
            <a:ext cx="10763250" cy="3238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Pratik Khanal • Research release • 14 October 2026</a:t>
            </a:r>
          </a:p>
        </p:txBody>
      </p:sp>
    </p:spTree>
    <p:extLst>
      <p:ext uri="{BB962C8B-B14F-4D97-AF65-F5344CB8AC3E}">
        <p14:creationId xmlns:p14="http://schemas.microsoft.com/office/powerpoint/2010/main" val="370779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00C24A9C-5B18-4200-9400-EF46AA9A918E}"/>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Three objectives connect trends to decisions</a:t>
            </a:r>
          </a:p>
        </p:txBody>
      </p:sp>
      <p:sp>
        <p:nvSpPr>
          <p:cNvPr id="2" name="body">
            <a:extLst xmlns:a="http://schemas.openxmlformats.org/drawingml/2006/main">
              <a:ext uri="{FF2B5EF4-FFF2-40B4-BE49-F238E27FC236}">
                <a16:creationId xmlns:a16="http://schemas.microsoft.com/office/drawing/2014/main" id="{ADEAB909-8C31-45A0-B671-D95D117615B8}"/>
              </a:ext>
            </a:extLst>
          </p:cNvPr>
          <p:cNvSpPr>
            <a:spLocks xmlns:a="http://schemas.openxmlformats.org/drawingml/2006/main" noGrp="1"/>
          </p:cNvSpPr>
          <p:nvPr/>
        </p:nvSpPr>
        <p:spPr>
          <a:xfrm xmlns:a="http://schemas.openxmlformats.org/drawingml/2006/main">
            <a:off x="514350" y="1619250"/>
            <a:ext cx="10953750" cy="11811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325" b="0">
                <a:solidFill>
                  <a:srgbClr val="243D3F"/>
                </a:solidFill>
              </a:defRPr>
            </a:pPr>
            <a:r>
              <a:t>01  Estimate TWSA and GWSA trends in every principal basin.</a:t>
            </a:r>
          </a:p>
        </p:txBody>
      </p:sp>
      <p:sp>
        <p:nvSpPr>
          <p:cNvPr id="3" name="body">
            <a:extLst xmlns:a="http://schemas.openxmlformats.org/drawingml/2006/main">
              <a:ext uri="{FF2B5EF4-FFF2-40B4-BE49-F238E27FC236}">
                <a16:creationId xmlns:a16="http://schemas.microsoft.com/office/drawing/2014/main" id="{5990812A-1567-4230-AE03-65DF24DA709A}"/>
              </a:ext>
            </a:extLst>
          </p:cNvPr>
          <p:cNvSpPr>
            <a:spLocks xmlns:a="http://schemas.openxmlformats.org/drawingml/2006/main" noGrp="1"/>
          </p:cNvSpPr>
          <p:nvPr/>
        </p:nvSpPr>
        <p:spPr>
          <a:xfrm xmlns:a="http://schemas.openxmlformats.org/drawingml/2006/main">
            <a:off x="514350" y="2952750"/>
            <a:ext cx="10953750" cy="11811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325" b="0">
                <a:solidFill>
                  <a:srgbClr val="243D3F"/>
                </a:solidFill>
              </a:defRPr>
            </a:pPr>
            <a:r>
              <a:t>02  Reconstruct climate-associated storage and test residuals against groundwater evidence.</a:t>
            </a:r>
          </a:p>
        </p:txBody>
      </p:sp>
      <p:sp>
        <p:nvSpPr>
          <p:cNvPr id="4" name="body">
            <a:extLst xmlns:a="http://schemas.openxmlformats.org/drawingml/2006/main">
              <a:ext uri="{FF2B5EF4-FFF2-40B4-BE49-F238E27FC236}">
                <a16:creationId xmlns:a16="http://schemas.microsoft.com/office/drawing/2014/main" id="{59F32E18-E020-4187-9B7C-93045E1A12C4}"/>
              </a:ext>
            </a:extLst>
          </p:cNvPr>
          <p:cNvSpPr>
            <a:spLocks xmlns:a="http://schemas.openxmlformats.org/drawingml/2006/main" noGrp="1"/>
          </p:cNvSpPr>
          <p:nvPr/>
        </p:nvSpPr>
        <p:spPr>
          <a:xfrm xmlns:a="http://schemas.openxmlformats.org/drawingml/2006/main">
            <a:off x="514350" y="4286250"/>
            <a:ext cx="10953750" cy="11811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325" b="0">
                <a:solidFill>
                  <a:srgbClr val="243D3F"/>
                </a:solidFill>
              </a:defRPr>
            </a:pPr>
            <a:r>
              <a:t>03  Publish an interactive, reproducible decision-support system.</a:t>
            </a:r>
          </a:p>
        </p:txBody>
      </p:sp>
      <p:sp>
        <p:nvSpPr>
          <p:cNvPr id="5" name="source">
            <a:extLst xmlns:a="http://schemas.openxmlformats.org/drawingml/2006/main">
              <a:ext uri="{FF2B5EF4-FFF2-40B4-BE49-F238E27FC236}">
                <a16:creationId xmlns:a16="http://schemas.microsoft.com/office/drawing/2014/main" id="{6EA287FA-8F97-4023-9608-ADE148604550}"/>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6" name="page">
            <a:extLst xmlns:a="http://schemas.openxmlformats.org/drawingml/2006/main">
              <a:ext uri="{FF2B5EF4-FFF2-40B4-BE49-F238E27FC236}">
                <a16:creationId xmlns:a16="http://schemas.microsoft.com/office/drawing/2014/main" id="{4684E2E2-9E96-4983-8E5A-953E2F5BEA62}"/>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02</a:t>
            </a:r>
          </a:p>
        </p:txBody>
      </p:sp>
    </p:spTree>
    <p:extLst>
      <p:ext uri="{BB962C8B-B14F-4D97-AF65-F5344CB8AC3E}">
        <p14:creationId xmlns:p14="http://schemas.microsoft.com/office/powerpoint/2010/main" val="62965284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ACEFCAAB-5B85-4DE2-92A4-44C643C7DAAB}"/>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Observed inputs define the supported period</a:t>
            </a:r>
          </a:p>
        </p:txBody>
      </p:sp>
      <p:sp>
        <p:nvSpPr>
          <p:cNvPr id="2" name="source">
            <a:extLst xmlns:a="http://schemas.openxmlformats.org/drawingml/2006/main">
              <a:ext uri="{FF2B5EF4-FFF2-40B4-BE49-F238E27FC236}">
                <a16:creationId xmlns:a16="http://schemas.microsoft.com/office/drawing/2014/main" id="{B1D841CF-0BBD-467E-A5CC-86E483E24CA0}"/>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3" name="page">
            <a:extLst xmlns:a="http://schemas.openxmlformats.org/drawingml/2006/main">
              <a:ext uri="{FF2B5EF4-FFF2-40B4-BE49-F238E27FC236}">
                <a16:creationId xmlns:a16="http://schemas.microsoft.com/office/drawing/2014/main" id="{B93250CA-7AAC-48F1-BD3F-C1B4DE4577C1}"/>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03</a:t>
            </a:r>
          </a:p>
        </p:txBody>
      </p:sp>
      <p:graphicFrame>
        <p:nvGraphicFramePr>
          <p:cNvPr id="8" name=""/>
          <p:cNvGraphicFramePr/>
          <p:nvPr/>
        </p:nvGraphicFramePr>
        <p:xfrm>
          <a:off xmlns:a="http://schemas.openxmlformats.org/drawingml/2006/main" x="514350" y="1524000"/>
          <a:ext xmlns:a="http://schemas.openxmlformats.org/drawingml/2006/main" cx="11163300" cy="4381500"/>
        </p:xfrm>
        <a:graphic xmlns:a="http://schemas.openxmlformats.org/drawingml/2006/main">
          <a:graphicData uri="http://schemas.openxmlformats.org/drawingml/2006/table">
            <a:tbl>
              <a:tblPr/>
              <a:tblGrid>
                <a:gridCol w="3429000"/>
                <a:gridCol w="3857625"/>
                <a:gridCol w="3876675"/>
              </a:tblGrid>
              <a:tr h="625929">
                <a:tc>
                  <a:txBody>
                    <a:bodyPr/>
                    <a:lstStyle/>
                    <a:p>
                      <a:r>
                        <a:rPr sz="1875" b="1">
                          <a:solidFill>
                            <a:srgbClr val="243D3F"/>
                          </a:solidFill>
                        </a:rPr>
                        <a:t>Input</a:t>
                      </a:r>
                    </a:p>
                  </a:txBody>
                  <a:tcPr marL="91440" marR="91440" marT="45720" marB="45720">
                    <a:solidFill>
                      <a:srgbClr val="EEF4F0"/>
                    </a:solidFill>
                  </a:tcPr>
                </a:tc>
                <a:tc>
                  <a:txBody>
                    <a:bodyPr/>
                    <a:lstStyle/>
                    <a:p>
                      <a:r>
                        <a:rPr sz="1875" b="1">
                          <a:solidFill>
                            <a:srgbClr val="243D3F"/>
                          </a:solidFill>
                        </a:rPr>
                        <a:t>Role</a:t>
                      </a:r>
                    </a:p>
                  </a:txBody>
                  <a:tcPr marL="91440" marR="91440" marT="45720" marB="45720">
                    <a:solidFill>
                      <a:srgbClr val="EEF4F0"/>
                    </a:solidFill>
                  </a:tcPr>
                </a:tc>
                <a:tc>
                  <a:txBody>
                    <a:bodyPr/>
                    <a:lstStyle/>
                    <a:p>
                      <a:r>
                        <a:rPr sz="1875" b="1">
                          <a:solidFill>
                            <a:srgbClr val="243D3F"/>
                          </a:solidFill>
                        </a:rPr>
                        <a:t>Supported data</a:t>
                      </a:r>
                    </a:p>
                  </a:txBody>
                  <a:tcPr marL="91440" marR="91440" marT="45720" marB="45720">
                    <a:solidFill>
                      <a:srgbClr val="EEF4F0"/>
                    </a:solidFill>
                  </a:tcPr>
                </a:tc>
              </a:tr>
              <a:tr h="625929">
                <a:tc>
                  <a:txBody>
                    <a:bodyPr/>
                    <a:lstStyle/>
                    <a:p>
                      <a:r>
                        <a:rPr sz="1875" b="0">
                          <a:solidFill>
                            <a:srgbClr val="243D3F"/>
                          </a:solidFill>
                        </a:rPr>
                        <a:t>GRACE / GRACE-FO</a:t>
                      </a:r>
                    </a:p>
                  </a:txBody>
                  <a:tcPr marL="91440" marR="91440" marT="45720" marB="45720">
                    <a:solidFill>
                      <a:srgbClr val="FFFFFF"/>
                    </a:solidFill>
                  </a:tcPr>
                </a:tc>
                <a:tc>
                  <a:txBody>
                    <a:bodyPr/>
                    <a:lstStyle/>
                    <a:p>
                      <a:r>
                        <a:rPr sz="1875" b="0">
                          <a:solidFill>
                            <a:srgbClr val="243D3F"/>
                          </a:solidFill>
                        </a:rPr>
                        <a:t>TWSA target</a:t>
                      </a:r>
                    </a:p>
                  </a:txBody>
                  <a:tcPr marL="91440" marR="91440" marT="45720" marB="45720">
                    <a:solidFill>
                      <a:srgbClr val="FFFFFF"/>
                    </a:solidFill>
                  </a:tcPr>
                </a:tc>
                <a:tc>
                  <a:txBody>
                    <a:bodyPr/>
                    <a:lstStyle/>
                    <a:p>
                      <a:r>
                        <a:rPr sz="1875" b="0">
                          <a:solidFill>
                            <a:srgbClr val="243D3F"/>
                          </a:solidFill>
                        </a:rPr>
                        <a:t>Apr 2002–Sep 2024</a:t>
                      </a:r>
                    </a:p>
                  </a:txBody>
                  <a:tcPr marL="91440" marR="91440" marT="45720" marB="45720">
                    <a:solidFill>
                      <a:srgbClr val="FFFFFF"/>
                    </a:solidFill>
                  </a:tcPr>
                </a:tc>
              </a:tr>
              <a:tr h="625929">
                <a:tc>
                  <a:txBody>
                    <a:bodyPr/>
                    <a:lstStyle/>
                    <a:p>
                      <a:r>
                        <a:rPr sz="1875" b="0">
                          <a:solidFill>
                            <a:srgbClr val="243D3F"/>
                          </a:solidFill>
                        </a:rPr>
                        <a:t>GLDAS Noah</a:t>
                      </a:r>
                    </a:p>
                  </a:txBody>
                  <a:tcPr marL="91440" marR="91440" marT="45720" marB="45720">
                    <a:solidFill>
                      <a:srgbClr val="FFFFFF"/>
                    </a:solidFill>
                  </a:tcPr>
                </a:tc>
                <a:tc>
                  <a:txBody>
                    <a:bodyPr/>
                    <a:lstStyle/>
                    <a:p>
                      <a:r>
                        <a:rPr sz="1875" b="0">
                          <a:solidFill>
                            <a:srgbClr val="243D3F"/>
                          </a:solidFill>
                        </a:rPr>
                        <a:t>Soil, canopy, snow</a:t>
                      </a:r>
                    </a:p>
                  </a:txBody>
                  <a:tcPr marL="91440" marR="91440" marT="45720" marB="45720">
                    <a:solidFill>
                      <a:srgbClr val="FFFFFF"/>
                    </a:solidFill>
                  </a:tcPr>
                </a:tc>
                <a:tc>
                  <a:txBody>
                    <a:bodyPr/>
                    <a:lstStyle/>
                    <a:p>
                      <a:r>
                        <a:rPr sz="1875" b="0">
                          <a:solidFill>
                            <a:srgbClr val="243D3F"/>
                          </a:solidFill>
                        </a:rPr>
                        <a:t>Apr 2002–Sep 2024</a:t>
                      </a:r>
                    </a:p>
                  </a:txBody>
                  <a:tcPr marL="91440" marR="91440" marT="45720" marB="45720">
                    <a:solidFill>
                      <a:srgbClr val="FFFFFF"/>
                    </a:solidFill>
                  </a:tcPr>
                </a:tc>
              </a:tr>
              <a:tr h="625929">
                <a:tc>
                  <a:txBody>
                    <a:bodyPr/>
                    <a:lstStyle/>
                    <a:p>
                      <a:r>
                        <a:rPr sz="1875" b="0">
                          <a:solidFill>
                            <a:srgbClr val="243D3F"/>
                          </a:solidFill>
                        </a:rPr>
                        <a:t>G3P / LISFLOOD</a:t>
                      </a:r>
                    </a:p>
                  </a:txBody>
                  <a:tcPr marL="91440" marR="91440" marT="45720" marB="45720">
                    <a:solidFill>
                      <a:srgbClr val="FFFFFF"/>
                    </a:solidFill>
                  </a:tcPr>
                </a:tc>
                <a:tc>
                  <a:txBody>
                    <a:bodyPr/>
                    <a:lstStyle/>
                    <a:p>
                      <a:r>
                        <a:rPr sz="1875" b="0">
                          <a:solidFill>
                            <a:srgbClr val="243D3F"/>
                          </a:solidFill>
                        </a:rPr>
                        <a:t>Surface water</a:t>
                      </a:r>
                    </a:p>
                  </a:txBody>
                  <a:tcPr marL="91440" marR="91440" marT="45720" marB="45720">
                    <a:solidFill>
                      <a:srgbClr val="FFFFFF"/>
                    </a:solidFill>
                  </a:tcPr>
                </a:tc>
                <a:tc>
                  <a:txBody>
                    <a:bodyPr/>
                    <a:lstStyle/>
                    <a:p>
                      <a:r>
                        <a:rPr sz="1875" b="0">
                          <a:solidFill>
                            <a:srgbClr val="243D3F"/>
                          </a:solidFill>
                        </a:rPr>
                        <a:t>Apr 2002–Sep 2023</a:t>
                      </a:r>
                    </a:p>
                  </a:txBody>
                  <a:tcPr marL="91440" marR="91440" marT="45720" marB="45720">
                    <a:solidFill>
                      <a:srgbClr val="FFFFFF"/>
                    </a:solidFill>
                  </a:tcPr>
                </a:tc>
              </a:tr>
              <a:tr h="625929">
                <a:tc>
                  <a:txBody>
                    <a:bodyPr/>
                    <a:lstStyle/>
                    <a:p>
                      <a:r>
                        <a:rPr sz="1875" b="0">
                          <a:solidFill>
                            <a:srgbClr val="243D3F"/>
                          </a:solidFill>
                        </a:rPr>
                        <a:t>CHIRPS + GLEAM / MODIS</a:t>
                      </a:r>
                    </a:p>
                  </a:txBody>
                  <a:tcPr marL="91440" marR="91440" marT="45720" marB="45720">
                    <a:solidFill>
                      <a:srgbClr val="FFFFFF"/>
                    </a:solidFill>
                  </a:tcPr>
                </a:tc>
                <a:tc>
                  <a:txBody>
                    <a:bodyPr/>
                    <a:lstStyle/>
                    <a:p>
                      <a:r>
                        <a:rPr sz="1875" b="0">
                          <a:solidFill>
                            <a:srgbClr val="243D3F"/>
                          </a:solidFill>
                        </a:rPr>
                        <a:t>Precipitation + ET</a:t>
                      </a:r>
                    </a:p>
                  </a:txBody>
                  <a:tcPr marL="91440" marR="91440" marT="45720" marB="45720">
                    <a:solidFill>
                      <a:srgbClr val="FFFFFF"/>
                    </a:solidFill>
                  </a:tcPr>
                </a:tc>
                <a:tc>
                  <a:txBody>
                    <a:bodyPr/>
                    <a:lstStyle/>
                    <a:p>
                      <a:r>
                        <a:rPr sz="1875" b="0">
                          <a:solidFill>
                            <a:srgbClr val="243D3F"/>
                          </a:solidFill>
                        </a:rPr>
                        <a:t>Monthly climate forcing</a:t>
                      </a:r>
                    </a:p>
                  </a:txBody>
                  <a:tcPr marL="91440" marR="91440" marT="45720" marB="45720">
                    <a:solidFill>
                      <a:srgbClr val="FFFFFF"/>
                    </a:solidFill>
                  </a:tcPr>
                </a:tc>
              </a:tr>
              <a:tr h="625929">
                <a:tc>
                  <a:txBody>
                    <a:bodyPr/>
                    <a:lstStyle/>
                    <a:p>
                      <a:r>
                        <a:rPr sz="1875" b="0">
                          <a:solidFill>
                            <a:srgbClr val="243D3F"/>
                          </a:solidFill>
                        </a:rPr>
                        <a:t>ESA CCI SM + MODIS LST</a:t>
                      </a:r>
                    </a:p>
                  </a:txBody>
                  <a:tcPr marL="91440" marR="91440" marT="45720" marB="45720">
                    <a:solidFill>
                      <a:srgbClr val="FFFFFF"/>
                    </a:solidFill>
                  </a:tcPr>
                </a:tc>
                <a:tc>
                  <a:txBody>
                    <a:bodyPr/>
                    <a:lstStyle/>
                    <a:p>
                      <a:r>
                        <a:rPr sz="1875" b="0">
                          <a:solidFill>
                            <a:srgbClr val="243D3F"/>
                          </a:solidFill>
                        </a:rPr>
                        <a:t>State predictors</a:t>
                      </a:r>
                    </a:p>
                  </a:txBody>
                  <a:tcPr marL="91440" marR="91440" marT="45720" marB="45720">
                    <a:solidFill>
                      <a:srgbClr val="FFFFFF"/>
                    </a:solidFill>
                  </a:tcPr>
                </a:tc>
                <a:tc>
                  <a:txBody>
                    <a:bodyPr/>
                    <a:lstStyle/>
                    <a:p>
                      <a:r>
                        <a:rPr sz="1875" b="0">
                          <a:solidFill>
                            <a:srgbClr val="243D3F"/>
                          </a:solidFill>
                        </a:rPr>
                        <a:t>SSM, 0–1 m RZSM, LST</a:t>
                      </a:r>
                    </a:p>
                  </a:txBody>
                  <a:tcPr marL="91440" marR="91440" marT="45720" marB="45720">
                    <a:solidFill>
                      <a:srgbClr val="FFFFFF"/>
                    </a:solidFill>
                  </a:tcPr>
                </a:tc>
              </a:tr>
              <a:tr h="625929">
                <a:tc>
                  <a:txBody>
                    <a:bodyPr/>
                    <a:lstStyle/>
                    <a:p>
                      <a:r>
                        <a:rPr sz="1875" b="0">
                          <a:solidFill>
                            <a:srgbClr val="243D3F"/>
                          </a:solidFill>
                        </a:rPr>
                        <a:t>GROW actual Thai wells</a:t>
                      </a:r>
                    </a:p>
                  </a:txBody>
                  <a:tcPr marL="91440" marR="91440" marT="45720" marB="45720">
                    <a:solidFill>
                      <a:srgbClr val="FFFFFF"/>
                    </a:solidFill>
                  </a:tcPr>
                </a:tc>
                <a:tc>
                  <a:txBody>
                    <a:bodyPr/>
                    <a:lstStyle/>
                    <a:p>
                      <a:r>
                        <a:rPr sz="1875" b="0">
                          <a:solidFill>
                            <a:srgbClr val="243D3F"/>
                          </a:solidFill>
                        </a:rPr>
                        <a:t>Observation checks</a:t>
                      </a:r>
                    </a:p>
                  </a:txBody>
                  <a:tcPr marL="91440" marR="91440" marT="45720" marB="45720">
                    <a:solidFill>
                      <a:srgbClr val="FFFFFF"/>
                    </a:solidFill>
                  </a:tcPr>
                </a:tc>
                <a:tc>
                  <a:txBody>
                    <a:bodyPr/>
                    <a:lstStyle/>
                    <a:p>
                      <a:r>
                        <a:rPr sz="1875" b="0">
                          <a:solidFill>
                            <a:srgbClr val="243D3F"/>
                          </a:solidFill>
                        </a:rPr>
                        <a:t>2004–2024; mostly annual</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86426433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A780DCF7-63C6-410A-826E-10026A3F6ADD}"/>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GWSA requires the full storage balance</a:t>
            </a:r>
          </a:p>
        </p:txBody>
      </p:sp>
      <p:sp>
        <p:nvSpPr>
          <p:cNvPr id="2" name="body">
            <a:extLst xmlns:a="http://schemas.openxmlformats.org/drawingml/2006/main">
              <a:ext uri="{FF2B5EF4-FFF2-40B4-BE49-F238E27FC236}">
                <a16:creationId xmlns:a16="http://schemas.microsoft.com/office/drawing/2014/main" id="{C777572B-3591-4806-B5F9-078BD4D70938}"/>
              </a:ext>
            </a:extLst>
          </p:cNvPr>
          <p:cNvSpPr>
            <a:spLocks xmlns:a="http://schemas.openxmlformats.org/drawingml/2006/main" noGrp="1"/>
          </p:cNvSpPr>
          <p:nvPr/>
        </p:nvSpPr>
        <p:spPr>
          <a:xfrm xmlns:a="http://schemas.openxmlformats.org/drawingml/2006/main">
            <a:off x="514350" y="1619250"/>
            <a:ext cx="11163300" cy="9048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925" b="0">
                <a:solidFill>
                  <a:srgbClr val="243D3F"/>
                </a:solidFill>
              </a:defRPr>
            </a:pPr>
            <a:r>
              <a:t>GWSA = TWSA − SMSA − SWSA − CWSA − SWEA</a:t>
            </a:r>
          </a:p>
        </p:txBody>
      </p:sp>
      <p:sp>
        <p:nvSpPr>
          <p:cNvPr id="3" name="body">
            <a:extLst xmlns:a="http://schemas.openxmlformats.org/drawingml/2006/main">
              <a:ext uri="{FF2B5EF4-FFF2-40B4-BE49-F238E27FC236}">
                <a16:creationId xmlns:a16="http://schemas.microsoft.com/office/drawing/2014/main" id="{BB85A167-AE3B-48B1-8AF4-BB74855B0C15}"/>
              </a:ext>
            </a:extLst>
          </p:cNvPr>
          <p:cNvSpPr>
            <a:spLocks xmlns:a="http://schemas.openxmlformats.org/drawingml/2006/main" noGrp="1"/>
          </p:cNvSpPr>
          <p:nvPr/>
        </p:nvSpPr>
        <p:spPr>
          <a:xfrm xmlns:a="http://schemas.openxmlformats.org/drawingml/2006/main">
            <a:off x="514350" y="2809875"/>
            <a:ext cx="10953750" cy="8001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175" b="0">
                <a:solidFill>
                  <a:srgbClr val="243D3F"/>
                </a:solidFill>
              </a:defRPr>
            </a:pPr>
            <a:r>
              <a:t>All components use mm water equivalent and a common 2004–2009 anomaly reference.</a:t>
            </a:r>
          </a:p>
        </p:txBody>
      </p:sp>
      <p:sp>
        <p:nvSpPr>
          <p:cNvPr id="4" name="body">
            <a:extLst xmlns:a="http://schemas.openxmlformats.org/drawingml/2006/main">
              <a:ext uri="{FF2B5EF4-FFF2-40B4-BE49-F238E27FC236}">
                <a16:creationId xmlns:a16="http://schemas.microsoft.com/office/drawing/2014/main" id="{DE69C8CF-1513-423C-A63F-33708185A4C9}"/>
              </a:ext>
            </a:extLst>
          </p:cNvPr>
          <p:cNvSpPr>
            <a:spLocks xmlns:a="http://schemas.openxmlformats.org/drawingml/2006/main" noGrp="1"/>
          </p:cNvSpPr>
          <p:nvPr/>
        </p:nvSpPr>
        <p:spPr>
          <a:xfrm xmlns:a="http://schemas.openxmlformats.org/drawingml/2006/main">
            <a:off x="514350" y="3762375"/>
            <a:ext cx="10953750" cy="8001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175" b="0">
                <a:solidFill>
                  <a:srgbClr val="243D3F"/>
                </a:solidFill>
              </a:defRPr>
            </a:pPr>
            <a:r>
              <a:t>Surface water includes modeled rivers, lakes and reservoirs.</a:t>
            </a:r>
          </a:p>
        </p:txBody>
      </p:sp>
      <p:sp>
        <p:nvSpPr>
          <p:cNvPr id="5" name="body">
            <a:extLst xmlns:a="http://schemas.openxmlformats.org/drawingml/2006/main">
              <a:ext uri="{FF2B5EF4-FFF2-40B4-BE49-F238E27FC236}">
                <a16:creationId xmlns:a16="http://schemas.microsoft.com/office/drawing/2014/main" id="{FE4F6B1A-B433-42F5-A66F-599B340F93CC}"/>
              </a:ext>
            </a:extLst>
          </p:cNvPr>
          <p:cNvSpPr>
            <a:spLocks xmlns:a="http://schemas.openxmlformats.org/drawingml/2006/main" noGrp="1"/>
          </p:cNvSpPr>
          <p:nvPr/>
        </p:nvSpPr>
        <p:spPr>
          <a:xfrm xmlns:a="http://schemas.openxmlformats.org/drawingml/2006/main">
            <a:off x="514350" y="4714875"/>
            <a:ext cx="10953750" cy="8001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175" b="0">
                <a:solidFill>
                  <a:srgbClr val="243D3F"/>
                </a:solidFill>
              </a:defRPr>
            </a:pPr>
            <a:r>
              <a:t>Canopy and snow are retained; a zero surface-water correction is not assumed.</a:t>
            </a:r>
          </a:p>
        </p:txBody>
      </p:sp>
      <p:sp>
        <p:nvSpPr>
          <p:cNvPr id="6" name="source">
            <a:extLst xmlns:a="http://schemas.openxmlformats.org/drawingml/2006/main">
              <a:ext uri="{FF2B5EF4-FFF2-40B4-BE49-F238E27FC236}">
                <a16:creationId xmlns:a16="http://schemas.microsoft.com/office/drawing/2014/main" id="{B9CCD013-2222-4206-8E9C-F8A849A4AA0B}"/>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Sources: local GRACE • GLDAS Noah • G3P v1.12</a:t>
            </a:r>
          </a:p>
        </p:txBody>
      </p:sp>
      <p:sp>
        <p:nvSpPr>
          <p:cNvPr id="7" name="page">
            <a:extLst xmlns:a="http://schemas.openxmlformats.org/drawingml/2006/main">
              <a:ext uri="{FF2B5EF4-FFF2-40B4-BE49-F238E27FC236}">
                <a16:creationId xmlns:a16="http://schemas.microsoft.com/office/drawing/2014/main" id="{EF93A43B-3A98-491C-8AD8-16AA856E9A47}"/>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04</a:t>
            </a:r>
          </a:p>
        </p:txBody>
      </p:sp>
    </p:spTree>
    <p:extLst>
      <p:ext uri="{BB962C8B-B14F-4D97-AF65-F5344CB8AC3E}">
        <p14:creationId xmlns:p14="http://schemas.microsoft.com/office/powerpoint/2010/main" val="191249394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6B933F2F-ABA3-4ED3-B466-43AC64116A02}"/>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Spatial support constrains basin interpretation</a:t>
            </a:r>
          </a:p>
        </p:txBody>
      </p:sp>
      <p:sp>
        <p:nvSpPr>
          <p:cNvPr id="2" name="body">
            <a:extLst xmlns:a="http://schemas.openxmlformats.org/drawingml/2006/main">
              <a:ext uri="{FF2B5EF4-FFF2-40B4-BE49-F238E27FC236}">
                <a16:creationId xmlns:a16="http://schemas.microsoft.com/office/drawing/2014/main" id="{679CD740-F30F-4C15-BCD7-D3C496977B01}"/>
              </a:ext>
            </a:extLst>
          </p:cNvPr>
          <p:cNvSpPr>
            <a:spLocks xmlns:a="http://schemas.openxmlformats.org/drawingml/2006/main" noGrp="1"/>
          </p:cNvSpPr>
          <p:nvPr/>
        </p:nvSpPr>
        <p:spPr>
          <a:xfrm xmlns:a="http://schemas.openxmlformats.org/drawingml/2006/main">
            <a:off x="514350" y="161925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Fractional polygon–grid intersection areas weight all 22 basins and Thailand.</a:t>
            </a:r>
          </a:p>
        </p:txBody>
      </p:sp>
      <p:sp>
        <p:nvSpPr>
          <p:cNvPr id="3" name="body">
            <a:extLst xmlns:a="http://schemas.openxmlformats.org/drawingml/2006/main">
              <a:ext uri="{FF2B5EF4-FFF2-40B4-BE49-F238E27FC236}">
                <a16:creationId xmlns:a16="http://schemas.microsoft.com/office/drawing/2014/main" id="{CB9313F1-9CD9-477D-AB0A-C5B7ABF0EF68}"/>
              </a:ext>
            </a:extLst>
          </p:cNvPr>
          <p:cNvSpPr>
            <a:spLocks xmlns:a="http://schemas.openxmlformats.org/drawingml/2006/main" noGrp="1"/>
          </p:cNvSpPr>
          <p:nvPr/>
        </p:nvSpPr>
        <p:spPr>
          <a:xfrm xmlns:a="http://schemas.openxmlformats.org/drawingml/2006/main">
            <a:off x="514350" y="3000375"/>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G3P 0.5° parent cells are replicated into aligned 0.25° cells without adding information.</a:t>
            </a:r>
          </a:p>
        </p:txBody>
      </p:sp>
      <p:sp>
        <p:nvSpPr>
          <p:cNvPr id="4" name="body">
            <a:extLst xmlns:a="http://schemas.openxmlformats.org/drawingml/2006/main">
              <a:ext uri="{FF2B5EF4-FFF2-40B4-BE49-F238E27FC236}">
                <a16:creationId xmlns:a16="http://schemas.microsoft.com/office/drawing/2014/main" id="{B2F4F4B7-8A81-4EE1-8761-638E9B1E82A8}"/>
              </a:ext>
            </a:extLst>
          </p:cNvPr>
          <p:cNvSpPr>
            <a:spLocks xmlns:a="http://schemas.openxmlformats.org/drawingml/2006/main" noGrp="1"/>
          </p:cNvSpPr>
          <p:nvPr/>
        </p:nvSpPr>
        <p:spPr>
          <a:xfrm xmlns:a="http://schemas.openxmlformats.org/drawingml/2006/main">
            <a:off x="514350" y="438150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Coastal forcing coverage and shared coarse GRACE support remain explicit.</a:t>
            </a:r>
          </a:p>
        </p:txBody>
      </p:sp>
      <p:sp>
        <p:nvSpPr>
          <p:cNvPr id="5" name="source">
            <a:extLst xmlns:a="http://schemas.openxmlformats.org/drawingml/2006/main">
              <a:ext uri="{FF2B5EF4-FFF2-40B4-BE49-F238E27FC236}">
                <a16:creationId xmlns:a16="http://schemas.microsoft.com/office/drawing/2014/main" id="{BA493A65-DA3A-4EC3-A753-A8FF70D03D33}"/>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6" name="page">
            <a:extLst xmlns:a="http://schemas.openxmlformats.org/drawingml/2006/main">
              <a:ext uri="{FF2B5EF4-FFF2-40B4-BE49-F238E27FC236}">
                <a16:creationId xmlns:a16="http://schemas.microsoft.com/office/drawing/2014/main" id="{10AEC5B4-4899-4436-A739-D72A407E9E0D}"/>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05</a:t>
            </a:r>
          </a:p>
        </p:txBody>
      </p:sp>
    </p:spTree>
    <p:extLst>
      <p:ext uri="{BB962C8B-B14F-4D97-AF65-F5344CB8AC3E}">
        <p14:creationId xmlns:p14="http://schemas.microsoft.com/office/powerpoint/2010/main" val="149899483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6FCFEB46-4B09-40D9-9B96-28FDA100F1CE}"/>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Trend tests use actual dates and seasonality</a:t>
            </a:r>
          </a:p>
        </p:txBody>
      </p:sp>
      <p:sp>
        <p:nvSpPr>
          <p:cNvPr id="2" name="body">
            <a:extLst xmlns:a="http://schemas.openxmlformats.org/drawingml/2006/main">
              <a:ext uri="{FF2B5EF4-FFF2-40B4-BE49-F238E27FC236}">
                <a16:creationId xmlns:a16="http://schemas.microsoft.com/office/drawing/2014/main" id="{7C8832F7-F20B-4393-9410-D3901399482F}"/>
              </a:ext>
            </a:extLst>
          </p:cNvPr>
          <p:cNvSpPr>
            <a:spLocks xmlns:a="http://schemas.openxmlformats.org/drawingml/2006/main" noGrp="1"/>
          </p:cNvSpPr>
          <p:nvPr/>
        </p:nvSpPr>
        <p:spPr>
          <a:xfrm xmlns:a="http://schemas.openxmlformats.org/drawingml/2006/main">
            <a:off x="514350" y="161925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Seasonal Sen: median same-calendar-month changes per actual elapsed year.</a:t>
            </a:r>
          </a:p>
        </p:txBody>
      </p:sp>
      <p:sp>
        <p:nvSpPr>
          <p:cNvPr id="3" name="body">
            <a:extLst xmlns:a="http://schemas.openxmlformats.org/drawingml/2006/main">
              <a:ext uri="{FF2B5EF4-FFF2-40B4-BE49-F238E27FC236}">
                <a16:creationId xmlns:a16="http://schemas.microsoft.com/office/drawing/2014/main" id="{9AB89EE9-2ABB-4FEC-A80A-ECF8FE82F59A}"/>
              </a:ext>
            </a:extLst>
          </p:cNvPr>
          <p:cNvSpPr>
            <a:spLocks xmlns:a="http://schemas.openxmlformats.org/drawingml/2006/main" noGrp="1"/>
          </p:cNvSpPr>
          <p:nvPr/>
        </p:nvSpPr>
        <p:spPr>
          <a:xfrm xmlns:a="http://schemas.openxmlformats.org/drawingml/2006/main">
            <a:off x="514350" y="3000375"/>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Original and seasonal Mann–Kendall, annual tests and FDR q-values are retained.</a:t>
            </a:r>
          </a:p>
        </p:txBody>
      </p:sp>
      <p:sp>
        <p:nvSpPr>
          <p:cNvPr id="4" name="body">
            <a:extLst xmlns:a="http://schemas.openxmlformats.org/drawingml/2006/main">
              <a:ext uri="{FF2B5EF4-FFF2-40B4-BE49-F238E27FC236}">
                <a16:creationId xmlns:a16="http://schemas.microsoft.com/office/drawing/2014/main" id="{47B87B2F-F033-4E88-835B-38A21E52F001}"/>
              </a:ext>
            </a:extLst>
          </p:cNvPr>
          <p:cNvSpPr>
            <a:spLocks xmlns:a="http://schemas.openxmlformats.org/drawingml/2006/main" noGrp="1"/>
          </p:cNvSpPr>
          <p:nvPr/>
        </p:nvSpPr>
        <p:spPr>
          <a:xfrm xmlns:a="http://schemas.openxmlformats.org/drawingml/2006/main">
            <a:off x="514350" y="438150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300 calendar-year block bootstraps quantify basin slope intervals.</a:t>
            </a:r>
          </a:p>
        </p:txBody>
      </p:sp>
      <p:sp>
        <p:nvSpPr>
          <p:cNvPr id="5" name="source">
            <a:extLst xmlns:a="http://schemas.openxmlformats.org/drawingml/2006/main">
              <a:ext uri="{FF2B5EF4-FFF2-40B4-BE49-F238E27FC236}">
                <a16:creationId xmlns:a16="http://schemas.microsoft.com/office/drawing/2014/main" id="{16910010-9292-434B-A1AE-60163802C586}"/>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6" name="page">
            <a:extLst xmlns:a="http://schemas.openxmlformats.org/drawingml/2006/main">
              <a:ext uri="{FF2B5EF4-FFF2-40B4-BE49-F238E27FC236}">
                <a16:creationId xmlns:a16="http://schemas.microsoft.com/office/drawing/2014/main" id="{BBF150C8-BA37-4856-9626-BC82F3F7283E}"/>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06</a:t>
            </a:r>
          </a:p>
        </p:txBody>
      </p:sp>
    </p:spTree>
    <p:extLst>
      <p:ext uri="{BB962C8B-B14F-4D97-AF65-F5344CB8AC3E}">
        <p14:creationId xmlns:p14="http://schemas.microsoft.com/office/powerpoint/2010/main" val="947979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80B7287E-9927-4E8C-BB95-7CE0F57B8AB2}"/>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National storage declines over the observed record</a:t>
            </a:r>
          </a:p>
        </p:txBody>
      </p:sp>
      <p:sp>
        <p:nvSpPr>
          <p:cNvPr id="2" name="source">
            <a:extLst xmlns:a="http://schemas.openxmlformats.org/drawingml/2006/main">
              <a:ext uri="{FF2B5EF4-FFF2-40B4-BE49-F238E27FC236}">
                <a16:creationId xmlns:a16="http://schemas.microsoft.com/office/drawing/2014/main" id="{354AD85E-CF92-4A14-921B-16511668E980}"/>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3" name="page">
            <a:extLst xmlns:a="http://schemas.openxmlformats.org/drawingml/2006/main">
              <a:ext uri="{FF2B5EF4-FFF2-40B4-BE49-F238E27FC236}">
                <a16:creationId xmlns:a16="http://schemas.microsoft.com/office/drawing/2014/main" id="{B2EF4B60-0ECD-48A4-8598-8D1F508FF459}"/>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07</a:t>
            </a:r>
          </a:p>
        </p:txBody>
      </p:sp>
      <p:graphicFrame>
        <p:nvGraphicFramePr>
          <p:cNvPr id="9" name=""/>
          <p:cNvGraphicFramePr/>
          <p:nvPr/>
        </p:nvGraphicFramePr>
        <p:xfrm>
          <a:off xmlns:a="http://schemas.openxmlformats.org/drawingml/2006/main" x="514350" y="1714500"/>
          <a:ext xmlns:a="http://schemas.openxmlformats.org/drawingml/2006/main" cx="11163300" cy="2333625"/>
        </p:xfrm>
        <a:graphic xmlns:a="http://schemas.openxmlformats.org/drawingml/2006/main">
          <a:graphicData uri="http://schemas.openxmlformats.org/drawingml/2006/table">
            <a:tbl>
              <a:tblPr/>
              <a:tblGrid>
                <a:gridCol w="2190750"/>
                <a:gridCol w="2857500"/>
                <a:gridCol w="3667125"/>
                <a:gridCol w="2447925"/>
              </a:tblGrid>
              <a:tr h="777875">
                <a:tc>
                  <a:txBody>
                    <a:bodyPr/>
                    <a:lstStyle/>
                    <a:p>
                      <a:r>
                        <a:rPr sz="1875" b="1">
                          <a:solidFill>
                            <a:srgbClr val="243D3F"/>
                          </a:solidFill>
                        </a:rPr>
                        <a:t>Storage</a:t>
                      </a:r>
                    </a:p>
                  </a:txBody>
                  <a:tcPr marL="91440" marR="91440" marT="45720" marB="45720">
                    <a:solidFill>
                      <a:srgbClr val="EEF4F0"/>
                    </a:solidFill>
                  </a:tcPr>
                </a:tc>
                <a:tc>
                  <a:txBody>
                    <a:bodyPr/>
                    <a:lstStyle/>
                    <a:p>
                      <a:r>
                        <a:rPr sz="1875" b="1">
                          <a:solidFill>
                            <a:srgbClr val="243D3F"/>
                          </a:solidFill>
                        </a:rPr>
                        <a:t>Sen slope</a:t>
                      </a:r>
                    </a:p>
                  </a:txBody>
                  <a:tcPr marL="91440" marR="91440" marT="45720" marB="45720">
                    <a:solidFill>
                      <a:srgbClr val="EEF4F0"/>
                    </a:solidFill>
                  </a:tcPr>
                </a:tc>
                <a:tc>
                  <a:txBody>
                    <a:bodyPr/>
                    <a:lstStyle/>
                    <a:p>
                      <a:r>
                        <a:rPr sz="1875" b="1">
                          <a:solidFill>
                            <a:srgbClr val="243D3F"/>
                          </a:solidFill>
                        </a:rPr>
                        <a:t>Bootstrap 95% interval</a:t>
                      </a:r>
                    </a:p>
                  </a:txBody>
                  <a:tcPr marL="91440" marR="91440" marT="45720" marB="45720">
                    <a:solidFill>
                      <a:srgbClr val="EEF4F0"/>
                    </a:solidFill>
                  </a:tcPr>
                </a:tc>
                <a:tc>
                  <a:txBody>
                    <a:bodyPr/>
                    <a:lstStyle/>
                    <a:p>
                      <a:r>
                        <a:rPr sz="1875" b="1">
                          <a:solidFill>
                            <a:srgbClr val="243D3F"/>
                          </a:solidFill>
                        </a:rPr>
                        <a:t>Period</a:t>
                      </a:r>
                    </a:p>
                  </a:txBody>
                  <a:tcPr marL="91440" marR="91440" marT="45720" marB="45720">
                    <a:solidFill>
                      <a:srgbClr val="EEF4F0"/>
                    </a:solidFill>
                  </a:tcPr>
                </a:tc>
              </a:tr>
              <a:tr h="777875">
                <a:tc>
                  <a:txBody>
                    <a:bodyPr/>
                    <a:lstStyle/>
                    <a:p>
                      <a:r>
                        <a:rPr sz="1875" b="0">
                          <a:solidFill>
                            <a:srgbClr val="243D3F"/>
                          </a:solidFill>
                        </a:rPr>
                        <a:t>TWSA</a:t>
                      </a:r>
                    </a:p>
                  </a:txBody>
                  <a:tcPr marL="91440" marR="91440" marT="45720" marB="45720">
                    <a:solidFill>
                      <a:srgbClr val="FFFFFF"/>
                    </a:solidFill>
                  </a:tcPr>
                </a:tc>
                <a:tc>
                  <a:txBody>
                    <a:bodyPr/>
                    <a:lstStyle/>
                    <a:p>
                      <a:r>
                        <a:rPr sz="1875" b="0">
                          <a:solidFill>
                            <a:srgbClr val="243D3F"/>
                          </a:solidFill>
                        </a:rPr>
                        <a:t>-7.46 mm/year</a:t>
                      </a:r>
                    </a:p>
                  </a:txBody>
                  <a:tcPr marL="91440" marR="91440" marT="45720" marB="45720">
                    <a:solidFill>
                      <a:srgbClr val="FFFFFF"/>
                    </a:solidFill>
                  </a:tcPr>
                </a:tc>
                <a:tc>
                  <a:txBody>
                    <a:bodyPr/>
                    <a:lstStyle/>
                    <a:p>
                      <a:r>
                        <a:rPr sz="1875" b="0">
                          <a:solidFill>
                            <a:srgbClr val="243D3F"/>
                          </a:solidFill>
                        </a:rPr>
                        <a:t>-9.60 to -5.69</a:t>
                      </a:r>
                    </a:p>
                  </a:txBody>
                  <a:tcPr marL="91440" marR="91440" marT="45720" marB="45720">
                    <a:solidFill>
                      <a:srgbClr val="FFFFFF"/>
                    </a:solidFill>
                  </a:tcPr>
                </a:tc>
                <a:tc>
                  <a:txBody>
                    <a:bodyPr/>
                    <a:lstStyle/>
                    <a:p>
                      <a:r>
                        <a:rPr sz="1875" b="0">
                          <a:solidFill>
                            <a:srgbClr val="243D3F"/>
                          </a:solidFill>
                        </a:rPr>
                        <a:t>2002–2024</a:t>
                      </a:r>
                    </a:p>
                  </a:txBody>
                  <a:tcPr marL="91440" marR="91440" marT="45720" marB="45720">
                    <a:solidFill>
                      <a:srgbClr val="FFFFFF"/>
                    </a:solidFill>
                  </a:tcPr>
                </a:tc>
              </a:tr>
              <a:tr h="777875">
                <a:tc>
                  <a:txBody>
                    <a:bodyPr/>
                    <a:lstStyle/>
                    <a:p>
                      <a:r>
                        <a:rPr sz="1875" b="0">
                          <a:solidFill>
                            <a:srgbClr val="243D3F"/>
                          </a:solidFill>
                        </a:rPr>
                        <a:t>GWSA</a:t>
                      </a:r>
                    </a:p>
                  </a:txBody>
                  <a:tcPr marL="91440" marR="91440" marT="45720" marB="45720">
                    <a:solidFill>
                      <a:srgbClr val="FFFFFF"/>
                    </a:solidFill>
                  </a:tcPr>
                </a:tc>
                <a:tc>
                  <a:txBody>
                    <a:bodyPr/>
                    <a:lstStyle/>
                    <a:p>
                      <a:r>
                        <a:rPr sz="1875" b="0">
                          <a:solidFill>
                            <a:srgbClr val="243D3F"/>
                          </a:solidFill>
                        </a:rPr>
                        <a:t>-6.82 mm/year</a:t>
                      </a:r>
                    </a:p>
                  </a:txBody>
                  <a:tcPr marL="91440" marR="91440" marT="45720" marB="45720">
                    <a:solidFill>
                      <a:srgbClr val="FFFFFF"/>
                    </a:solidFill>
                  </a:tcPr>
                </a:tc>
                <a:tc>
                  <a:txBody>
                    <a:bodyPr/>
                    <a:lstStyle/>
                    <a:p>
                      <a:r>
                        <a:rPr sz="1875" b="0">
                          <a:solidFill>
                            <a:srgbClr val="243D3F"/>
                          </a:solidFill>
                        </a:rPr>
                        <a:t>-8.64 to -5.13</a:t>
                      </a:r>
                    </a:p>
                  </a:txBody>
                  <a:tcPr marL="91440" marR="91440" marT="45720" marB="45720">
                    <a:solidFill>
                      <a:srgbClr val="FFFFFF"/>
                    </a:solidFill>
                  </a:tcPr>
                </a:tc>
                <a:tc>
                  <a:txBody>
                    <a:bodyPr/>
                    <a:lstStyle/>
                    <a:p>
                      <a:r>
                        <a:rPr sz="1875" b="0">
                          <a:solidFill>
                            <a:srgbClr val="243D3F"/>
                          </a:solidFill>
                        </a:rPr>
                        <a:t>2002–2023</a:t>
                      </a:r>
                    </a:p>
                  </a:txBody>
                  <a:tcPr marL="91440" marR="91440" marT="45720" marB="45720">
                    <a:solidFill>
                      <a:srgbClr val="FFFFFF"/>
                    </a:solidFill>
                  </a:tcPr>
                </a:tc>
              </a:tr>
            </a:tbl>
          </a:graphicData>
        </a:graphic>
      </p:graphicFrame>
      <p:sp>
        <p:nvSpPr>
          <p:cNvPr id="5" name="body">
            <a:extLst xmlns:a="http://schemas.openxmlformats.org/drawingml/2006/main">
              <a:ext uri="{FF2B5EF4-FFF2-40B4-BE49-F238E27FC236}">
                <a16:creationId xmlns:a16="http://schemas.microsoft.com/office/drawing/2014/main" id="{36182684-5BD6-4448-9780-233DED102321}"/>
              </a:ext>
            </a:extLst>
          </p:cNvPr>
          <p:cNvSpPr>
            <a:spLocks xmlns:a="http://schemas.openxmlformats.org/drawingml/2006/main" noGrp="1"/>
          </p:cNvSpPr>
          <p:nvPr/>
        </p:nvSpPr>
        <p:spPr>
          <a:xfrm xmlns:a="http://schemas.openxmlformats.org/drawingml/2006/main">
            <a:off x="514350" y="4714875"/>
            <a:ext cx="10953750" cy="10477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475" b="0">
                <a:solidFill>
                  <a:srgbClr val="243D3F"/>
                </a:solidFill>
              </a:defRPr>
            </a:pPr>
            <a:r>
              <a:t>Declining storage is an observed signal; its causes require separate evidence.</a:t>
            </a:r>
          </a:p>
        </p:txBody>
      </p:sp>
    </p:spTree>
    <p:extLst>
      <p:ext uri="{BB962C8B-B14F-4D97-AF65-F5344CB8AC3E}">
        <p14:creationId xmlns:p14="http://schemas.microsoft.com/office/powerpoint/2010/main" val="43199629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E1028E3C-0553-4C67-BFB0-36055F823D97}"/>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All 22 basins have storage-trend estimates</a:t>
            </a:r>
          </a:p>
        </p:txBody>
      </p:sp>
      <p:sp>
        <p:nvSpPr>
          <p:cNvPr id="2" name="source">
            <a:extLst xmlns:a="http://schemas.openxmlformats.org/drawingml/2006/main">
              <a:ext uri="{FF2B5EF4-FFF2-40B4-BE49-F238E27FC236}">
                <a16:creationId xmlns:a16="http://schemas.microsoft.com/office/drawing/2014/main" id="{C5EFE1C3-D078-44F7-A93C-303EEC7419B7}"/>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Seasonal Sen slopes • mm/year • shared coarse GRACE support</a:t>
            </a:r>
          </a:p>
        </p:txBody>
      </p:sp>
      <p:sp>
        <p:nvSpPr>
          <p:cNvPr id="3" name="page">
            <a:extLst xmlns:a="http://schemas.openxmlformats.org/drawingml/2006/main">
              <a:ext uri="{FF2B5EF4-FFF2-40B4-BE49-F238E27FC236}">
                <a16:creationId xmlns:a16="http://schemas.microsoft.com/office/drawing/2014/main" id="{9028BB85-5D1E-4A3A-AD16-EA9548C3E180}"/>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08</a:t>
            </a:r>
          </a:p>
        </p:txBody>
      </p:sp>
      <p:graphicFrame>
        <p:nvGraphicFramePr>
          <p:cNvPr id="9" name=""/>
          <p:cNvGraphicFramePr/>
          <p:nvPr/>
        </p:nvGraphicFramePr>
        <p:xfrm>
          <a:off xmlns:a="http://schemas.openxmlformats.org/drawingml/2006/main" x="514350" y="1571625"/>
          <a:ext xmlns:a="http://schemas.openxmlformats.org/drawingml/2006/main" cx="5391150" cy="4572000"/>
        </p:xfrm>
        <a:graphic xmlns:a="http://schemas.openxmlformats.org/drawingml/2006/main">
          <a:graphicData uri="http://schemas.openxmlformats.org/drawingml/2006/table">
            <a:tbl>
              <a:tblPr/>
              <a:tblGrid>
                <a:gridCol w="3429000"/>
                <a:gridCol w="981075"/>
                <a:gridCol w="981075"/>
              </a:tblGrid>
              <a:tr h="381000">
                <a:tc>
                  <a:txBody>
                    <a:bodyPr/>
                    <a:lstStyle/>
                    <a:p>
                      <a:r>
                        <a:rPr sz="1725" b="1">
                          <a:solidFill>
                            <a:srgbClr val="243D3F"/>
                          </a:solidFill>
                        </a:rPr>
                        <a:t>Basin</a:t>
                      </a:r>
                    </a:p>
                  </a:txBody>
                  <a:tcPr marL="91440" marR="91440" marT="45720" marB="45720">
                    <a:solidFill>
                      <a:srgbClr val="EEF4F0"/>
                    </a:solidFill>
                  </a:tcPr>
                </a:tc>
                <a:tc>
                  <a:txBody>
                    <a:bodyPr/>
                    <a:lstStyle/>
                    <a:p>
                      <a:r>
                        <a:rPr sz="1725" b="1">
                          <a:solidFill>
                            <a:srgbClr val="243D3F"/>
                          </a:solidFill>
                        </a:rPr>
                        <a:t>TWSA</a:t>
                      </a:r>
                    </a:p>
                  </a:txBody>
                  <a:tcPr marL="91440" marR="91440" marT="45720" marB="45720">
                    <a:solidFill>
                      <a:srgbClr val="EEF4F0"/>
                    </a:solidFill>
                  </a:tcPr>
                </a:tc>
                <a:tc>
                  <a:txBody>
                    <a:bodyPr/>
                    <a:lstStyle/>
                    <a:p>
                      <a:r>
                        <a:rPr sz="1725" b="1">
                          <a:solidFill>
                            <a:srgbClr val="243D3F"/>
                          </a:solidFill>
                        </a:rPr>
                        <a:t>GWSA</a:t>
                      </a:r>
                    </a:p>
                  </a:txBody>
                  <a:tcPr marL="91440" marR="91440" marT="45720" marB="45720">
                    <a:solidFill>
                      <a:srgbClr val="EEF4F0"/>
                    </a:solidFill>
                  </a:tcPr>
                </a:tc>
              </a:tr>
              <a:tr h="381000">
                <a:tc>
                  <a:txBody>
                    <a:bodyPr/>
                    <a:lstStyle/>
                    <a:p>
                      <a:r>
                        <a:rPr sz="1725" b="0">
                          <a:solidFill>
                            <a:srgbClr val="243D3F"/>
                          </a:solidFill>
                        </a:rPr>
                        <a:t>Salawin</a:t>
                      </a:r>
                    </a:p>
                  </a:txBody>
                  <a:tcPr marL="91440" marR="91440" marT="45720" marB="45720">
                    <a:solidFill>
                      <a:srgbClr val="FFFFFF"/>
                    </a:solidFill>
                  </a:tcPr>
                </a:tc>
                <a:tc>
                  <a:txBody>
                    <a:bodyPr/>
                    <a:lstStyle/>
                    <a:p>
                      <a:r>
                        <a:rPr sz="1725" b="0">
                          <a:solidFill>
                            <a:srgbClr val="243D3F"/>
                          </a:solidFill>
                        </a:rPr>
                        <a:t>-3.55</a:t>
                      </a:r>
                    </a:p>
                  </a:txBody>
                  <a:tcPr marL="91440" marR="91440" marT="45720" marB="45720">
                    <a:solidFill>
                      <a:srgbClr val="FFFFFF"/>
                    </a:solidFill>
                  </a:tcPr>
                </a:tc>
                <a:tc>
                  <a:txBody>
                    <a:bodyPr/>
                    <a:lstStyle/>
                    <a:p>
                      <a:r>
                        <a:rPr sz="1725" b="0">
                          <a:solidFill>
                            <a:srgbClr val="243D3F"/>
                          </a:solidFill>
                        </a:rPr>
                        <a:t>-2.82</a:t>
                      </a:r>
                    </a:p>
                  </a:txBody>
                  <a:tcPr marL="91440" marR="91440" marT="45720" marB="45720">
                    <a:solidFill>
                      <a:srgbClr val="FFFFFF"/>
                    </a:solidFill>
                  </a:tcPr>
                </a:tc>
              </a:tr>
              <a:tr h="381000">
                <a:tc>
                  <a:txBody>
                    <a:bodyPr/>
                    <a:lstStyle/>
                    <a:p>
                      <a:r>
                        <a:rPr sz="1725" b="0">
                          <a:solidFill>
                            <a:srgbClr val="243D3F"/>
                          </a:solidFill>
                        </a:rPr>
                        <a:t>North Khong</a:t>
                      </a:r>
                    </a:p>
                  </a:txBody>
                  <a:tcPr marL="91440" marR="91440" marT="45720" marB="45720">
                    <a:solidFill>
                      <a:srgbClr val="FFFFFF"/>
                    </a:solidFill>
                  </a:tcPr>
                </a:tc>
                <a:tc>
                  <a:txBody>
                    <a:bodyPr/>
                    <a:lstStyle/>
                    <a:p>
                      <a:r>
                        <a:rPr sz="1725" b="0">
                          <a:solidFill>
                            <a:srgbClr val="243D3F"/>
                          </a:solidFill>
                        </a:rPr>
                        <a:t>-1.94</a:t>
                      </a:r>
                    </a:p>
                  </a:txBody>
                  <a:tcPr marL="91440" marR="91440" marT="45720" marB="45720">
                    <a:solidFill>
                      <a:srgbClr val="FFFFFF"/>
                    </a:solidFill>
                  </a:tcPr>
                </a:tc>
                <a:tc>
                  <a:txBody>
                    <a:bodyPr/>
                    <a:lstStyle/>
                    <a:p>
                      <a:r>
                        <a:rPr sz="1725" b="0">
                          <a:solidFill>
                            <a:srgbClr val="243D3F"/>
                          </a:solidFill>
                        </a:rPr>
                        <a:t>-1.82</a:t>
                      </a:r>
                    </a:p>
                  </a:txBody>
                  <a:tcPr marL="91440" marR="91440" marT="45720" marB="45720">
                    <a:solidFill>
                      <a:srgbClr val="FFFFFF"/>
                    </a:solidFill>
                  </a:tcPr>
                </a:tc>
              </a:tr>
              <a:tr h="381000">
                <a:tc>
                  <a:txBody>
                    <a:bodyPr/>
                    <a:lstStyle/>
                    <a:p>
                      <a:r>
                        <a:rPr sz="1725" b="0">
                          <a:solidFill>
                            <a:srgbClr val="243D3F"/>
                          </a:solidFill>
                        </a:rPr>
                        <a:t>Northeast Khong</a:t>
                      </a:r>
                    </a:p>
                  </a:txBody>
                  <a:tcPr marL="91440" marR="91440" marT="45720" marB="45720">
                    <a:solidFill>
                      <a:srgbClr val="FFFFFF"/>
                    </a:solidFill>
                  </a:tcPr>
                </a:tc>
                <a:tc>
                  <a:txBody>
                    <a:bodyPr/>
                    <a:lstStyle/>
                    <a:p>
                      <a:r>
                        <a:rPr sz="1725" b="0">
                          <a:solidFill>
                            <a:srgbClr val="243D3F"/>
                          </a:solidFill>
                        </a:rPr>
                        <a:t>-1.34</a:t>
                      </a:r>
                    </a:p>
                  </a:txBody>
                  <a:tcPr marL="91440" marR="91440" marT="45720" marB="45720">
                    <a:solidFill>
                      <a:srgbClr val="FFFFFF"/>
                    </a:solidFill>
                  </a:tcPr>
                </a:tc>
                <a:tc>
                  <a:txBody>
                    <a:bodyPr/>
                    <a:lstStyle/>
                    <a:p>
                      <a:r>
                        <a:rPr sz="1725" b="0">
                          <a:solidFill>
                            <a:srgbClr val="243D3F"/>
                          </a:solidFill>
                        </a:rPr>
                        <a:t>-1.61</a:t>
                      </a:r>
                    </a:p>
                  </a:txBody>
                  <a:tcPr marL="91440" marR="91440" marT="45720" marB="45720">
                    <a:solidFill>
                      <a:srgbClr val="FFFFFF"/>
                    </a:solidFill>
                  </a:tcPr>
                </a:tc>
              </a:tr>
              <a:tr h="381000">
                <a:tc>
                  <a:txBody>
                    <a:bodyPr/>
                    <a:lstStyle/>
                    <a:p>
                      <a:r>
                        <a:rPr sz="1725" b="0">
                          <a:solidFill>
                            <a:srgbClr val="243D3F"/>
                          </a:solidFill>
                        </a:rPr>
                        <a:t>Chi</a:t>
                      </a:r>
                    </a:p>
                  </a:txBody>
                  <a:tcPr marL="91440" marR="91440" marT="45720" marB="45720">
                    <a:solidFill>
                      <a:srgbClr val="FFFFFF"/>
                    </a:solidFill>
                  </a:tcPr>
                </a:tc>
                <a:tc>
                  <a:txBody>
                    <a:bodyPr/>
                    <a:lstStyle/>
                    <a:p>
                      <a:r>
                        <a:rPr sz="1725" b="0">
                          <a:solidFill>
                            <a:srgbClr val="243D3F"/>
                          </a:solidFill>
                        </a:rPr>
                        <a:t>-3.62</a:t>
                      </a:r>
                    </a:p>
                  </a:txBody>
                  <a:tcPr marL="91440" marR="91440" marT="45720" marB="45720">
                    <a:solidFill>
                      <a:srgbClr val="FFFFFF"/>
                    </a:solidFill>
                  </a:tcPr>
                </a:tc>
                <a:tc>
                  <a:txBody>
                    <a:bodyPr/>
                    <a:lstStyle/>
                    <a:p>
                      <a:r>
                        <a:rPr sz="1725" b="0">
                          <a:solidFill>
                            <a:srgbClr val="243D3F"/>
                          </a:solidFill>
                        </a:rPr>
                        <a:t>-3.35</a:t>
                      </a:r>
                    </a:p>
                  </a:txBody>
                  <a:tcPr marL="91440" marR="91440" marT="45720" marB="45720">
                    <a:solidFill>
                      <a:srgbClr val="FFFFFF"/>
                    </a:solidFill>
                  </a:tcPr>
                </a:tc>
              </a:tr>
              <a:tr h="381000">
                <a:tc>
                  <a:txBody>
                    <a:bodyPr/>
                    <a:lstStyle/>
                    <a:p>
                      <a:r>
                        <a:rPr sz="1725" b="0">
                          <a:solidFill>
                            <a:srgbClr val="243D3F"/>
                          </a:solidFill>
                        </a:rPr>
                        <a:t>Mun</a:t>
                      </a:r>
                    </a:p>
                  </a:txBody>
                  <a:tcPr marL="91440" marR="91440" marT="45720" marB="45720">
                    <a:solidFill>
                      <a:srgbClr val="FFFFFF"/>
                    </a:solidFill>
                  </a:tcPr>
                </a:tc>
                <a:tc>
                  <a:txBody>
                    <a:bodyPr/>
                    <a:lstStyle/>
                    <a:p>
                      <a:r>
                        <a:rPr sz="1725" b="0">
                          <a:solidFill>
                            <a:srgbClr val="243D3F"/>
                          </a:solidFill>
                        </a:rPr>
                        <a:t>-4.46</a:t>
                      </a:r>
                    </a:p>
                  </a:txBody>
                  <a:tcPr marL="91440" marR="91440" marT="45720" marB="45720">
                    <a:solidFill>
                      <a:srgbClr val="FFFFFF"/>
                    </a:solidFill>
                  </a:tcPr>
                </a:tc>
                <a:tc>
                  <a:txBody>
                    <a:bodyPr/>
                    <a:lstStyle/>
                    <a:p>
                      <a:r>
                        <a:rPr sz="1725" b="0">
                          <a:solidFill>
                            <a:srgbClr val="243D3F"/>
                          </a:solidFill>
                        </a:rPr>
                        <a:t>-3.48</a:t>
                      </a:r>
                    </a:p>
                  </a:txBody>
                  <a:tcPr marL="91440" marR="91440" marT="45720" marB="45720">
                    <a:solidFill>
                      <a:srgbClr val="FFFFFF"/>
                    </a:solidFill>
                  </a:tcPr>
                </a:tc>
              </a:tr>
              <a:tr h="381000">
                <a:tc>
                  <a:txBody>
                    <a:bodyPr/>
                    <a:lstStyle/>
                    <a:p>
                      <a:r>
                        <a:rPr sz="1725" b="0">
                          <a:solidFill>
                            <a:srgbClr val="243D3F"/>
                          </a:solidFill>
                        </a:rPr>
                        <a:t>Ping</a:t>
                      </a:r>
                    </a:p>
                  </a:txBody>
                  <a:tcPr marL="91440" marR="91440" marT="45720" marB="45720">
                    <a:solidFill>
                      <a:srgbClr val="FFFFFF"/>
                    </a:solidFill>
                  </a:tcPr>
                </a:tc>
                <a:tc>
                  <a:txBody>
                    <a:bodyPr/>
                    <a:lstStyle/>
                    <a:p>
                      <a:r>
                        <a:rPr sz="1725" b="0">
                          <a:solidFill>
                            <a:srgbClr val="243D3F"/>
                          </a:solidFill>
                        </a:rPr>
                        <a:t>-3.67</a:t>
                      </a:r>
                    </a:p>
                  </a:txBody>
                  <a:tcPr marL="91440" marR="91440" marT="45720" marB="45720">
                    <a:solidFill>
                      <a:srgbClr val="FFFFFF"/>
                    </a:solidFill>
                  </a:tcPr>
                </a:tc>
                <a:tc>
                  <a:txBody>
                    <a:bodyPr/>
                    <a:lstStyle/>
                    <a:p>
                      <a:r>
                        <a:rPr sz="1725" b="0">
                          <a:solidFill>
                            <a:srgbClr val="243D3F"/>
                          </a:solidFill>
                        </a:rPr>
                        <a:t>-3.02</a:t>
                      </a:r>
                    </a:p>
                  </a:txBody>
                  <a:tcPr marL="91440" marR="91440" marT="45720" marB="45720">
                    <a:solidFill>
                      <a:srgbClr val="FFFFFF"/>
                    </a:solidFill>
                  </a:tcPr>
                </a:tc>
              </a:tr>
              <a:tr h="381000">
                <a:tc>
                  <a:txBody>
                    <a:bodyPr/>
                    <a:lstStyle/>
                    <a:p>
                      <a:r>
                        <a:rPr sz="1725" b="0">
                          <a:solidFill>
                            <a:srgbClr val="243D3F"/>
                          </a:solidFill>
                        </a:rPr>
                        <a:t>Wang</a:t>
                      </a:r>
                    </a:p>
                  </a:txBody>
                  <a:tcPr marL="91440" marR="91440" marT="45720" marB="45720">
                    <a:solidFill>
                      <a:srgbClr val="FFFFFF"/>
                    </a:solidFill>
                  </a:tcPr>
                </a:tc>
                <a:tc>
                  <a:txBody>
                    <a:bodyPr/>
                    <a:lstStyle/>
                    <a:p>
                      <a:r>
                        <a:rPr sz="1725" b="0">
                          <a:solidFill>
                            <a:srgbClr val="243D3F"/>
                          </a:solidFill>
                        </a:rPr>
                        <a:t>-3.16</a:t>
                      </a:r>
                    </a:p>
                  </a:txBody>
                  <a:tcPr marL="91440" marR="91440" marT="45720" marB="45720">
                    <a:solidFill>
                      <a:srgbClr val="FFFFFF"/>
                    </a:solidFill>
                  </a:tcPr>
                </a:tc>
                <a:tc>
                  <a:txBody>
                    <a:bodyPr/>
                    <a:lstStyle/>
                    <a:p>
                      <a:r>
                        <a:rPr sz="1725" b="0">
                          <a:solidFill>
                            <a:srgbClr val="243D3F"/>
                          </a:solidFill>
                        </a:rPr>
                        <a:t>-3.28</a:t>
                      </a:r>
                    </a:p>
                  </a:txBody>
                  <a:tcPr marL="91440" marR="91440" marT="45720" marB="45720">
                    <a:solidFill>
                      <a:srgbClr val="FFFFFF"/>
                    </a:solidFill>
                  </a:tcPr>
                </a:tc>
              </a:tr>
              <a:tr h="381000">
                <a:tc>
                  <a:txBody>
                    <a:bodyPr/>
                    <a:lstStyle/>
                    <a:p>
                      <a:r>
                        <a:rPr sz="1725" b="0">
                          <a:solidFill>
                            <a:srgbClr val="243D3F"/>
                          </a:solidFill>
                        </a:rPr>
                        <a:t>Yom</a:t>
                      </a:r>
                    </a:p>
                  </a:txBody>
                  <a:tcPr marL="91440" marR="91440" marT="45720" marB="45720">
                    <a:solidFill>
                      <a:srgbClr val="FFFFFF"/>
                    </a:solidFill>
                  </a:tcPr>
                </a:tc>
                <a:tc>
                  <a:txBody>
                    <a:bodyPr/>
                    <a:lstStyle/>
                    <a:p>
                      <a:r>
                        <a:rPr sz="1725" b="0">
                          <a:solidFill>
                            <a:srgbClr val="243D3F"/>
                          </a:solidFill>
                        </a:rPr>
                        <a:t>-3.75</a:t>
                      </a:r>
                    </a:p>
                  </a:txBody>
                  <a:tcPr marL="91440" marR="91440" marT="45720" marB="45720">
                    <a:solidFill>
                      <a:srgbClr val="FFFFFF"/>
                    </a:solidFill>
                  </a:tcPr>
                </a:tc>
                <a:tc>
                  <a:txBody>
                    <a:bodyPr/>
                    <a:lstStyle/>
                    <a:p>
                      <a:r>
                        <a:rPr sz="1725" b="0">
                          <a:solidFill>
                            <a:srgbClr val="243D3F"/>
                          </a:solidFill>
                        </a:rPr>
                        <a:t>-3.98</a:t>
                      </a:r>
                    </a:p>
                  </a:txBody>
                  <a:tcPr marL="91440" marR="91440" marT="45720" marB="45720">
                    <a:solidFill>
                      <a:srgbClr val="FFFFFF"/>
                    </a:solidFill>
                  </a:tcPr>
                </a:tc>
              </a:tr>
              <a:tr h="381000">
                <a:tc>
                  <a:txBody>
                    <a:bodyPr/>
                    <a:lstStyle/>
                    <a:p>
                      <a:r>
                        <a:rPr sz="1725" b="0">
                          <a:solidFill>
                            <a:srgbClr val="243D3F"/>
                          </a:solidFill>
                        </a:rPr>
                        <a:t>Nan</a:t>
                      </a:r>
                    </a:p>
                  </a:txBody>
                  <a:tcPr marL="91440" marR="91440" marT="45720" marB="45720">
                    <a:solidFill>
                      <a:srgbClr val="FFFFFF"/>
                    </a:solidFill>
                  </a:tcPr>
                </a:tc>
                <a:tc>
                  <a:txBody>
                    <a:bodyPr/>
                    <a:lstStyle/>
                    <a:p>
                      <a:r>
                        <a:rPr sz="1725" b="0">
                          <a:solidFill>
                            <a:srgbClr val="243D3F"/>
                          </a:solidFill>
                        </a:rPr>
                        <a:t>-3.75</a:t>
                      </a:r>
                    </a:p>
                  </a:txBody>
                  <a:tcPr marL="91440" marR="91440" marT="45720" marB="45720">
                    <a:solidFill>
                      <a:srgbClr val="FFFFFF"/>
                    </a:solidFill>
                  </a:tcPr>
                </a:tc>
                <a:tc>
                  <a:txBody>
                    <a:bodyPr/>
                    <a:lstStyle/>
                    <a:p>
                      <a:r>
                        <a:rPr sz="1725" b="0">
                          <a:solidFill>
                            <a:srgbClr val="243D3F"/>
                          </a:solidFill>
                        </a:rPr>
                        <a:t>-3.94</a:t>
                      </a:r>
                    </a:p>
                  </a:txBody>
                  <a:tcPr marL="91440" marR="91440" marT="45720" marB="45720">
                    <a:solidFill>
                      <a:srgbClr val="FFFFFF"/>
                    </a:solidFill>
                  </a:tcPr>
                </a:tc>
              </a:tr>
              <a:tr h="381000">
                <a:tc>
                  <a:txBody>
                    <a:bodyPr/>
                    <a:lstStyle/>
                    <a:p>
                      <a:r>
                        <a:rPr sz="1725" b="0">
                          <a:solidFill>
                            <a:srgbClr val="243D3F"/>
                          </a:solidFill>
                        </a:rPr>
                        <a:t>Chao Phraya</a:t>
                      </a:r>
                    </a:p>
                  </a:txBody>
                  <a:tcPr marL="91440" marR="91440" marT="45720" marB="45720">
                    <a:solidFill>
                      <a:srgbClr val="FFFFFF"/>
                    </a:solidFill>
                  </a:tcPr>
                </a:tc>
                <a:tc>
                  <a:txBody>
                    <a:bodyPr/>
                    <a:lstStyle/>
                    <a:p>
                      <a:r>
                        <a:rPr sz="1725" b="0">
                          <a:solidFill>
                            <a:srgbClr val="243D3F"/>
                          </a:solidFill>
                        </a:rPr>
                        <a:t>-7.32</a:t>
                      </a:r>
                    </a:p>
                  </a:txBody>
                  <a:tcPr marL="91440" marR="91440" marT="45720" marB="45720">
                    <a:solidFill>
                      <a:srgbClr val="FFFFFF"/>
                    </a:solidFill>
                  </a:tcPr>
                </a:tc>
                <a:tc>
                  <a:txBody>
                    <a:bodyPr/>
                    <a:lstStyle/>
                    <a:p>
                      <a:r>
                        <a:rPr sz="1725" b="0">
                          <a:solidFill>
                            <a:srgbClr val="243D3F"/>
                          </a:solidFill>
                        </a:rPr>
                        <a:t>-7.36</a:t>
                      </a:r>
                    </a:p>
                  </a:txBody>
                  <a:tcPr marL="91440" marR="91440" marT="45720" marB="45720">
                    <a:solidFill>
                      <a:srgbClr val="FFFFFF"/>
                    </a:solidFill>
                  </a:tcPr>
                </a:tc>
              </a:tr>
              <a:tr h="381000">
                <a:tc>
                  <a:txBody>
                    <a:bodyPr/>
                    <a:lstStyle/>
                    <a:p>
                      <a:r>
                        <a:rPr sz="1725" b="0">
                          <a:solidFill>
                            <a:srgbClr val="243D3F"/>
                          </a:solidFill>
                        </a:rPr>
                        <a:t>Sakae Krang</a:t>
                      </a:r>
                    </a:p>
                  </a:txBody>
                  <a:tcPr marL="91440" marR="91440" marT="45720" marB="45720">
                    <a:solidFill>
                      <a:srgbClr val="FFFFFF"/>
                    </a:solidFill>
                  </a:tcPr>
                </a:tc>
                <a:tc>
                  <a:txBody>
                    <a:bodyPr/>
                    <a:lstStyle/>
                    <a:p>
                      <a:r>
                        <a:rPr sz="1725" b="0">
                          <a:solidFill>
                            <a:srgbClr val="243D3F"/>
                          </a:solidFill>
                        </a:rPr>
                        <a:t>-5.49</a:t>
                      </a:r>
                    </a:p>
                  </a:txBody>
                  <a:tcPr marL="91440" marR="91440" marT="45720" marB="45720">
                    <a:solidFill>
                      <a:srgbClr val="FFFFFF"/>
                    </a:solidFill>
                  </a:tcPr>
                </a:tc>
                <a:tc>
                  <a:txBody>
                    <a:bodyPr/>
                    <a:lstStyle/>
                    <a:p>
                      <a:r>
                        <a:rPr sz="1725" b="0">
                          <a:solidFill>
                            <a:srgbClr val="243D3F"/>
                          </a:solidFill>
                        </a:rPr>
                        <a:t>-5.21</a:t>
                      </a:r>
                    </a:p>
                  </a:txBody>
                  <a:tcPr marL="91440" marR="91440" marT="45720" marB="45720">
                    <a:solidFill>
                      <a:srgbClr val="FFFFFF"/>
                    </a:solidFill>
                  </a:tcPr>
                </a:tc>
              </a:tr>
            </a:tbl>
          </a:graphicData>
        </a:graphic>
      </p:graphicFrame>
      <p:graphicFrame>
        <p:nvGraphicFramePr>
          <p:cNvPr id="10" name=""/>
          <p:cNvGraphicFramePr/>
          <p:nvPr/>
        </p:nvGraphicFramePr>
        <p:xfrm>
          <a:off xmlns:a="http://schemas.openxmlformats.org/drawingml/2006/main" x="6286500" y="1571625"/>
          <a:ext xmlns:a="http://schemas.openxmlformats.org/drawingml/2006/main" cx="5391150" cy="4572000"/>
        </p:xfrm>
        <a:graphic xmlns:a="http://schemas.openxmlformats.org/drawingml/2006/main">
          <a:graphicData uri="http://schemas.openxmlformats.org/drawingml/2006/table">
            <a:tbl>
              <a:tblPr/>
              <a:tblGrid>
                <a:gridCol w="3429000"/>
                <a:gridCol w="981075"/>
                <a:gridCol w="981075"/>
              </a:tblGrid>
              <a:tr h="381000">
                <a:tc>
                  <a:txBody>
                    <a:bodyPr/>
                    <a:lstStyle/>
                    <a:p>
                      <a:r>
                        <a:rPr sz="1725" b="1">
                          <a:solidFill>
                            <a:srgbClr val="243D3F"/>
                          </a:solidFill>
                        </a:rPr>
                        <a:t>Basin</a:t>
                      </a:r>
                    </a:p>
                  </a:txBody>
                  <a:tcPr marL="91440" marR="91440" marT="45720" marB="45720">
                    <a:solidFill>
                      <a:srgbClr val="EEF4F0"/>
                    </a:solidFill>
                  </a:tcPr>
                </a:tc>
                <a:tc>
                  <a:txBody>
                    <a:bodyPr/>
                    <a:lstStyle/>
                    <a:p>
                      <a:r>
                        <a:rPr sz="1725" b="1">
                          <a:solidFill>
                            <a:srgbClr val="243D3F"/>
                          </a:solidFill>
                        </a:rPr>
                        <a:t>TWSA</a:t>
                      </a:r>
                    </a:p>
                  </a:txBody>
                  <a:tcPr marL="91440" marR="91440" marT="45720" marB="45720">
                    <a:solidFill>
                      <a:srgbClr val="EEF4F0"/>
                    </a:solidFill>
                  </a:tcPr>
                </a:tc>
                <a:tc>
                  <a:txBody>
                    <a:bodyPr/>
                    <a:lstStyle/>
                    <a:p>
                      <a:r>
                        <a:rPr sz="1725" b="1">
                          <a:solidFill>
                            <a:srgbClr val="243D3F"/>
                          </a:solidFill>
                        </a:rPr>
                        <a:t>GWSA</a:t>
                      </a:r>
                    </a:p>
                  </a:txBody>
                  <a:tcPr marL="91440" marR="91440" marT="45720" marB="45720">
                    <a:solidFill>
                      <a:srgbClr val="EEF4F0"/>
                    </a:solidFill>
                  </a:tcPr>
                </a:tc>
              </a:tr>
              <a:tr h="381000">
                <a:tc>
                  <a:txBody>
                    <a:bodyPr/>
                    <a:lstStyle/>
                    <a:p>
                      <a:r>
                        <a:rPr sz="1725" b="0">
                          <a:solidFill>
                            <a:srgbClr val="243D3F"/>
                          </a:solidFill>
                        </a:rPr>
                        <a:t>Pasak</a:t>
                      </a:r>
                    </a:p>
                  </a:txBody>
                  <a:tcPr marL="91440" marR="91440" marT="45720" marB="45720">
                    <a:solidFill>
                      <a:srgbClr val="FFFFFF"/>
                    </a:solidFill>
                  </a:tcPr>
                </a:tc>
                <a:tc>
                  <a:txBody>
                    <a:bodyPr/>
                    <a:lstStyle/>
                    <a:p>
                      <a:r>
                        <a:rPr sz="1725" b="0">
                          <a:solidFill>
                            <a:srgbClr val="243D3F"/>
                          </a:solidFill>
                        </a:rPr>
                        <a:t>-7.01</a:t>
                      </a:r>
                    </a:p>
                  </a:txBody>
                  <a:tcPr marL="91440" marR="91440" marT="45720" marB="45720">
                    <a:solidFill>
                      <a:srgbClr val="FFFFFF"/>
                    </a:solidFill>
                  </a:tcPr>
                </a:tc>
                <a:tc>
                  <a:txBody>
                    <a:bodyPr/>
                    <a:lstStyle/>
                    <a:p>
                      <a:r>
                        <a:rPr sz="1725" b="0">
                          <a:solidFill>
                            <a:srgbClr val="243D3F"/>
                          </a:solidFill>
                        </a:rPr>
                        <a:t>-7.29</a:t>
                      </a:r>
                    </a:p>
                  </a:txBody>
                  <a:tcPr marL="91440" marR="91440" marT="45720" marB="45720">
                    <a:solidFill>
                      <a:srgbClr val="FFFFFF"/>
                    </a:solidFill>
                  </a:tcPr>
                </a:tc>
              </a:tr>
              <a:tr h="381000">
                <a:tc>
                  <a:txBody>
                    <a:bodyPr/>
                    <a:lstStyle/>
                    <a:p>
                      <a:r>
                        <a:rPr sz="1725" b="0">
                          <a:solidFill>
                            <a:srgbClr val="243D3F"/>
                          </a:solidFill>
                        </a:rPr>
                        <a:t>Tha Chin</a:t>
                      </a:r>
                    </a:p>
                  </a:txBody>
                  <a:tcPr marL="91440" marR="91440" marT="45720" marB="45720">
                    <a:solidFill>
                      <a:srgbClr val="FFFFFF"/>
                    </a:solidFill>
                  </a:tcPr>
                </a:tc>
                <a:tc>
                  <a:txBody>
                    <a:bodyPr/>
                    <a:lstStyle/>
                    <a:p>
                      <a:r>
                        <a:rPr sz="1725" b="0">
                          <a:solidFill>
                            <a:srgbClr val="243D3F"/>
                          </a:solidFill>
                        </a:rPr>
                        <a:t>-6.85</a:t>
                      </a:r>
                    </a:p>
                  </a:txBody>
                  <a:tcPr marL="91440" marR="91440" marT="45720" marB="45720">
                    <a:solidFill>
                      <a:srgbClr val="FFFFFF"/>
                    </a:solidFill>
                  </a:tcPr>
                </a:tc>
                <a:tc>
                  <a:txBody>
                    <a:bodyPr/>
                    <a:lstStyle/>
                    <a:p>
                      <a:r>
                        <a:rPr sz="1725" b="0">
                          <a:solidFill>
                            <a:srgbClr val="243D3F"/>
                          </a:solidFill>
                        </a:rPr>
                        <a:t>-6.35</a:t>
                      </a:r>
                    </a:p>
                  </a:txBody>
                  <a:tcPr marL="91440" marR="91440" marT="45720" marB="45720">
                    <a:solidFill>
                      <a:srgbClr val="FFFFFF"/>
                    </a:solidFill>
                  </a:tcPr>
                </a:tc>
              </a:tr>
              <a:tr h="381000">
                <a:tc>
                  <a:txBody>
                    <a:bodyPr/>
                    <a:lstStyle/>
                    <a:p>
                      <a:r>
                        <a:rPr sz="1725" b="0">
                          <a:solidFill>
                            <a:srgbClr val="243D3F"/>
                          </a:solidFill>
                        </a:rPr>
                        <a:t>Mae Klong</a:t>
                      </a:r>
                    </a:p>
                  </a:txBody>
                  <a:tcPr marL="91440" marR="91440" marT="45720" marB="45720">
                    <a:solidFill>
                      <a:srgbClr val="FFFFFF"/>
                    </a:solidFill>
                  </a:tcPr>
                </a:tc>
                <a:tc>
                  <a:txBody>
                    <a:bodyPr/>
                    <a:lstStyle/>
                    <a:p>
                      <a:r>
                        <a:rPr sz="1725" b="0">
                          <a:solidFill>
                            <a:srgbClr val="243D3F"/>
                          </a:solidFill>
                        </a:rPr>
                        <a:t>-5.24</a:t>
                      </a:r>
                    </a:p>
                  </a:txBody>
                  <a:tcPr marL="91440" marR="91440" marT="45720" marB="45720">
                    <a:solidFill>
                      <a:srgbClr val="FFFFFF"/>
                    </a:solidFill>
                  </a:tcPr>
                </a:tc>
                <a:tc>
                  <a:txBody>
                    <a:bodyPr/>
                    <a:lstStyle/>
                    <a:p>
                      <a:r>
                        <a:rPr sz="1725" b="0">
                          <a:solidFill>
                            <a:srgbClr val="243D3F"/>
                          </a:solidFill>
                        </a:rPr>
                        <a:t>-5.54</a:t>
                      </a:r>
                    </a:p>
                  </a:txBody>
                  <a:tcPr marL="91440" marR="91440" marT="45720" marB="45720">
                    <a:solidFill>
                      <a:srgbClr val="FFFFFF"/>
                    </a:solidFill>
                  </a:tcPr>
                </a:tc>
              </a:tr>
              <a:tr h="381000">
                <a:tc>
                  <a:txBody>
                    <a:bodyPr/>
                    <a:lstStyle/>
                    <a:p>
                      <a:r>
                        <a:rPr sz="1725" b="0">
                          <a:solidFill>
                            <a:srgbClr val="243D3F"/>
                          </a:solidFill>
                        </a:rPr>
                        <a:t>Bang Pakong</a:t>
                      </a:r>
                    </a:p>
                  </a:txBody>
                  <a:tcPr marL="91440" marR="91440" marT="45720" marB="45720">
                    <a:solidFill>
                      <a:srgbClr val="FFFFFF"/>
                    </a:solidFill>
                  </a:tcPr>
                </a:tc>
                <a:tc>
                  <a:txBody>
                    <a:bodyPr/>
                    <a:lstStyle/>
                    <a:p>
                      <a:r>
                        <a:rPr sz="1725" b="0">
                          <a:solidFill>
                            <a:srgbClr val="243D3F"/>
                          </a:solidFill>
                        </a:rPr>
                        <a:t>-8.61</a:t>
                      </a:r>
                    </a:p>
                  </a:txBody>
                  <a:tcPr marL="91440" marR="91440" marT="45720" marB="45720">
                    <a:solidFill>
                      <a:srgbClr val="FFFFFF"/>
                    </a:solidFill>
                  </a:tcPr>
                </a:tc>
                <a:tc>
                  <a:txBody>
                    <a:bodyPr/>
                    <a:lstStyle/>
                    <a:p>
                      <a:r>
                        <a:rPr sz="1725" b="0">
                          <a:solidFill>
                            <a:srgbClr val="243D3F"/>
                          </a:solidFill>
                        </a:rPr>
                        <a:t>-8.16</a:t>
                      </a:r>
                    </a:p>
                  </a:txBody>
                  <a:tcPr marL="91440" marR="91440" marT="45720" marB="45720">
                    <a:solidFill>
                      <a:srgbClr val="FFFFFF"/>
                    </a:solidFill>
                  </a:tcPr>
                </a:tc>
              </a:tr>
              <a:tr h="381000">
                <a:tc>
                  <a:txBody>
                    <a:bodyPr/>
                    <a:lstStyle/>
                    <a:p>
                      <a:r>
                        <a:rPr sz="1725" b="0">
                          <a:solidFill>
                            <a:srgbClr val="243D3F"/>
                          </a:solidFill>
                        </a:rPr>
                        <a:t>Tonle Sap</a:t>
                      </a:r>
                    </a:p>
                  </a:txBody>
                  <a:tcPr marL="91440" marR="91440" marT="45720" marB="45720">
                    <a:solidFill>
                      <a:srgbClr val="FFFFFF"/>
                    </a:solidFill>
                  </a:tcPr>
                </a:tc>
                <a:tc>
                  <a:txBody>
                    <a:bodyPr/>
                    <a:lstStyle/>
                    <a:p>
                      <a:r>
                        <a:rPr sz="1725" b="0">
                          <a:solidFill>
                            <a:srgbClr val="243D3F"/>
                          </a:solidFill>
                        </a:rPr>
                        <a:t>-7.56</a:t>
                      </a:r>
                    </a:p>
                  </a:txBody>
                  <a:tcPr marL="91440" marR="91440" marT="45720" marB="45720">
                    <a:solidFill>
                      <a:srgbClr val="FFFFFF"/>
                    </a:solidFill>
                  </a:tcPr>
                </a:tc>
                <a:tc>
                  <a:txBody>
                    <a:bodyPr/>
                    <a:lstStyle/>
                    <a:p>
                      <a:r>
                        <a:rPr sz="1725" b="0">
                          <a:solidFill>
                            <a:srgbClr val="243D3F"/>
                          </a:solidFill>
                        </a:rPr>
                        <a:t>-7.29</a:t>
                      </a:r>
                    </a:p>
                  </a:txBody>
                  <a:tcPr marL="91440" marR="91440" marT="45720" marB="45720">
                    <a:solidFill>
                      <a:srgbClr val="FFFFFF"/>
                    </a:solidFill>
                  </a:tcPr>
                </a:tc>
              </a:tr>
              <a:tr h="381000">
                <a:tc>
                  <a:txBody>
                    <a:bodyPr/>
                    <a:lstStyle/>
                    <a:p>
                      <a:r>
                        <a:rPr sz="1725" b="0">
                          <a:solidFill>
                            <a:srgbClr val="243D3F"/>
                          </a:solidFill>
                        </a:rPr>
                        <a:t>East Coast Gulf</a:t>
                      </a:r>
                    </a:p>
                  </a:txBody>
                  <a:tcPr marL="91440" marR="91440" marT="45720" marB="45720">
                    <a:solidFill>
                      <a:srgbClr val="FFFFFF"/>
                    </a:solidFill>
                  </a:tcPr>
                </a:tc>
                <a:tc>
                  <a:txBody>
                    <a:bodyPr/>
                    <a:lstStyle/>
                    <a:p>
                      <a:r>
                        <a:rPr sz="1725" b="0">
                          <a:solidFill>
                            <a:srgbClr val="243D3F"/>
                          </a:solidFill>
                        </a:rPr>
                        <a:t>-7.66</a:t>
                      </a:r>
                    </a:p>
                  </a:txBody>
                  <a:tcPr marL="91440" marR="91440" marT="45720" marB="45720">
                    <a:solidFill>
                      <a:srgbClr val="FFFFFF"/>
                    </a:solidFill>
                  </a:tcPr>
                </a:tc>
                <a:tc>
                  <a:txBody>
                    <a:bodyPr/>
                    <a:lstStyle/>
                    <a:p>
                      <a:r>
                        <a:rPr sz="1725" b="0">
                          <a:solidFill>
                            <a:srgbClr val="243D3F"/>
                          </a:solidFill>
                        </a:rPr>
                        <a:t>-7.83</a:t>
                      </a:r>
                    </a:p>
                  </a:txBody>
                  <a:tcPr marL="91440" marR="91440" marT="45720" marB="45720">
                    <a:solidFill>
                      <a:srgbClr val="FFFFFF"/>
                    </a:solidFill>
                  </a:tcPr>
                </a:tc>
              </a:tr>
              <a:tr h="381000">
                <a:tc>
                  <a:txBody>
                    <a:bodyPr/>
                    <a:lstStyle/>
                    <a:p>
                      <a:r>
                        <a:rPr sz="1725" b="0">
                          <a:solidFill>
                            <a:srgbClr val="243D3F"/>
                          </a:solidFill>
                        </a:rPr>
                        <a:t>Phetchaburi / Prachuap</a:t>
                      </a:r>
                    </a:p>
                  </a:txBody>
                  <a:tcPr marL="91440" marR="91440" marT="45720" marB="45720">
                    <a:solidFill>
                      <a:srgbClr val="FFFFFF"/>
                    </a:solidFill>
                  </a:tcPr>
                </a:tc>
                <a:tc>
                  <a:txBody>
                    <a:bodyPr/>
                    <a:lstStyle/>
                    <a:p>
                      <a:r>
                        <a:rPr sz="1725" b="0">
                          <a:solidFill>
                            <a:srgbClr val="243D3F"/>
                          </a:solidFill>
                        </a:rPr>
                        <a:t>-5.96</a:t>
                      </a:r>
                    </a:p>
                  </a:txBody>
                  <a:tcPr marL="91440" marR="91440" marT="45720" marB="45720">
                    <a:solidFill>
                      <a:srgbClr val="FFFFFF"/>
                    </a:solidFill>
                  </a:tcPr>
                </a:tc>
                <a:tc>
                  <a:txBody>
                    <a:bodyPr/>
                    <a:lstStyle/>
                    <a:p>
                      <a:r>
                        <a:rPr sz="1725" b="0">
                          <a:solidFill>
                            <a:srgbClr val="243D3F"/>
                          </a:solidFill>
                        </a:rPr>
                        <a:t>-4.76</a:t>
                      </a:r>
                    </a:p>
                  </a:txBody>
                  <a:tcPr marL="91440" marR="91440" marT="45720" marB="45720">
                    <a:solidFill>
                      <a:srgbClr val="FFFFFF"/>
                    </a:solidFill>
                  </a:tcPr>
                </a:tc>
              </a:tr>
              <a:tr h="381000">
                <a:tc>
                  <a:txBody>
                    <a:bodyPr/>
                    <a:lstStyle/>
                    <a:p>
                      <a:r>
                        <a:rPr sz="1725" b="0">
                          <a:solidFill>
                            <a:srgbClr val="243D3F"/>
                          </a:solidFill>
                        </a:rPr>
                        <a:t>Upper East Coast</a:t>
                      </a:r>
                    </a:p>
                  </a:txBody>
                  <a:tcPr marL="91440" marR="91440" marT="45720" marB="45720">
                    <a:solidFill>
                      <a:srgbClr val="FFFFFF"/>
                    </a:solidFill>
                  </a:tcPr>
                </a:tc>
                <a:tc>
                  <a:txBody>
                    <a:bodyPr/>
                    <a:lstStyle/>
                    <a:p>
                      <a:r>
                        <a:rPr sz="1725" b="0">
                          <a:solidFill>
                            <a:srgbClr val="243D3F"/>
                          </a:solidFill>
                        </a:rPr>
                        <a:t>-33.65</a:t>
                      </a:r>
                    </a:p>
                  </a:txBody>
                  <a:tcPr marL="91440" marR="91440" marT="45720" marB="45720">
                    <a:solidFill>
                      <a:srgbClr val="FFFFFF"/>
                    </a:solidFill>
                  </a:tcPr>
                </a:tc>
                <a:tc>
                  <a:txBody>
                    <a:bodyPr/>
                    <a:lstStyle/>
                    <a:p>
                      <a:r>
                        <a:rPr sz="1725" b="0">
                          <a:solidFill>
                            <a:srgbClr val="243D3F"/>
                          </a:solidFill>
                        </a:rPr>
                        <a:t>-35.24</a:t>
                      </a:r>
                    </a:p>
                  </a:txBody>
                  <a:tcPr marL="91440" marR="91440" marT="45720" marB="45720">
                    <a:solidFill>
                      <a:srgbClr val="FFFFFF"/>
                    </a:solidFill>
                  </a:tcPr>
                </a:tc>
              </a:tr>
              <a:tr h="381000">
                <a:tc>
                  <a:txBody>
                    <a:bodyPr/>
                    <a:lstStyle/>
                    <a:p>
                      <a:r>
                        <a:rPr sz="1725" b="0">
                          <a:solidFill>
                            <a:srgbClr val="243D3F"/>
                          </a:solidFill>
                        </a:rPr>
                        <a:t>Songkhla Lake</a:t>
                      </a:r>
                    </a:p>
                  </a:txBody>
                  <a:tcPr marL="91440" marR="91440" marT="45720" marB="45720">
                    <a:solidFill>
                      <a:srgbClr val="FFFFFF"/>
                    </a:solidFill>
                  </a:tcPr>
                </a:tc>
                <a:tc>
                  <a:txBody>
                    <a:bodyPr/>
                    <a:lstStyle/>
                    <a:p>
                      <a:r>
                        <a:rPr sz="1725" b="0">
                          <a:solidFill>
                            <a:srgbClr val="243D3F"/>
                          </a:solidFill>
                        </a:rPr>
                        <a:t>-6.25</a:t>
                      </a:r>
                    </a:p>
                  </a:txBody>
                  <a:tcPr marL="91440" marR="91440" marT="45720" marB="45720">
                    <a:solidFill>
                      <a:srgbClr val="FFFFFF"/>
                    </a:solidFill>
                  </a:tcPr>
                </a:tc>
                <a:tc>
                  <a:txBody>
                    <a:bodyPr/>
                    <a:lstStyle/>
                    <a:p>
                      <a:r>
                        <a:rPr sz="1725" b="0">
                          <a:solidFill>
                            <a:srgbClr val="243D3F"/>
                          </a:solidFill>
                        </a:rPr>
                        <a:t>-7.51</a:t>
                      </a:r>
                    </a:p>
                  </a:txBody>
                  <a:tcPr marL="91440" marR="91440" marT="45720" marB="45720">
                    <a:solidFill>
                      <a:srgbClr val="FFFFFF"/>
                    </a:solidFill>
                  </a:tcPr>
                </a:tc>
              </a:tr>
              <a:tr h="381000">
                <a:tc>
                  <a:txBody>
                    <a:bodyPr/>
                    <a:lstStyle/>
                    <a:p>
                      <a:r>
                        <a:rPr sz="1725" b="0">
                          <a:solidFill>
                            <a:srgbClr val="243D3F"/>
                          </a:solidFill>
                        </a:rPr>
                        <a:t>Lower East Coast</a:t>
                      </a:r>
                    </a:p>
                  </a:txBody>
                  <a:tcPr marL="91440" marR="91440" marT="45720" marB="45720">
                    <a:solidFill>
                      <a:srgbClr val="FFFFFF"/>
                    </a:solidFill>
                  </a:tcPr>
                </a:tc>
                <a:tc>
                  <a:txBody>
                    <a:bodyPr/>
                    <a:lstStyle/>
                    <a:p>
                      <a:r>
                        <a:rPr sz="1725" b="0">
                          <a:solidFill>
                            <a:srgbClr val="243D3F"/>
                          </a:solidFill>
                        </a:rPr>
                        <a:t>-1.37</a:t>
                      </a:r>
                    </a:p>
                  </a:txBody>
                  <a:tcPr marL="91440" marR="91440" marT="45720" marB="45720">
                    <a:solidFill>
                      <a:srgbClr val="FFFFFF"/>
                    </a:solidFill>
                  </a:tcPr>
                </a:tc>
                <a:tc>
                  <a:txBody>
                    <a:bodyPr/>
                    <a:lstStyle/>
                    <a:p>
                      <a:r>
                        <a:rPr sz="1725" b="0">
                          <a:solidFill>
                            <a:srgbClr val="243D3F"/>
                          </a:solidFill>
                        </a:rPr>
                        <a:t>-3.02</a:t>
                      </a:r>
                    </a:p>
                  </a:txBody>
                  <a:tcPr marL="91440" marR="91440" marT="45720" marB="45720">
                    <a:solidFill>
                      <a:srgbClr val="FFFFFF"/>
                    </a:solidFill>
                  </a:tcPr>
                </a:tc>
              </a:tr>
              <a:tr h="381000">
                <a:tc>
                  <a:txBody>
                    <a:bodyPr/>
                    <a:lstStyle/>
                    <a:p>
                      <a:r>
                        <a:rPr sz="1725" b="0">
                          <a:solidFill>
                            <a:srgbClr val="243D3F"/>
                          </a:solidFill>
                        </a:rPr>
                        <a:t>West Coast</a:t>
                      </a:r>
                    </a:p>
                  </a:txBody>
                  <a:tcPr marL="91440" marR="91440" marT="45720" marB="45720">
                    <a:solidFill>
                      <a:srgbClr val="FFFFFF"/>
                    </a:solidFill>
                  </a:tcPr>
                </a:tc>
                <a:tc>
                  <a:txBody>
                    <a:bodyPr/>
                    <a:lstStyle/>
                    <a:p>
                      <a:r>
                        <a:rPr sz="1725" b="0">
                          <a:solidFill>
                            <a:srgbClr val="243D3F"/>
                          </a:solidFill>
                        </a:rPr>
                        <a:t>-20.71</a:t>
                      </a:r>
                    </a:p>
                  </a:txBody>
                  <a:tcPr marL="91440" marR="91440" marT="45720" marB="45720">
                    <a:solidFill>
                      <a:srgbClr val="FFFFFF"/>
                    </a:solidFill>
                  </a:tcPr>
                </a:tc>
                <a:tc>
                  <a:txBody>
                    <a:bodyPr/>
                    <a:lstStyle/>
                    <a:p>
                      <a:r>
                        <a:rPr sz="1725" b="0">
                          <a:solidFill>
                            <a:srgbClr val="243D3F"/>
                          </a:solidFill>
                        </a:rPr>
                        <a:t>-21.05</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95121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123D32E1-F63A-4DE8-9E1C-3FFD2EAAA9A8}"/>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Grid trends retain the limits of GRACE sampling</a:t>
            </a:r>
          </a:p>
        </p:txBody>
      </p:sp>
      <p:sp>
        <p:nvSpPr>
          <p:cNvPr id="2" name="source">
            <a:extLst xmlns:a="http://schemas.openxmlformats.org/drawingml/2006/main">
              <a:ext uri="{FF2B5EF4-FFF2-40B4-BE49-F238E27FC236}">
                <a16:creationId xmlns:a16="http://schemas.microsoft.com/office/drawing/2014/main" id="{E2A56392-7E51-427E-9FF7-76A0412A96F5}"/>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3" name="page">
            <a:extLst xmlns:a="http://schemas.openxmlformats.org/drawingml/2006/main">
              <a:ext uri="{FF2B5EF4-FFF2-40B4-BE49-F238E27FC236}">
                <a16:creationId xmlns:a16="http://schemas.microsoft.com/office/drawing/2014/main" id="{32648058-C12E-4A0A-9756-D51F05E635F4}"/>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09</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f1a75cb4682b4ec3"/>
          <a:stretch xmlns:a="http://schemas.openxmlformats.org/drawingml/2006/main"/>
        </p:blipFill>
        <p:spPr>
          <a:xfrm xmlns:a="http://schemas.openxmlformats.org/drawingml/2006/main">
            <a:off x="2522777" y="1476375"/>
            <a:ext cx="7146445" cy="4667250"/>
          </a:xfrm>
          <a:prstGeom xmlns:a="http://schemas.openxmlformats.org/drawingml/2006/main" prst="rect">
            <a:avLst/>
          </a:prstGeom>
        </p:spPr>
      </p:pic>
    </p:spTree>
    <p:extLst>
      <p:ext uri="{BB962C8B-B14F-4D97-AF65-F5344CB8AC3E}">
        <p14:creationId xmlns:p14="http://schemas.microsoft.com/office/powerpoint/2010/main" val="8893105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E0BD32B2-67B7-456C-88CF-DCA5204BF856}"/>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Climate models are tested on later observations</a:t>
            </a:r>
          </a:p>
        </p:txBody>
      </p:sp>
      <p:sp>
        <p:nvSpPr>
          <p:cNvPr id="2" name="body">
            <a:extLst xmlns:a="http://schemas.openxmlformats.org/drawingml/2006/main">
              <a:ext uri="{FF2B5EF4-FFF2-40B4-BE49-F238E27FC236}">
                <a16:creationId xmlns:a16="http://schemas.microsoft.com/office/drawing/2014/main" id="{AB43E688-D5D9-48FF-842D-63FF0F334197}"/>
              </a:ext>
            </a:extLst>
          </p:cNvPr>
          <p:cNvSpPr>
            <a:spLocks xmlns:a="http://schemas.openxmlformats.org/drawingml/2006/main" noGrp="1"/>
          </p:cNvSpPr>
          <p:nvPr/>
        </p:nvSpPr>
        <p:spPr>
          <a:xfrm xmlns:a="http://schemas.openxmlformats.org/drawingml/2006/main">
            <a:off x="514350" y="161925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Two-year spin-up → train 2005–2015 → validate 2016–2019 → test from 2020.</a:t>
            </a:r>
          </a:p>
        </p:txBody>
      </p:sp>
      <p:sp>
        <p:nvSpPr>
          <p:cNvPr id="3" name="body">
            <a:extLst xmlns:a="http://schemas.openxmlformats.org/drawingml/2006/main">
              <a:ext uri="{FF2B5EF4-FFF2-40B4-BE49-F238E27FC236}">
                <a16:creationId xmlns:a16="http://schemas.microsoft.com/office/drawing/2014/main" id="{1D27F3E6-B931-4D46-B0BE-4F0F30A2A646}"/>
              </a:ext>
            </a:extLst>
          </p:cNvPr>
          <p:cNvSpPr>
            <a:spLocks xmlns:a="http://schemas.openxmlformats.org/drawingml/2006/main" noGrp="1"/>
          </p:cNvSpPr>
          <p:nvPr/>
        </p:nvSpPr>
        <p:spPr>
          <a:xfrm xmlns:a="http://schemas.openxmlformats.org/drawingml/2006/main">
            <a:off x="514350" y="3000375"/>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Physical memory model, ElasticNet, additive splines and Random Forest.</a:t>
            </a:r>
          </a:p>
        </p:txBody>
      </p:sp>
      <p:sp>
        <p:nvSpPr>
          <p:cNvPr id="4" name="body">
            <a:extLst xmlns:a="http://schemas.openxmlformats.org/drawingml/2006/main">
              <a:ext uri="{FF2B5EF4-FFF2-40B4-BE49-F238E27FC236}">
                <a16:creationId xmlns:a16="http://schemas.microsoft.com/office/drawing/2014/main" id="{1DEA5A83-E172-4E3B-AA62-6AAF08219FE5}"/>
              </a:ext>
            </a:extLst>
          </p:cNvPr>
          <p:cNvSpPr>
            <a:spLocks xmlns:a="http://schemas.openxmlformats.org/drawingml/2006/main" noGrp="1"/>
          </p:cNvSpPr>
          <p:nvPr/>
        </p:nvSpPr>
        <p:spPr>
          <a:xfrm xmlns:a="http://schemas.openxmlformats.org/drawingml/2006/main">
            <a:off x="514350" y="438150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Validation selects ensemble members and inverse-error weights; test data remain held out.</a:t>
            </a:r>
          </a:p>
        </p:txBody>
      </p:sp>
      <p:sp>
        <p:nvSpPr>
          <p:cNvPr id="5" name="source">
            <a:extLst xmlns:a="http://schemas.openxmlformats.org/drawingml/2006/main">
              <a:ext uri="{FF2B5EF4-FFF2-40B4-BE49-F238E27FC236}">
                <a16:creationId xmlns:a16="http://schemas.microsoft.com/office/drawing/2014/main" id="{1EAF7E8C-0CDD-4789-940C-DD317F3B710A}"/>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6" name="page">
            <a:extLst xmlns:a="http://schemas.openxmlformats.org/drawingml/2006/main">
              <a:ext uri="{FF2B5EF4-FFF2-40B4-BE49-F238E27FC236}">
                <a16:creationId xmlns:a16="http://schemas.microsoft.com/office/drawing/2014/main" id="{6DFC4EF4-0B70-4B90-A43B-37C71D6A2348}"/>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10</a:t>
            </a:r>
          </a:p>
        </p:txBody>
      </p:sp>
    </p:spTree>
    <p:extLst>
      <p:ext uri="{BB962C8B-B14F-4D97-AF65-F5344CB8AC3E}">
        <p14:creationId xmlns:p14="http://schemas.microsoft.com/office/powerpoint/2010/main" val="89624141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A3AC3B81-9FAE-41B6-BB08-03AD9EAFA166}"/>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Predictor experiments test incremental information</a:t>
            </a:r>
          </a:p>
        </p:txBody>
      </p:sp>
      <p:sp>
        <p:nvSpPr>
          <p:cNvPr id="2" name="source">
            <a:extLst xmlns:a="http://schemas.openxmlformats.org/drawingml/2006/main">
              <a:ext uri="{FF2B5EF4-FFF2-40B4-BE49-F238E27FC236}">
                <a16:creationId xmlns:a16="http://schemas.microsoft.com/office/drawing/2014/main" id="{A9825BF8-A444-4E54-B87B-AA8D10A2ABF3}"/>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3" name="page">
            <a:extLst xmlns:a="http://schemas.openxmlformats.org/drawingml/2006/main">
              <a:ext uri="{FF2B5EF4-FFF2-40B4-BE49-F238E27FC236}">
                <a16:creationId xmlns:a16="http://schemas.microsoft.com/office/drawing/2014/main" id="{2A4138FE-BA20-4F5F-A9B3-CB88128D0E68}"/>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11</a:t>
            </a:r>
          </a:p>
        </p:txBody>
      </p:sp>
      <p:graphicFrame>
        <p:nvGraphicFramePr>
          <p:cNvPr id="8" name=""/>
          <p:cNvGraphicFramePr/>
          <p:nvPr/>
        </p:nvGraphicFramePr>
        <p:xfrm>
          <a:off xmlns:a="http://schemas.openxmlformats.org/drawingml/2006/main" x="514350" y="1666875"/>
          <a:ext xmlns:a="http://schemas.openxmlformats.org/drawingml/2006/main" cx="11163300" cy="4000500"/>
        </p:xfrm>
        <a:graphic xmlns:a="http://schemas.openxmlformats.org/drawingml/2006/main">
          <a:graphicData uri="http://schemas.openxmlformats.org/drawingml/2006/table">
            <a:tbl>
              <a:tblPr/>
              <a:tblGrid>
                <a:gridCol w="2286000"/>
                <a:gridCol w="8877300"/>
              </a:tblGrid>
              <a:tr h="666750">
                <a:tc>
                  <a:txBody>
                    <a:bodyPr/>
                    <a:lstStyle/>
                    <a:p>
                      <a:r>
                        <a:rPr sz="1875" b="1">
                          <a:solidFill>
                            <a:srgbClr val="243D3F"/>
                          </a:solidFill>
                        </a:rPr>
                        <a:t>Experiment</a:t>
                      </a:r>
                    </a:p>
                  </a:txBody>
                  <a:tcPr marL="91440" marR="91440" marT="45720" marB="45720">
                    <a:solidFill>
                      <a:srgbClr val="EEF4F0"/>
                    </a:solidFill>
                  </a:tcPr>
                </a:tc>
                <a:tc>
                  <a:txBody>
                    <a:bodyPr/>
                    <a:lstStyle/>
                    <a:p>
                      <a:r>
                        <a:rPr sz="1875" b="1">
                          <a:solidFill>
                            <a:srgbClr val="243D3F"/>
                          </a:solidFill>
                        </a:rPr>
                        <a:t>Predictors</a:t>
                      </a:r>
                    </a:p>
                  </a:txBody>
                  <a:tcPr marL="91440" marR="91440" marT="45720" marB="45720">
                    <a:solidFill>
                      <a:srgbClr val="EEF4F0"/>
                    </a:solidFill>
                  </a:tcPr>
                </a:tc>
              </a:tr>
              <a:tr h="666750">
                <a:tc>
                  <a:txBody>
                    <a:bodyPr/>
                    <a:lstStyle/>
                    <a:p>
                      <a:r>
                        <a:rPr sz="1875" b="0">
                          <a:solidFill>
                            <a:srgbClr val="243D3F"/>
                          </a:solidFill>
                        </a:rPr>
                        <a:t>M0</a:t>
                      </a:r>
                    </a:p>
                  </a:txBody>
                  <a:tcPr marL="91440" marR="91440" marT="45720" marB="45720">
                    <a:solidFill>
                      <a:srgbClr val="FFFFFF"/>
                    </a:solidFill>
                  </a:tcPr>
                </a:tc>
                <a:tc>
                  <a:txBody>
                    <a:bodyPr/>
                    <a:lstStyle/>
                    <a:p>
                      <a:r>
                        <a:rPr sz="1875" b="0">
                          <a:solidFill>
                            <a:srgbClr val="243D3F"/>
                          </a:solidFill>
                        </a:rPr>
                        <a:t>Precipitation</a:t>
                      </a:r>
                    </a:p>
                  </a:txBody>
                  <a:tcPr marL="91440" marR="91440" marT="45720" marB="45720">
                    <a:solidFill>
                      <a:srgbClr val="FFFFFF"/>
                    </a:solidFill>
                  </a:tcPr>
                </a:tc>
              </a:tr>
              <a:tr h="666750">
                <a:tc>
                  <a:txBody>
                    <a:bodyPr/>
                    <a:lstStyle/>
                    <a:p>
                      <a:r>
                        <a:rPr sz="1875" b="0">
                          <a:solidFill>
                            <a:srgbClr val="243D3F"/>
                          </a:solidFill>
                        </a:rPr>
                        <a:t>M1</a:t>
                      </a:r>
                    </a:p>
                  </a:txBody>
                  <a:tcPr marL="91440" marR="91440" marT="45720" marB="45720">
                    <a:solidFill>
                      <a:srgbClr val="FFFFFF"/>
                    </a:solidFill>
                  </a:tcPr>
                </a:tc>
                <a:tc>
                  <a:txBody>
                    <a:bodyPr/>
                    <a:lstStyle/>
                    <a:p>
                      <a:r>
                        <a:rPr sz="1875" b="0">
                          <a:solidFill>
                            <a:srgbClr val="243D3F"/>
                          </a:solidFill>
                        </a:rPr>
                        <a:t>Precipitation + ET</a:t>
                      </a:r>
                    </a:p>
                  </a:txBody>
                  <a:tcPr marL="91440" marR="91440" marT="45720" marB="45720">
                    <a:solidFill>
                      <a:srgbClr val="FFFFFF"/>
                    </a:solidFill>
                  </a:tcPr>
                </a:tc>
              </a:tr>
              <a:tr h="666750">
                <a:tc>
                  <a:txBody>
                    <a:bodyPr/>
                    <a:lstStyle/>
                    <a:p>
                      <a:r>
                        <a:rPr sz="1875" b="0">
                          <a:solidFill>
                            <a:srgbClr val="243D3F"/>
                          </a:solidFill>
                        </a:rPr>
                        <a:t>M2</a:t>
                      </a:r>
                    </a:p>
                  </a:txBody>
                  <a:tcPr marL="91440" marR="91440" marT="45720" marB="45720">
                    <a:solidFill>
                      <a:srgbClr val="FFFFFF"/>
                    </a:solidFill>
                  </a:tcPr>
                </a:tc>
                <a:tc>
                  <a:txBody>
                    <a:bodyPr/>
                    <a:lstStyle/>
                    <a:p>
                      <a:r>
                        <a:rPr sz="1875" b="0">
                          <a:solidFill>
                            <a:srgbClr val="243D3F"/>
                          </a:solidFill>
                        </a:rPr>
                        <a:t>Precipitation + ET + surface soil moisture</a:t>
                      </a:r>
                    </a:p>
                  </a:txBody>
                  <a:tcPr marL="91440" marR="91440" marT="45720" marB="45720">
                    <a:solidFill>
                      <a:srgbClr val="FFFFFF"/>
                    </a:solidFill>
                  </a:tcPr>
                </a:tc>
              </a:tr>
              <a:tr h="666750">
                <a:tc>
                  <a:txBody>
                    <a:bodyPr/>
                    <a:lstStyle/>
                    <a:p>
                      <a:r>
                        <a:rPr sz="1875" b="0">
                          <a:solidFill>
                            <a:srgbClr val="243D3F"/>
                          </a:solidFill>
                        </a:rPr>
                        <a:t>M3</a:t>
                      </a:r>
                    </a:p>
                  </a:txBody>
                  <a:tcPr marL="91440" marR="91440" marT="45720" marB="45720">
                    <a:solidFill>
                      <a:srgbClr val="FFFFFF"/>
                    </a:solidFill>
                  </a:tcPr>
                </a:tc>
                <a:tc>
                  <a:txBody>
                    <a:bodyPr/>
                    <a:lstStyle/>
                    <a:p>
                      <a:r>
                        <a:rPr sz="1875" b="0">
                          <a:solidFill>
                            <a:srgbClr val="243D3F"/>
                          </a:solidFill>
                        </a:rPr>
                        <a:t>Precipitation + ET + 0–1 m root-zone soil moisture</a:t>
                      </a:r>
                    </a:p>
                  </a:txBody>
                  <a:tcPr marL="91440" marR="91440" marT="45720" marB="45720">
                    <a:solidFill>
                      <a:srgbClr val="FFFFFF"/>
                    </a:solidFill>
                  </a:tcPr>
                </a:tc>
              </a:tr>
              <a:tr h="666750">
                <a:tc>
                  <a:txBody>
                    <a:bodyPr/>
                    <a:lstStyle/>
                    <a:p>
                      <a:r>
                        <a:rPr sz="1875" b="0">
                          <a:solidFill>
                            <a:srgbClr val="243D3F"/>
                          </a:solidFill>
                        </a:rPr>
                        <a:t>M4</a:t>
                      </a:r>
                    </a:p>
                  </a:txBody>
                  <a:tcPr marL="91440" marR="91440" marT="45720" marB="45720">
                    <a:solidFill>
                      <a:srgbClr val="FFFFFF"/>
                    </a:solidFill>
                  </a:tcPr>
                </a:tc>
                <a:tc>
                  <a:txBody>
                    <a:bodyPr/>
                    <a:lstStyle/>
                    <a:p>
                      <a:r>
                        <a:rPr sz="1875" b="0">
                          <a:solidFill>
                            <a:srgbClr val="243D3F"/>
                          </a:solidFill>
                        </a:rPr>
                        <a:t>Precipitation + ET + both soil states + LST</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0741686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D95D9443-D491-4F1D-BE68-EFA6B0E8A4EE}"/>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Seasonal reconstruction exceeds interannual skill</a:t>
            </a:r>
          </a:p>
        </p:txBody>
      </p:sp>
      <p:sp>
        <p:nvSpPr>
          <p:cNvPr id="2" name="source">
            <a:extLst xmlns:a="http://schemas.openxmlformats.org/drawingml/2006/main">
              <a:ext uri="{FF2B5EF4-FFF2-40B4-BE49-F238E27FC236}">
                <a16:creationId xmlns:a16="http://schemas.microsoft.com/office/drawing/2014/main" id="{772BFCEC-5D24-4D41-BF34-364A2F283C79}"/>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3" name="page">
            <a:extLst xmlns:a="http://schemas.openxmlformats.org/drawingml/2006/main">
              <a:ext uri="{FF2B5EF4-FFF2-40B4-BE49-F238E27FC236}">
                <a16:creationId xmlns:a16="http://schemas.microsoft.com/office/drawing/2014/main" id="{5E70313D-CC4A-4F54-AAEB-4DF304A11CD2}"/>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12</a:t>
            </a:r>
          </a:p>
        </p:txBody>
      </p:sp>
      <p:graphicFrame>
        <p:nvGraphicFramePr>
          <p:cNvPr id="9" name=""/>
          <p:cNvGraphicFramePr/>
          <p:nvPr/>
        </p:nvGraphicFramePr>
        <p:xfrm>
          <a:off xmlns:a="http://schemas.openxmlformats.org/drawingml/2006/main" x="514350" y="1619250"/>
          <a:ext xmlns:a="http://schemas.openxmlformats.org/drawingml/2006/main" cx="11163300" cy="2476500"/>
        </p:xfrm>
        <a:graphic xmlns:a="http://schemas.openxmlformats.org/drawingml/2006/main">
          <a:graphicData uri="http://schemas.openxmlformats.org/drawingml/2006/table">
            <a:tbl>
              <a:tblPr/>
              <a:tblGrid>
                <a:gridCol w="1809750"/>
                <a:gridCol w="2095500"/>
                <a:gridCol w="1905000"/>
                <a:gridCol w="2381250"/>
                <a:gridCol w="2971800"/>
              </a:tblGrid>
              <a:tr h="825500">
                <a:tc>
                  <a:txBody>
                    <a:bodyPr/>
                    <a:lstStyle/>
                    <a:p>
                      <a:r>
                        <a:rPr sz="1875" b="1">
                          <a:solidFill>
                            <a:srgbClr val="243D3F"/>
                          </a:solidFill>
                        </a:rPr>
                        <a:t>Target</a:t>
                      </a:r>
                    </a:p>
                  </a:txBody>
                  <a:tcPr marL="91440" marR="91440" marT="45720" marB="45720">
                    <a:solidFill>
                      <a:srgbClr val="EEF4F0"/>
                    </a:solidFill>
                  </a:tcPr>
                </a:tc>
                <a:tc>
                  <a:txBody>
                    <a:bodyPr/>
                    <a:lstStyle/>
                    <a:p>
                      <a:r>
                        <a:rPr sz="1875" b="1">
                          <a:solidFill>
                            <a:srgbClr val="243D3F"/>
                          </a:solidFill>
                        </a:rPr>
                        <a:t>Test NSE</a:t>
                      </a:r>
                    </a:p>
                  </a:txBody>
                  <a:tcPr marL="91440" marR="91440" marT="45720" marB="45720">
                    <a:solidFill>
                      <a:srgbClr val="EEF4F0"/>
                    </a:solidFill>
                  </a:tcPr>
                </a:tc>
                <a:tc>
                  <a:txBody>
                    <a:bodyPr/>
                    <a:lstStyle/>
                    <a:p>
                      <a:r>
                        <a:rPr sz="1875" b="1">
                          <a:solidFill>
                            <a:srgbClr val="243D3F"/>
                          </a:solidFill>
                        </a:rPr>
                        <a:t>Test r</a:t>
                      </a:r>
                    </a:p>
                  </a:txBody>
                  <a:tcPr marL="91440" marR="91440" marT="45720" marB="45720">
                    <a:solidFill>
                      <a:srgbClr val="EEF4F0"/>
                    </a:solidFill>
                  </a:tcPr>
                </a:tc>
                <a:tc>
                  <a:txBody>
                    <a:bodyPr/>
                    <a:lstStyle/>
                    <a:p>
                      <a:r>
                        <a:rPr sz="1875" b="1">
                          <a:solidFill>
                            <a:srgbClr val="243D3F"/>
                          </a:solidFill>
                        </a:rPr>
                        <a:t>RMSE (mm)</a:t>
                      </a:r>
                    </a:p>
                  </a:txBody>
                  <a:tcPr marL="91440" marR="91440" marT="45720" marB="45720">
                    <a:solidFill>
                      <a:srgbClr val="EEF4F0"/>
                    </a:solidFill>
                  </a:tcPr>
                </a:tc>
                <a:tc>
                  <a:txBody>
                    <a:bodyPr/>
                    <a:lstStyle/>
                    <a:p>
                      <a:r>
                        <a:rPr sz="1875" b="1">
                          <a:solidFill>
                            <a:srgbClr val="243D3F"/>
                          </a:solidFill>
                        </a:rPr>
                        <a:t>Deseasonalized NSE</a:t>
                      </a:r>
                    </a:p>
                  </a:txBody>
                  <a:tcPr marL="91440" marR="91440" marT="45720" marB="45720">
                    <a:solidFill>
                      <a:srgbClr val="EEF4F0"/>
                    </a:solidFill>
                  </a:tcPr>
                </a:tc>
              </a:tr>
              <a:tr h="825500">
                <a:tc>
                  <a:txBody>
                    <a:bodyPr/>
                    <a:lstStyle/>
                    <a:p>
                      <a:r>
                        <a:rPr sz="1875" b="0">
                          <a:solidFill>
                            <a:srgbClr val="243D3F"/>
                          </a:solidFill>
                        </a:rPr>
                        <a:t>TWSA</a:t>
                      </a:r>
                    </a:p>
                  </a:txBody>
                  <a:tcPr marL="91440" marR="91440" marT="45720" marB="45720">
                    <a:solidFill>
                      <a:srgbClr val="FFFFFF"/>
                    </a:solidFill>
                  </a:tcPr>
                </a:tc>
                <a:tc>
                  <a:txBody>
                    <a:bodyPr/>
                    <a:lstStyle/>
                    <a:p>
                      <a:r>
                        <a:rPr sz="1875" b="0">
                          <a:solidFill>
                            <a:srgbClr val="243D3F"/>
                          </a:solidFill>
                        </a:rPr>
                        <a:t>0.626</a:t>
                      </a:r>
                    </a:p>
                  </a:txBody>
                  <a:tcPr marL="91440" marR="91440" marT="45720" marB="45720">
                    <a:solidFill>
                      <a:srgbClr val="FFFFFF"/>
                    </a:solidFill>
                  </a:tcPr>
                </a:tc>
                <a:tc>
                  <a:txBody>
                    <a:bodyPr/>
                    <a:lstStyle/>
                    <a:p>
                      <a:r>
                        <a:rPr sz="1875" b="0">
                          <a:solidFill>
                            <a:srgbClr val="243D3F"/>
                          </a:solidFill>
                        </a:rPr>
                        <a:t>0.936</a:t>
                      </a:r>
                    </a:p>
                  </a:txBody>
                  <a:tcPr marL="91440" marR="91440" marT="45720" marB="45720">
                    <a:solidFill>
                      <a:srgbClr val="FFFFFF"/>
                    </a:solidFill>
                  </a:tcPr>
                </a:tc>
                <a:tc>
                  <a:txBody>
                    <a:bodyPr/>
                    <a:lstStyle/>
                    <a:p>
                      <a:r>
                        <a:rPr sz="1875" b="0">
                          <a:solidFill>
                            <a:srgbClr val="243D3F"/>
                          </a:solidFill>
                        </a:rPr>
                        <a:t>75.20</a:t>
                      </a:r>
                    </a:p>
                  </a:txBody>
                  <a:tcPr marL="91440" marR="91440" marT="45720" marB="45720">
                    <a:solidFill>
                      <a:srgbClr val="FFFFFF"/>
                    </a:solidFill>
                  </a:tcPr>
                </a:tc>
                <a:tc>
                  <a:txBody>
                    <a:bodyPr/>
                    <a:lstStyle/>
                    <a:p>
                      <a:r>
                        <a:rPr sz="1875" b="0">
                          <a:solidFill>
                            <a:srgbClr val="243D3F"/>
                          </a:solidFill>
                        </a:rPr>
                        <a:t>-1.106</a:t>
                      </a:r>
                    </a:p>
                  </a:txBody>
                  <a:tcPr marL="91440" marR="91440" marT="45720" marB="45720">
                    <a:solidFill>
                      <a:srgbClr val="FFFFFF"/>
                    </a:solidFill>
                  </a:tcPr>
                </a:tc>
              </a:tr>
              <a:tr h="825500">
                <a:tc>
                  <a:txBody>
                    <a:bodyPr/>
                    <a:lstStyle/>
                    <a:p>
                      <a:r>
                        <a:rPr sz="1875" b="0">
                          <a:solidFill>
                            <a:srgbClr val="243D3F"/>
                          </a:solidFill>
                        </a:rPr>
                        <a:t>GWSA</a:t>
                      </a:r>
                    </a:p>
                  </a:txBody>
                  <a:tcPr marL="91440" marR="91440" marT="45720" marB="45720">
                    <a:solidFill>
                      <a:srgbClr val="FFFFFF"/>
                    </a:solidFill>
                  </a:tcPr>
                </a:tc>
                <a:tc>
                  <a:txBody>
                    <a:bodyPr/>
                    <a:lstStyle/>
                    <a:p>
                      <a:r>
                        <a:rPr sz="1875" b="0">
                          <a:solidFill>
                            <a:srgbClr val="243D3F"/>
                          </a:solidFill>
                        </a:rPr>
                        <a:t>-0.401</a:t>
                      </a:r>
                    </a:p>
                  </a:txBody>
                  <a:tcPr marL="91440" marR="91440" marT="45720" marB="45720">
                    <a:solidFill>
                      <a:srgbClr val="FFFFFF"/>
                    </a:solidFill>
                  </a:tcPr>
                </a:tc>
                <a:tc>
                  <a:txBody>
                    <a:bodyPr/>
                    <a:lstStyle/>
                    <a:p>
                      <a:r>
                        <a:rPr sz="1875" b="0">
                          <a:solidFill>
                            <a:srgbClr val="243D3F"/>
                          </a:solidFill>
                        </a:rPr>
                        <a:t>0.800</a:t>
                      </a:r>
                    </a:p>
                  </a:txBody>
                  <a:tcPr marL="91440" marR="91440" marT="45720" marB="45720">
                    <a:solidFill>
                      <a:srgbClr val="FFFFFF"/>
                    </a:solidFill>
                  </a:tcPr>
                </a:tc>
                <a:tc>
                  <a:txBody>
                    <a:bodyPr/>
                    <a:lstStyle/>
                    <a:p>
                      <a:r>
                        <a:rPr sz="1875" b="0">
                          <a:solidFill>
                            <a:srgbClr val="243D3F"/>
                          </a:solidFill>
                        </a:rPr>
                        <a:t>76.09</a:t>
                      </a:r>
                    </a:p>
                  </a:txBody>
                  <a:tcPr marL="91440" marR="91440" marT="45720" marB="45720">
                    <a:solidFill>
                      <a:srgbClr val="FFFFFF"/>
                    </a:solidFill>
                  </a:tcPr>
                </a:tc>
                <a:tc>
                  <a:txBody>
                    <a:bodyPr/>
                    <a:lstStyle/>
                    <a:p>
                      <a:r>
                        <a:rPr sz="1875" b="0">
                          <a:solidFill>
                            <a:srgbClr val="243D3F"/>
                          </a:solidFill>
                        </a:rPr>
                        <a:t>-2.483</a:t>
                      </a:r>
                    </a:p>
                  </a:txBody>
                  <a:tcPr marL="91440" marR="91440" marT="45720" marB="45720">
                    <a:solidFill>
                      <a:srgbClr val="FFFFFF"/>
                    </a:solidFill>
                  </a:tcPr>
                </a:tc>
              </a:tr>
            </a:tbl>
          </a:graphicData>
        </a:graphic>
      </p:graphicFrame>
      <p:sp>
        <p:nvSpPr>
          <p:cNvPr id="5" name="body">
            <a:extLst xmlns:a="http://schemas.openxmlformats.org/drawingml/2006/main">
              <a:ext uri="{FF2B5EF4-FFF2-40B4-BE49-F238E27FC236}">
                <a16:creationId xmlns:a16="http://schemas.microsoft.com/office/drawing/2014/main" id="{70C9ABD2-E474-4532-810A-E89C22C1D5DD}"/>
              </a:ext>
            </a:extLst>
          </p:cNvPr>
          <p:cNvSpPr>
            <a:spLocks xmlns:a="http://schemas.openxmlformats.org/drawingml/2006/main" noGrp="1"/>
          </p:cNvSpPr>
          <p:nvPr/>
        </p:nvSpPr>
        <p:spPr>
          <a:xfrm xmlns:a="http://schemas.openxmlformats.org/drawingml/2006/main">
            <a:off x="514350" y="4714875"/>
            <a:ext cx="10858500" cy="10477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475" b="0">
                <a:solidFill>
                  <a:srgbClr val="A05A38"/>
                </a:solidFill>
              </a:defRPr>
            </a:pPr>
            <a:r>
              <a:t>The GWSA model fails the test-period mean benchmark. Strong human attribution is unsupported.</a:t>
            </a:r>
          </a:p>
        </p:txBody>
      </p:sp>
    </p:spTree>
    <p:extLst>
      <p:ext uri="{BB962C8B-B14F-4D97-AF65-F5344CB8AC3E}">
        <p14:creationId xmlns:p14="http://schemas.microsoft.com/office/powerpoint/2010/main" val="129000725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30FFBA70-2B28-4EE0-B35C-BF888512F329}"/>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Climate skill varies across the 22 basins</a:t>
            </a:r>
          </a:p>
        </p:txBody>
      </p:sp>
      <p:sp>
        <p:nvSpPr>
          <p:cNvPr id="2" name="source">
            <a:extLst xmlns:a="http://schemas.openxmlformats.org/drawingml/2006/main">
              <a:ext uri="{FF2B5EF4-FFF2-40B4-BE49-F238E27FC236}">
                <a16:creationId xmlns:a16="http://schemas.microsoft.com/office/drawing/2014/main" id="{00475826-C9F4-47C9-B1FA-AD2DF5097430}"/>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Independent-test NSE • negative values indicate poor reconstruction</a:t>
            </a:r>
          </a:p>
        </p:txBody>
      </p:sp>
      <p:sp>
        <p:nvSpPr>
          <p:cNvPr id="3" name="page">
            <a:extLst xmlns:a="http://schemas.openxmlformats.org/drawingml/2006/main">
              <a:ext uri="{FF2B5EF4-FFF2-40B4-BE49-F238E27FC236}">
                <a16:creationId xmlns:a16="http://schemas.microsoft.com/office/drawing/2014/main" id="{1D04753C-A7B8-4F60-A041-5EADE005797B}"/>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13</a:t>
            </a:r>
          </a:p>
        </p:txBody>
      </p:sp>
      <p:graphicFrame>
        <p:nvGraphicFramePr>
          <p:cNvPr id="9" name=""/>
          <p:cNvGraphicFramePr/>
          <p:nvPr/>
        </p:nvGraphicFramePr>
        <p:xfrm>
          <a:off xmlns:a="http://schemas.openxmlformats.org/drawingml/2006/main" x="514350" y="1571625"/>
          <a:ext xmlns:a="http://schemas.openxmlformats.org/drawingml/2006/main" cx="5391150" cy="4572000"/>
        </p:xfrm>
        <a:graphic xmlns:a="http://schemas.openxmlformats.org/drawingml/2006/main">
          <a:graphicData uri="http://schemas.openxmlformats.org/drawingml/2006/table">
            <a:tbl>
              <a:tblPr/>
              <a:tblGrid>
                <a:gridCol w="3429000"/>
                <a:gridCol w="981075"/>
                <a:gridCol w="981075"/>
              </a:tblGrid>
              <a:tr h="381000">
                <a:tc>
                  <a:txBody>
                    <a:bodyPr/>
                    <a:lstStyle/>
                    <a:p>
                      <a:r>
                        <a:rPr sz="1725" b="1">
                          <a:solidFill>
                            <a:srgbClr val="243D3F"/>
                          </a:solidFill>
                        </a:rPr>
                        <a:t>Basin</a:t>
                      </a:r>
                    </a:p>
                  </a:txBody>
                  <a:tcPr marL="91440" marR="91440" marT="45720" marB="45720">
                    <a:solidFill>
                      <a:srgbClr val="EEF4F0"/>
                    </a:solidFill>
                  </a:tcPr>
                </a:tc>
                <a:tc>
                  <a:txBody>
                    <a:bodyPr/>
                    <a:lstStyle/>
                    <a:p>
                      <a:r>
                        <a:rPr sz="1725" b="1">
                          <a:solidFill>
                            <a:srgbClr val="243D3F"/>
                          </a:solidFill>
                        </a:rPr>
                        <a:t>TWSA</a:t>
                      </a:r>
                    </a:p>
                  </a:txBody>
                  <a:tcPr marL="91440" marR="91440" marT="45720" marB="45720">
                    <a:solidFill>
                      <a:srgbClr val="EEF4F0"/>
                    </a:solidFill>
                  </a:tcPr>
                </a:tc>
                <a:tc>
                  <a:txBody>
                    <a:bodyPr/>
                    <a:lstStyle/>
                    <a:p>
                      <a:r>
                        <a:rPr sz="1725" b="1">
                          <a:solidFill>
                            <a:srgbClr val="243D3F"/>
                          </a:solidFill>
                        </a:rPr>
                        <a:t>GWSA</a:t>
                      </a:r>
                    </a:p>
                  </a:txBody>
                  <a:tcPr marL="91440" marR="91440" marT="45720" marB="45720">
                    <a:solidFill>
                      <a:srgbClr val="EEF4F0"/>
                    </a:solidFill>
                  </a:tcPr>
                </a:tc>
              </a:tr>
              <a:tr h="381000">
                <a:tc>
                  <a:txBody>
                    <a:bodyPr/>
                    <a:lstStyle/>
                    <a:p>
                      <a:r>
                        <a:rPr sz="1725" b="0">
                          <a:solidFill>
                            <a:srgbClr val="243D3F"/>
                          </a:solidFill>
                        </a:rPr>
                        <a:t>Salawin</a:t>
                      </a:r>
                    </a:p>
                  </a:txBody>
                  <a:tcPr marL="91440" marR="91440" marT="45720" marB="45720">
                    <a:solidFill>
                      <a:srgbClr val="FFFFFF"/>
                    </a:solidFill>
                  </a:tcPr>
                </a:tc>
                <a:tc>
                  <a:txBody>
                    <a:bodyPr/>
                    <a:lstStyle/>
                    <a:p>
                      <a:r>
                        <a:rPr sz="1725" b="0">
                          <a:solidFill>
                            <a:srgbClr val="243D3F"/>
                          </a:solidFill>
                        </a:rPr>
                        <a:t>0.64</a:t>
                      </a:r>
                    </a:p>
                  </a:txBody>
                  <a:tcPr marL="91440" marR="91440" marT="45720" marB="45720">
                    <a:solidFill>
                      <a:srgbClr val="FFFFFF"/>
                    </a:solidFill>
                  </a:tcPr>
                </a:tc>
                <a:tc>
                  <a:txBody>
                    <a:bodyPr/>
                    <a:lstStyle/>
                    <a:p>
                      <a:r>
                        <a:rPr sz="1725" b="0">
                          <a:solidFill>
                            <a:srgbClr val="243D3F"/>
                          </a:solidFill>
                        </a:rPr>
                        <a:t>-1.01</a:t>
                      </a:r>
                    </a:p>
                  </a:txBody>
                  <a:tcPr marL="91440" marR="91440" marT="45720" marB="45720">
                    <a:solidFill>
                      <a:srgbClr val="FFFFFF"/>
                    </a:solidFill>
                  </a:tcPr>
                </a:tc>
              </a:tr>
              <a:tr h="381000">
                <a:tc>
                  <a:txBody>
                    <a:bodyPr/>
                    <a:lstStyle/>
                    <a:p>
                      <a:r>
                        <a:rPr sz="1725" b="0">
                          <a:solidFill>
                            <a:srgbClr val="243D3F"/>
                          </a:solidFill>
                        </a:rPr>
                        <a:t>North Khong</a:t>
                      </a:r>
                    </a:p>
                  </a:txBody>
                  <a:tcPr marL="91440" marR="91440" marT="45720" marB="45720">
                    <a:solidFill>
                      <a:srgbClr val="FFFFFF"/>
                    </a:solidFill>
                  </a:tcPr>
                </a:tc>
                <a:tc>
                  <a:txBody>
                    <a:bodyPr/>
                    <a:lstStyle/>
                    <a:p>
                      <a:r>
                        <a:rPr sz="1725" b="0">
                          <a:solidFill>
                            <a:srgbClr val="243D3F"/>
                          </a:solidFill>
                        </a:rPr>
                        <a:t>0.64</a:t>
                      </a:r>
                    </a:p>
                  </a:txBody>
                  <a:tcPr marL="91440" marR="91440" marT="45720" marB="45720">
                    <a:solidFill>
                      <a:srgbClr val="FFFFFF"/>
                    </a:solidFill>
                  </a:tcPr>
                </a:tc>
                <a:tc>
                  <a:txBody>
                    <a:bodyPr/>
                    <a:lstStyle/>
                    <a:p>
                      <a:r>
                        <a:rPr sz="1725" b="0">
                          <a:solidFill>
                            <a:srgbClr val="243D3F"/>
                          </a:solidFill>
                        </a:rPr>
                        <a:t>-1.01</a:t>
                      </a:r>
                    </a:p>
                  </a:txBody>
                  <a:tcPr marL="91440" marR="91440" marT="45720" marB="45720">
                    <a:solidFill>
                      <a:srgbClr val="FFFFFF"/>
                    </a:solidFill>
                  </a:tcPr>
                </a:tc>
              </a:tr>
              <a:tr h="381000">
                <a:tc>
                  <a:txBody>
                    <a:bodyPr/>
                    <a:lstStyle/>
                    <a:p>
                      <a:r>
                        <a:rPr sz="1725" b="0">
                          <a:solidFill>
                            <a:srgbClr val="243D3F"/>
                          </a:solidFill>
                        </a:rPr>
                        <a:t>Northeast Khong</a:t>
                      </a:r>
                    </a:p>
                  </a:txBody>
                  <a:tcPr marL="91440" marR="91440" marT="45720" marB="45720">
                    <a:solidFill>
                      <a:srgbClr val="FFFFFF"/>
                    </a:solidFill>
                  </a:tcPr>
                </a:tc>
                <a:tc>
                  <a:txBody>
                    <a:bodyPr/>
                    <a:lstStyle/>
                    <a:p>
                      <a:r>
                        <a:rPr sz="1725" b="0">
                          <a:solidFill>
                            <a:srgbClr val="243D3F"/>
                          </a:solidFill>
                        </a:rPr>
                        <a:t>0.88</a:t>
                      </a:r>
                    </a:p>
                  </a:txBody>
                  <a:tcPr marL="91440" marR="91440" marT="45720" marB="45720">
                    <a:solidFill>
                      <a:srgbClr val="FFFFFF"/>
                    </a:solidFill>
                  </a:tcPr>
                </a:tc>
                <a:tc>
                  <a:txBody>
                    <a:bodyPr/>
                    <a:lstStyle/>
                    <a:p>
                      <a:r>
                        <a:rPr sz="1725" b="0">
                          <a:solidFill>
                            <a:srgbClr val="243D3F"/>
                          </a:solidFill>
                        </a:rPr>
                        <a:t>0.75</a:t>
                      </a:r>
                    </a:p>
                  </a:txBody>
                  <a:tcPr marL="91440" marR="91440" marT="45720" marB="45720">
                    <a:solidFill>
                      <a:srgbClr val="FFFFFF"/>
                    </a:solidFill>
                  </a:tcPr>
                </a:tc>
              </a:tr>
              <a:tr h="381000">
                <a:tc>
                  <a:txBody>
                    <a:bodyPr/>
                    <a:lstStyle/>
                    <a:p>
                      <a:r>
                        <a:rPr sz="1725" b="0">
                          <a:solidFill>
                            <a:srgbClr val="243D3F"/>
                          </a:solidFill>
                        </a:rPr>
                        <a:t>Chi</a:t>
                      </a:r>
                    </a:p>
                  </a:txBody>
                  <a:tcPr marL="91440" marR="91440" marT="45720" marB="45720">
                    <a:solidFill>
                      <a:srgbClr val="FFFFFF"/>
                    </a:solidFill>
                  </a:tcPr>
                </a:tc>
                <a:tc>
                  <a:txBody>
                    <a:bodyPr/>
                    <a:lstStyle/>
                    <a:p>
                      <a:r>
                        <a:rPr sz="1725" b="0">
                          <a:solidFill>
                            <a:srgbClr val="243D3F"/>
                          </a:solidFill>
                        </a:rPr>
                        <a:t>0.73</a:t>
                      </a:r>
                    </a:p>
                  </a:txBody>
                  <a:tcPr marL="91440" marR="91440" marT="45720" marB="45720">
                    <a:solidFill>
                      <a:srgbClr val="FFFFFF"/>
                    </a:solidFill>
                  </a:tcPr>
                </a:tc>
                <a:tc>
                  <a:txBody>
                    <a:bodyPr/>
                    <a:lstStyle/>
                    <a:p>
                      <a:r>
                        <a:rPr sz="1725" b="0">
                          <a:solidFill>
                            <a:srgbClr val="243D3F"/>
                          </a:solidFill>
                        </a:rPr>
                        <a:t>0.50</a:t>
                      </a:r>
                    </a:p>
                  </a:txBody>
                  <a:tcPr marL="91440" marR="91440" marT="45720" marB="45720">
                    <a:solidFill>
                      <a:srgbClr val="FFFFFF"/>
                    </a:solidFill>
                  </a:tcPr>
                </a:tc>
              </a:tr>
              <a:tr h="381000">
                <a:tc>
                  <a:txBody>
                    <a:bodyPr/>
                    <a:lstStyle/>
                    <a:p>
                      <a:r>
                        <a:rPr sz="1725" b="0">
                          <a:solidFill>
                            <a:srgbClr val="243D3F"/>
                          </a:solidFill>
                        </a:rPr>
                        <a:t>Mun</a:t>
                      </a:r>
                    </a:p>
                  </a:txBody>
                  <a:tcPr marL="91440" marR="91440" marT="45720" marB="45720">
                    <a:solidFill>
                      <a:srgbClr val="FFFFFF"/>
                    </a:solidFill>
                  </a:tcPr>
                </a:tc>
                <a:tc>
                  <a:txBody>
                    <a:bodyPr/>
                    <a:lstStyle/>
                    <a:p>
                      <a:r>
                        <a:rPr sz="1725" b="0">
                          <a:solidFill>
                            <a:srgbClr val="243D3F"/>
                          </a:solidFill>
                        </a:rPr>
                        <a:t>0.77</a:t>
                      </a:r>
                    </a:p>
                  </a:txBody>
                  <a:tcPr marL="91440" marR="91440" marT="45720" marB="45720">
                    <a:solidFill>
                      <a:srgbClr val="FFFFFF"/>
                    </a:solidFill>
                  </a:tcPr>
                </a:tc>
                <a:tc>
                  <a:txBody>
                    <a:bodyPr/>
                    <a:lstStyle/>
                    <a:p>
                      <a:r>
                        <a:rPr sz="1725" b="0">
                          <a:solidFill>
                            <a:srgbClr val="243D3F"/>
                          </a:solidFill>
                        </a:rPr>
                        <a:t>0.65</a:t>
                      </a:r>
                    </a:p>
                  </a:txBody>
                  <a:tcPr marL="91440" marR="91440" marT="45720" marB="45720">
                    <a:solidFill>
                      <a:srgbClr val="FFFFFF"/>
                    </a:solidFill>
                  </a:tcPr>
                </a:tc>
              </a:tr>
              <a:tr h="381000">
                <a:tc>
                  <a:txBody>
                    <a:bodyPr/>
                    <a:lstStyle/>
                    <a:p>
                      <a:r>
                        <a:rPr sz="1725" b="0">
                          <a:solidFill>
                            <a:srgbClr val="243D3F"/>
                          </a:solidFill>
                        </a:rPr>
                        <a:t>Ping</a:t>
                      </a:r>
                    </a:p>
                  </a:txBody>
                  <a:tcPr marL="91440" marR="91440" marT="45720" marB="45720">
                    <a:solidFill>
                      <a:srgbClr val="FFFFFF"/>
                    </a:solidFill>
                  </a:tcPr>
                </a:tc>
                <a:tc>
                  <a:txBody>
                    <a:bodyPr/>
                    <a:lstStyle/>
                    <a:p>
                      <a:r>
                        <a:rPr sz="1725" b="0">
                          <a:solidFill>
                            <a:srgbClr val="243D3F"/>
                          </a:solidFill>
                        </a:rPr>
                        <a:t>0.58</a:t>
                      </a:r>
                    </a:p>
                  </a:txBody>
                  <a:tcPr marL="91440" marR="91440" marT="45720" marB="45720">
                    <a:solidFill>
                      <a:srgbClr val="FFFFFF"/>
                    </a:solidFill>
                  </a:tcPr>
                </a:tc>
                <a:tc>
                  <a:txBody>
                    <a:bodyPr/>
                    <a:lstStyle/>
                    <a:p>
                      <a:r>
                        <a:rPr sz="1725" b="0">
                          <a:solidFill>
                            <a:srgbClr val="243D3F"/>
                          </a:solidFill>
                        </a:rPr>
                        <a:t>-0.76</a:t>
                      </a:r>
                    </a:p>
                  </a:txBody>
                  <a:tcPr marL="91440" marR="91440" marT="45720" marB="45720">
                    <a:solidFill>
                      <a:srgbClr val="FFFFFF"/>
                    </a:solidFill>
                  </a:tcPr>
                </a:tc>
              </a:tr>
              <a:tr h="381000">
                <a:tc>
                  <a:txBody>
                    <a:bodyPr/>
                    <a:lstStyle/>
                    <a:p>
                      <a:r>
                        <a:rPr sz="1725" b="0">
                          <a:solidFill>
                            <a:srgbClr val="243D3F"/>
                          </a:solidFill>
                        </a:rPr>
                        <a:t>Wang</a:t>
                      </a:r>
                    </a:p>
                  </a:txBody>
                  <a:tcPr marL="91440" marR="91440" marT="45720" marB="45720">
                    <a:solidFill>
                      <a:srgbClr val="FFFFFF"/>
                    </a:solidFill>
                  </a:tcPr>
                </a:tc>
                <a:tc>
                  <a:txBody>
                    <a:bodyPr/>
                    <a:lstStyle/>
                    <a:p>
                      <a:r>
                        <a:rPr sz="1725" b="0">
                          <a:solidFill>
                            <a:srgbClr val="243D3F"/>
                          </a:solidFill>
                        </a:rPr>
                        <a:t>0.59</a:t>
                      </a:r>
                    </a:p>
                  </a:txBody>
                  <a:tcPr marL="91440" marR="91440" marT="45720" marB="45720">
                    <a:solidFill>
                      <a:srgbClr val="FFFFFF"/>
                    </a:solidFill>
                  </a:tcPr>
                </a:tc>
                <a:tc>
                  <a:txBody>
                    <a:bodyPr/>
                    <a:lstStyle/>
                    <a:p>
                      <a:r>
                        <a:rPr sz="1725" b="0">
                          <a:solidFill>
                            <a:srgbClr val="243D3F"/>
                          </a:solidFill>
                        </a:rPr>
                        <a:t>-0.12</a:t>
                      </a:r>
                    </a:p>
                  </a:txBody>
                  <a:tcPr marL="91440" marR="91440" marT="45720" marB="45720">
                    <a:solidFill>
                      <a:srgbClr val="FFFFFF"/>
                    </a:solidFill>
                  </a:tcPr>
                </a:tc>
              </a:tr>
              <a:tr h="381000">
                <a:tc>
                  <a:txBody>
                    <a:bodyPr/>
                    <a:lstStyle/>
                    <a:p>
                      <a:r>
                        <a:rPr sz="1725" b="0">
                          <a:solidFill>
                            <a:srgbClr val="243D3F"/>
                          </a:solidFill>
                        </a:rPr>
                        <a:t>Yom</a:t>
                      </a:r>
                    </a:p>
                  </a:txBody>
                  <a:tcPr marL="91440" marR="91440" marT="45720" marB="45720">
                    <a:solidFill>
                      <a:srgbClr val="FFFFFF"/>
                    </a:solidFill>
                  </a:tcPr>
                </a:tc>
                <a:tc>
                  <a:txBody>
                    <a:bodyPr/>
                    <a:lstStyle/>
                    <a:p>
                      <a:r>
                        <a:rPr sz="1725" b="0">
                          <a:solidFill>
                            <a:srgbClr val="243D3F"/>
                          </a:solidFill>
                        </a:rPr>
                        <a:t>0.72</a:t>
                      </a:r>
                    </a:p>
                  </a:txBody>
                  <a:tcPr marL="91440" marR="91440" marT="45720" marB="45720">
                    <a:solidFill>
                      <a:srgbClr val="FFFFFF"/>
                    </a:solidFill>
                  </a:tcPr>
                </a:tc>
                <a:tc>
                  <a:txBody>
                    <a:bodyPr/>
                    <a:lstStyle/>
                    <a:p>
                      <a:r>
                        <a:rPr sz="1725" b="0">
                          <a:solidFill>
                            <a:srgbClr val="243D3F"/>
                          </a:solidFill>
                        </a:rPr>
                        <a:t>0.09</a:t>
                      </a:r>
                    </a:p>
                  </a:txBody>
                  <a:tcPr marL="91440" marR="91440" marT="45720" marB="45720">
                    <a:solidFill>
                      <a:srgbClr val="FFFFFF"/>
                    </a:solidFill>
                  </a:tcPr>
                </a:tc>
              </a:tr>
              <a:tr h="381000">
                <a:tc>
                  <a:txBody>
                    <a:bodyPr/>
                    <a:lstStyle/>
                    <a:p>
                      <a:r>
                        <a:rPr sz="1725" b="0">
                          <a:solidFill>
                            <a:srgbClr val="243D3F"/>
                          </a:solidFill>
                        </a:rPr>
                        <a:t>Nan</a:t>
                      </a:r>
                    </a:p>
                  </a:txBody>
                  <a:tcPr marL="91440" marR="91440" marT="45720" marB="45720">
                    <a:solidFill>
                      <a:srgbClr val="FFFFFF"/>
                    </a:solidFill>
                  </a:tcPr>
                </a:tc>
                <a:tc>
                  <a:txBody>
                    <a:bodyPr/>
                    <a:lstStyle/>
                    <a:p>
                      <a:r>
                        <a:rPr sz="1725" b="0">
                          <a:solidFill>
                            <a:srgbClr val="243D3F"/>
                          </a:solidFill>
                        </a:rPr>
                        <a:t>0.69</a:t>
                      </a:r>
                    </a:p>
                  </a:txBody>
                  <a:tcPr marL="91440" marR="91440" marT="45720" marB="45720">
                    <a:solidFill>
                      <a:srgbClr val="FFFFFF"/>
                    </a:solidFill>
                  </a:tcPr>
                </a:tc>
                <a:tc>
                  <a:txBody>
                    <a:bodyPr/>
                    <a:lstStyle/>
                    <a:p>
                      <a:r>
                        <a:rPr sz="1725" b="0">
                          <a:solidFill>
                            <a:srgbClr val="243D3F"/>
                          </a:solidFill>
                        </a:rPr>
                        <a:t>0.04</a:t>
                      </a:r>
                    </a:p>
                  </a:txBody>
                  <a:tcPr marL="91440" marR="91440" marT="45720" marB="45720">
                    <a:solidFill>
                      <a:srgbClr val="FFFFFF"/>
                    </a:solidFill>
                  </a:tcPr>
                </a:tc>
              </a:tr>
              <a:tr h="381000">
                <a:tc>
                  <a:txBody>
                    <a:bodyPr/>
                    <a:lstStyle/>
                    <a:p>
                      <a:r>
                        <a:rPr sz="1725" b="0">
                          <a:solidFill>
                            <a:srgbClr val="243D3F"/>
                          </a:solidFill>
                        </a:rPr>
                        <a:t>Chao Phraya</a:t>
                      </a:r>
                    </a:p>
                  </a:txBody>
                  <a:tcPr marL="91440" marR="91440" marT="45720" marB="45720">
                    <a:solidFill>
                      <a:srgbClr val="FFFFFF"/>
                    </a:solidFill>
                  </a:tcPr>
                </a:tc>
                <a:tc>
                  <a:txBody>
                    <a:bodyPr/>
                    <a:lstStyle/>
                    <a:p>
                      <a:r>
                        <a:rPr sz="1725" b="0">
                          <a:solidFill>
                            <a:srgbClr val="243D3F"/>
                          </a:solidFill>
                        </a:rPr>
                        <a:t>0.66</a:t>
                      </a:r>
                    </a:p>
                  </a:txBody>
                  <a:tcPr marL="91440" marR="91440" marT="45720" marB="45720">
                    <a:solidFill>
                      <a:srgbClr val="FFFFFF"/>
                    </a:solidFill>
                  </a:tcPr>
                </a:tc>
                <a:tc>
                  <a:txBody>
                    <a:bodyPr/>
                    <a:lstStyle/>
                    <a:p>
                      <a:r>
                        <a:rPr sz="1725" b="0">
                          <a:solidFill>
                            <a:srgbClr val="243D3F"/>
                          </a:solidFill>
                        </a:rPr>
                        <a:t>-0.38</a:t>
                      </a:r>
                    </a:p>
                  </a:txBody>
                  <a:tcPr marL="91440" marR="91440" marT="45720" marB="45720">
                    <a:solidFill>
                      <a:srgbClr val="FFFFFF"/>
                    </a:solidFill>
                  </a:tcPr>
                </a:tc>
              </a:tr>
              <a:tr h="381000">
                <a:tc>
                  <a:txBody>
                    <a:bodyPr/>
                    <a:lstStyle/>
                    <a:p>
                      <a:r>
                        <a:rPr sz="1725" b="0">
                          <a:solidFill>
                            <a:srgbClr val="243D3F"/>
                          </a:solidFill>
                        </a:rPr>
                        <a:t>Sakae Krang</a:t>
                      </a:r>
                    </a:p>
                  </a:txBody>
                  <a:tcPr marL="91440" marR="91440" marT="45720" marB="45720">
                    <a:solidFill>
                      <a:srgbClr val="FFFFFF"/>
                    </a:solidFill>
                  </a:tcPr>
                </a:tc>
                <a:tc>
                  <a:txBody>
                    <a:bodyPr/>
                    <a:lstStyle/>
                    <a:p>
                      <a:r>
                        <a:rPr sz="1725" b="0">
                          <a:solidFill>
                            <a:srgbClr val="243D3F"/>
                          </a:solidFill>
                        </a:rPr>
                        <a:t>0.80</a:t>
                      </a:r>
                    </a:p>
                  </a:txBody>
                  <a:tcPr marL="91440" marR="91440" marT="45720" marB="45720">
                    <a:solidFill>
                      <a:srgbClr val="FFFFFF"/>
                    </a:solidFill>
                  </a:tcPr>
                </a:tc>
                <a:tc>
                  <a:txBody>
                    <a:bodyPr/>
                    <a:lstStyle/>
                    <a:p>
                      <a:r>
                        <a:rPr sz="1725" b="0">
                          <a:solidFill>
                            <a:srgbClr val="243D3F"/>
                          </a:solidFill>
                        </a:rPr>
                        <a:t>-0.14</a:t>
                      </a:r>
                    </a:p>
                  </a:txBody>
                  <a:tcPr marL="91440" marR="91440" marT="45720" marB="45720">
                    <a:solidFill>
                      <a:srgbClr val="FFFFFF"/>
                    </a:solidFill>
                  </a:tcPr>
                </a:tc>
              </a:tr>
            </a:tbl>
          </a:graphicData>
        </a:graphic>
      </p:graphicFrame>
      <p:graphicFrame>
        <p:nvGraphicFramePr>
          <p:cNvPr id="10" name=""/>
          <p:cNvGraphicFramePr/>
          <p:nvPr/>
        </p:nvGraphicFramePr>
        <p:xfrm>
          <a:off xmlns:a="http://schemas.openxmlformats.org/drawingml/2006/main" x="6286500" y="1571625"/>
          <a:ext xmlns:a="http://schemas.openxmlformats.org/drawingml/2006/main" cx="5391150" cy="4572000"/>
        </p:xfrm>
        <a:graphic xmlns:a="http://schemas.openxmlformats.org/drawingml/2006/main">
          <a:graphicData uri="http://schemas.openxmlformats.org/drawingml/2006/table">
            <a:tbl>
              <a:tblPr/>
              <a:tblGrid>
                <a:gridCol w="3429000"/>
                <a:gridCol w="981075"/>
                <a:gridCol w="981075"/>
              </a:tblGrid>
              <a:tr h="381000">
                <a:tc>
                  <a:txBody>
                    <a:bodyPr/>
                    <a:lstStyle/>
                    <a:p>
                      <a:r>
                        <a:rPr sz="1725" b="1">
                          <a:solidFill>
                            <a:srgbClr val="243D3F"/>
                          </a:solidFill>
                        </a:rPr>
                        <a:t>Basin</a:t>
                      </a:r>
                    </a:p>
                  </a:txBody>
                  <a:tcPr marL="91440" marR="91440" marT="45720" marB="45720">
                    <a:solidFill>
                      <a:srgbClr val="EEF4F0"/>
                    </a:solidFill>
                  </a:tcPr>
                </a:tc>
                <a:tc>
                  <a:txBody>
                    <a:bodyPr/>
                    <a:lstStyle/>
                    <a:p>
                      <a:r>
                        <a:rPr sz="1725" b="1">
                          <a:solidFill>
                            <a:srgbClr val="243D3F"/>
                          </a:solidFill>
                        </a:rPr>
                        <a:t>TWSA</a:t>
                      </a:r>
                    </a:p>
                  </a:txBody>
                  <a:tcPr marL="91440" marR="91440" marT="45720" marB="45720">
                    <a:solidFill>
                      <a:srgbClr val="EEF4F0"/>
                    </a:solidFill>
                  </a:tcPr>
                </a:tc>
                <a:tc>
                  <a:txBody>
                    <a:bodyPr/>
                    <a:lstStyle/>
                    <a:p>
                      <a:r>
                        <a:rPr sz="1725" b="1">
                          <a:solidFill>
                            <a:srgbClr val="243D3F"/>
                          </a:solidFill>
                        </a:rPr>
                        <a:t>GWSA</a:t>
                      </a:r>
                    </a:p>
                  </a:txBody>
                  <a:tcPr marL="91440" marR="91440" marT="45720" marB="45720">
                    <a:solidFill>
                      <a:srgbClr val="EEF4F0"/>
                    </a:solidFill>
                  </a:tcPr>
                </a:tc>
              </a:tr>
              <a:tr h="381000">
                <a:tc>
                  <a:txBody>
                    <a:bodyPr/>
                    <a:lstStyle/>
                    <a:p>
                      <a:r>
                        <a:rPr sz="1725" b="0">
                          <a:solidFill>
                            <a:srgbClr val="243D3F"/>
                          </a:solidFill>
                        </a:rPr>
                        <a:t>Pasak</a:t>
                      </a:r>
                    </a:p>
                  </a:txBody>
                  <a:tcPr marL="91440" marR="91440" marT="45720" marB="45720">
                    <a:solidFill>
                      <a:srgbClr val="FFFFFF"/>
                    </a:solidFill>
                  </a:tcPr>
                </a:tc>
                <a:tc>
                  <a:txBody>
                    <a:bodyPr/>
                    <a:lstStyle/>
                    <a:p>
                      <a:r>
                        <a:rPr sz="1725" b="0">
                          <a:solidFill>
                            <a:srgbClr val="243D3F"/>
                          </a:solidFill>
                        </a:rPr>
                        <a:t>0.54</a:t>
                      </a:r>
                    </a:p>
                  </a:txBody>
                  <a:tcPr marL="91440" marR="91440" marT="45720" marB="45720">
                    <a:solidFill>
                      <a:srgbClr val="FFFFFF"/>
                    </a:solidFill>
                  </a:tcPr>
                </a:tc>
                <a:tc>
                  <a:txBody>
                    <a:bodyPr/>
                    <a:lstStyle/>
                    <a:p>
                      <a:r>
                        <a:rPr sz="1725" b="0">
                          <a:solidFill>
                            <a:srgbClr val="243D3F"/>
                          </a:solidFill>
                        </a:rPr>
                        <a:t>-0.14</a:t>
                      </a:r>
                    </a:p>
                  </a:txBody>
                  <a:tcPr marL="91440" marR="91440" marT="45720" marB="45720">
                    <a:solidFill>
                      <a:srgbClr val="FFFFFF"/>
                    </a:solidFill>
                  </a:tcPr>
                </a:tc>
              </a:tr>
              <a:tr h="381000">
                <a:tc>
                  <a:txBody>
                    <a:bodyPr/>
                    <a:lstStyle/>
                    <a:p>
                      <a:r>
                        <a:rPr sz="1725" b="0">
                          <a:solidFill>
                            <a:srgbClr val="243D3F"/>
                          </a:solidFill>
                        </a:rPr>
                        <a:t>Tha Chin</a:t>
                      </a:r>
                    </a:p>
                  </a:txBody>
                  <a:tcPr marL="91440" marR="91440" marT="45720" marB="45720">
                    <a:solidFill>
                      <a:srgbClr val="FFFFFF"/>
                    </a:solidFill>
                  </a:tcPr>
                </a:tc>
                <a:tc>
                  <a:txBody>
                    <a:bodyPr/>
                    <a:lstStyle/>
                    <a:p>
                      <a:r>
                        <a:rPr sz="1725" b="0">
                          <a:solidFill>
                            <a:srgbClr val="243D3F"/>
                          </a:solidFill>
                        </a:rPr>
                        <a:t>0.65</a:t>
                      </a:r>
                    </a:p>
                  </a:txBody>
                  <a:tcPr marL="91440" marR="91440" marT="45720" marB="45720">
                    <a:solidFill>
                      <a:srgbClr val="FFFFFF"/>
                    </a:solidFill>
                  </a:tcPr>
                </a:tc>
                <a:tc>
                  <a:txBody>
                    <a:bodyPr/>
                    <a:lstStyle/>
                    <a:p>
                      <a:r>
                        <a:rPr sz="1725" b="0">
                          <a:solidFill>
                            <a:srgbClr val="243D3F"/>
                          </a:solidFill>
                        </a:rPr>
                        <a:t>-0.35</a:t>
                      </a:r>
                    </a:p>
                  </a:txBody>
                  <a:tcPr marL="91440" marR="91440" marT="45720" marB="45720">
                    <a:solidFill>
                      <a:srgbClr val="FFFFFF"/>
                    </a:solidFill>
                  </a:tcPr>
                </a:tc>
              </a:tr>
              <a:tr h="381000">
                <a:tc>
                  <a:txBody>
                    <a:bodyPr/>
                    <a:lstStyle/>
                    <a:p>
                      <a:r>
                        <a:rPr sz="1725" b="0">
                          <a:solidFill>
                            <a:srgbClr val="243D3F"/>
                          </a:solidFill>
                        </a:rPr>
                        <a:t>Mae Klong</a:t>
                      </a:r>
                    </a:p>
                  </a:txBody>
                  <a:tcPr marL="91440" marR="91440" marT="45720" marB="45720">
                    <a:solidFill>
                      <a:srgbClr val="FFFFFF"/>
                    </a:solidFill>
                  </a:tcPr>
                </a:tc>
                <a:tc>
                  <a:txBody>
                    <a:bodyPr/>
                    <a:lstStyle/>
                    <a:p>
                      <a:r>
                        <a:rPr sz="1725" b="0">
                          <a:solidFill>
                            <a:srgbClr val="243D3F"/>
                          </a:solidFill>
                        </a:rPr>
                        <a:t>0.79</a:t>
                      </a:r>
                    </a:p>
                  </a:txBody>
                  <a:tcPr marL="91440" marR="91440" marT="45720" marB="45720">
                    <a:solidFill>
                      <a:srgbClr val="FFFFFF"/>
                    </a:solidFill>
                  </a:tcPr>
                </a:tc>
                <a:tc>
                  <a:txBody>
                    <a:bodyPr/>
                    <a:lstStyle/>
                    <a:p>
                      <a:r>
                        <a:rPr sz="1725" b="0">
                          <a:solidFill>
                            <a:srgbClr val="243D3F"/>
                          </a:solidFill>
                        </a:rPr>
                        <a:t>-0.30</a:t>
                      </a:r>
                    </a:p>
                  </a:txBody>
                  <a:tcPr marL="91440" marR="91440" marT="45720" marB="45720">
                    <a:solidFill>
                      <a:srgbClr val="FFFFFF"/>
                    </a:solidFill>
                  </a:tcPr>
                </a:tc>
              </a:tr>
              <a:tr h="381000">
                <a:tc>
                  <a:txBody>
                    <a:bodyPr/>
                    <a:lstStyle/>
                    <a:p>
                      <a:r>
                        <a:rPr sz="1725" b="0">
                          <a:solidFill>
                            <a:srgbClr val="243D3F"/>
                          </a:solidFill>
                        </a:rPr>
                        <a:t>Bang Pakong</a:t>
                      </a:r>
                    </a:p>
                  </a:txBody>
                  <a:tcPr marL="91440" marR="91440" marT="45720" marB="45720">
                    <a:solidFill>
                      <a:srgbClr val="FFFFFF"/>
                    </a:solidFill>
                  </a:tcPr>
                </a:tc>
                <a:tc>
                  <a:txBody>
                    <a:bodyPr/>
                    <a:lstStyle/>
                    <a:p>
                      <a:r>
                        <a:rPr sz="1725" b="0">
                          <a:solidFill>
                            <a:srgbClr val="243D3F"/>
                          </a:solidFill>
                        </a:rPr>
                        <a:t>0.41</a:t>
                      </a:r>
                    </a:p>
                  </a:txBody>
                  <a:tcPr marL="91440" marR="91440" marT="45720" marB="45720">
                    <a:solidFill>
                      <a:srgbClr val="FFFFFF"/>
                    </a:solidFill>
                  </a:tcPr>
                </a:tc>
                <a:tc>
                  <a:txBody>
                    <a:bodyPr/>
                    <a:lstStyle/>
                    <a:p>
                      <a:r>
                        <a:rPr sz="1725" b="0">
                          <a:solidFill>
                            <a:srgbClr val="243D3F"/>
                          </a:solidFill>
                        </a:rPr>
                        <a:t>-0.38</a:t>
                      </a:r>
                    </a:p>
                  </a:txBody>
                  <a:tcPr marL="91440" marR="91440" marT="45720" marB="45720">
                    <a:solidFill>
                      <a:srgbClr val="FFFFFF"/>
                    </a:solidFill>
                  </a:tcPr>
                </a:tc>
              </a:tr>
              <a:tr h="381000">
                <a:tc>
                  <a:txBody>
                    <a:bodyPr/>
                    <a:lstStyle/>
                    <a:p>
                      <a:r>
                        <a:rPr sz="1725" b="0">
                          <a:solidFill>
                            <a:srgbClr val="243D3F"/>
                          </a:solidFill>
                        </a:rPr>
                        <a:t>Tonle Sap</a:t>
                      </a:r>
                    </a:p>
                  </a:txBody>
                  <a:tcPr marL="91440" marR="91440" marT="45720" marB="45720">
                    <a:solidFill>
                      <a:srgbClr val="FFFFFF"/>
                    </a:solidFill>
                  </a:tcPr>
                </a:tc>
                <a:tc>
                  <a:txBody>
                    <a:bodyPr/>
                    <a:lstStyle/>
                    <a:p>
                      <a:r>
                        <a:rPr sz="1725" b="0">
                          <a:solidFill>
                            <a:srgbClr val="243D3F"/>
                          </a:solidFill>
                        </a:rPr>
                        <a:t>0.57</a:t>
                      </a:r>
                    </a:p>
                  </a:txBody>
                  <a:tcPr marL="91440" marR="91440" marT="45720" marB="45720">
                    <a:solidFill>
                      <a:srgbClr val="FFFFFF"/>
                    </a:solidFill>
                  </a:tcPr>
                </a:tc>
                <a:tc>
                  <a:txBody>
                    <a:bodyPr/>
                    <a:lstStyle/>
                    <a:p>
                      <a:r>
                        <a:rPr sz="1725" b="0">
                          <a:solidFill>
                            <a:srgbClr val="243D3F"/>
                          </a:solidFill>
                        </a:rPr>
                        <a:t>-0.55</a:t>
                      </a:r>
                    </a:p>
                  </a:txBody>
                  <a:tcPr marL="91440" marR="91440" marT="45720" marB="45720">
                    <a:solidFill>
                      <a:srgbClr val="FFFFFF"/>
                    </a:solidFill>
                  </a:tcPr>
                </a:tc>
              </a:tr>
              <a:tr h="381000">
                <a:tc>
                  <a:txBody>
                    <a:bodyPr/>
                    <a:lstStyle/>
                    <a:p>
                      <a:r>
                        <a:rPr sz="1725" b="0">
                          <a:solidFill>
                            <a:srgbClr val="243D3F"/>
                          </a:solidFill>
                        </a:rPr>
                        <a:t>East Coast Gulf</a:t>
                      </a:r>
                    </a:p>
                  </a:txBody>
                  <a:tcPr marL="91440" marR="91440" marT="45720" marB="45720">
                    <a:solidFill>
                      <a:srgbClr val="FFFFFF"/>
                    </a:solidFill>
                  </a:tcPr>
                </a:tc>
                <a:tc>
                  <a:txBody>
                    <a:bodyPr/>
                    <a:lstStyle/>
                    <a:p>
                      <a:r>
                        <a:rPr sz="1725" b="0">
                          <a:solidFill>
                            <a:srgbClr val="243D3F"/>
                          </a:solidFill>
                        </a:rPr>
                        <a:t>0.54</a:t>
                      </a:r>
                    </a:p>
                  </a:txBody>
                  <a:tcPr marL="91440" marR="91440" marT="45720" marB="45720">
                    <a:solidFill>
                      <a:srgbClr val="FFFFFF"/>
                    </a:solidFill>
                  </a:tcPr>
                </a:tc>
                <a:tc>
                  <a:txBody>
                    <a:bodyPr/>
                    <a:lstStyle/>
                    <a:p>
                      <a:r>
                        <a:rPr sz="1725" b="0">
                          <a:solidFill>
                            <a:srgbClr val="243D3F"/>
                          </a:solidFill>
                        </a:rPr>
                        <a:t>0.58</a:t>
                      </a:r>
                    </a:p>
                  </a:txBody>
                  <a:tcPr marL="91440" marR="91440" marT="45720" marB="45720">
                    <a:solidFill>
                      <a:srgbClr val="FFFFFF"/>
                    </a:solidFill>
                  </a:tcPr>
                </a:tc>
              </a:tr>
              <a:tr h="381000">
                <a:tc>
                  <a:txBody>
                    <a:bodyPr/>
                    <a:lstStyle/>
                    <a:p>
                      <a:r>
                        <a:rPr sz="1725" b="0">
                          <a:solidFill>
                            <a:srgbClr val="243D3F"/>
                          </a:solidFill>
                        </a:rPr>
                        <a:t>Phetchaburi / Prachuap</a:t>
                      </a:r>
                    </a:p>
                  </a:txBody>
                  <a:tcPr marL="91440" marR="91440" marT="45720" marB="45720">
                    <a:solidFill>
                      <a:srgbClr val="FFFFFF"/>
                    </a:solidFill>
                  </a:tcPr>
                </a:tc>
                <a:tc>
                  <a:txBody>
                    <a:bodyPr/>
                    <a:lstStyle/>
                    <a:p>
                      <a:r>
                        <a:rPr sz="1725" b="0">
                          <a:solidFill>
                            <a:srgbClr val="243D3F"/>
                          </a:solidFill>
                        </a:rPr>
                        <a:t>0.55</a:t>
                      </a:r>
                    </a:p>
                  </a:txBody>
                  <a:tcPr marL="91440" marR="91440" marT="45720" marB="45720">
                    <a:solidFill>
                      <a:srgbClr val="FFFFFF"/>
                    </a:solidFill>
                  </a:tcPr>
                </a:tc>
                <a:tc>
                  <a:txBody>
                    <a:bodyPr/>
                    <a:lstStyle/>
                    <a:p>
                      <a:r>
                        <a:rPr sz="1725" b="0">
                          <a:solidFill>
                            <a:srgbClr val="243D3F"/>
                          </a:solidFill>
                        </a:rPr>
                        <a:t>-0.20</a:t>
                      </a:r>
                    </a:p>
                  </a:txBody>
                  <a:tcPr marL="91440" marR="91440" marT="45720" marB="45720">
                    <a:solidFill>
                      <a:srgbClr val="FFFFFF"/>
                    </a:solidFill>
                  </a:tcPr>
                </a:tc>
              </a:tr>
              <a:tr h="381000">
                <a:tc>
                  <a:txBody>
                    <a:bodyPr/>
                    <a:lstStyle/>
                    <a:p>
                      <a:r>
                        <a:rPr sz="1725" b="0">
                          <a:solidFill>
                            <a:srgbClr val="243D3F"/>
                          </a:solidFill>
                        </a:rPr>
                        <a:t>Upper East Coast</a:t>
                      </a:r>
                    </a:p>
                  </a:txBody>
                  <a:tcPr marL="91440" marR="91440" marT="45720" marB="45720">
                    <a:solidFill>
                      <a:srgbClr val="FFFFFF"/>
                    </a:solidFill>
                  </a:tcPr>
                </a:tc>
                <a:tc>
                  <a:txBody>
                    <a:bodyPr/>
                    <a:lstStyle/>
                    <a:p>
                      <a:r>
                        <a:rPr sz="1725" b="0">
                          <a:solidFill>
                            <a:srgbClr val="243D3F"/>
                          </a:solidFill>
                        </a:rPr>
                        <a:t>-2.53</a:t>
                      </a:r>
                    </a:p>
                  </a:txBody>
                  <a:tcPr marL="91440" marR="91440" marT="45720" marB="45720">
                    <a:solidFill>
                      <a:srgbClr val="FFFFFF"/>
                    </a:solidFill>
                  </a:tcPr>
                </a:tc>
                <a:tc>
                  <a:txBody>
                    <a:bodyPr/>
                    <a:lstStyle/>
                    <a:p>
                      <a:r>
                        <a:rPr sz="1725" b="0">
                          <a:solidFill>
                            <a:srgbClr val="243D3F"/>
                          </a:solidFill>
                        </a:rPr>
                        <a:t>-0.49</a:t>
                      </a:r>
                    </a:p>
                  </a:txBody>
                  <a:tcPr marL="91440" marR="91440" marT="45720" marB="45720">
                    <a:solidFill>
                      <a:srgbClr val="FFFFFF"/>
                    </a:solidFill>
                  </a:tcPr>
                </a:tc>
              </a:tr>
              <a:tr h="381000">
                <a:tc>
                  <a:txBody>
                    <a:bodyPr/>
                    <a:lstStyle/>
                    <a:p>
                      <a:r>
                        <a:rPr sz="1725" b="0">
                          <a:solidFill>
                            <a:srgbClr val="243D3F"/>
                          </a:solidFill>
                        </a:rPr>
                        <a:t>Songkhla Lake</a:t>
                      </a:r>
                    </a:p>
                  </a:txBody>
                  <a:tcPr marL="91440" marR="91440" marT="45720" marB="45720">
                    <a:solidFill>
                      <a:srgbClr val="FFFFFF"/>
                    </a:solidFill>
                  </a:tcPr>
                </a:tc>
                <a:tc>
                  <a:txBody>
                    <a:bodyPr/>
                    <a:lstStyle/>
                    <a:p>
                      <a:r>
                        <a:rPr sz="1725" b="0">
                          <a:solidFill>
                            <a:srgbClr val="243D3F"/>
                          </a:solidFill>
                        </a:rPr>
                        <a:t>-0.13</a:t>
                      </a:r>
                    </a:p>
                  </a:txBody>
                  <a:tcPr marL="91440" marR="91440" marT="45720" marB="45720">
                    <a:solidFill>
                      <a:srgbClr val="FFFFFF"/>
                    </a:solidFill>
                  </a:tcPr>
                </a:tc>
                <a:tc>
                  <a:txBody>
                    <a:bodyPr/>
                    <a:lstStyle/>
                    <a:p>
                      <a:r>
                        <a:rPr sz="1725" b="0">
                          <a:solidFill>
                            <a:srgbClr val="243D3F"/>
                          </a:solidFill>
                        </a:rPr>
                        <a:t>0.27</a:t>
                      </a:r>
                    </a:p>
                  </a:txBody>
                  <a:tcPr marL="91440" marR="91440" marT="45720" marB="45720">
                    <a:solidFill>
                      <a:srgbClr val="FFFFFF"/>
                    </a:solidFill>
                  </a:tcPr>
                </a:tc>
              </a:tr>
              <a:tr h="381000">
                <a:tc>
                  <a:txBody>
                    <a:bodyPr/>
                    <a:lstStyle/>
                    <a:p>
                      <a:r>
                        <a:rPr sz="1725" b="0">
                          <a:solidFill>
                            <a:srgbClr val="243D3F"/>
                          </a:solidFill>
                        </a:rPr>
                        <a:t>Lower East Coast</a:t>
                      </a:r>
                    </a:p>
                  </a:txBody>
                  <a:tcPr marL="91440" marR="91440" marT="45720" marB="45720">
                    <a:solidFill>
                      <a:srgbClr val="FFFFFF"/>
                    </a:solidFill>
                  </a:tcPr>
                </a:tc>
                <a:tc>
                  <a:txBody>
                    <a:bodyPr/>
                    <a:lstStyle/>
                    <a:p>
                      <a:r>
                        <a:rPr sz="1725" b="0">
                          <a:solidFill>
                            <a:srgbClr val="243D3F"/>
                          </a:solidFill>
                        </a:rPr>
                        <a:t>0.32</a:t>
                      </a:r>
                    </a:p>
                  </a:txBody>
                  <a:tcPr marL="91440" marR="91440" marT="45720" marB="45720">
                    <a:solidFill>
                      <a:srgbClr val="FFFFFF"/>
                    </a:solidFill>
                  </a:tcPr>
                </a:tc>
                <a:tc>
                  <a:txBody>
                    <a:bodyPr/>
                    <a:lstStyle/>
                    <a:p>
                      <a:r>
                        <a:rPr sz="1725" b="0">
                          <a:solidFill>
                            <a:srgbClr val="243D3F"/>
                          </a:solidFill>
                        </a:rPr>
                        <a:t>0.45</a:t>
                      </a:r>
                    </a:p>
                  </a:txBody>
                  <a:tcPr marL="91440" marR="91440" marT="45720" marB="45720">
                    <a:solidFill>
                      <a:srgbClr val="FFFFFF"/>
                    </a:solidFill>
                  </a:tcPr>
                </a:tc>
              </a:tr>
              <a:tr h="381000">
                <a:tc>
                  <a:txBody>
                    <a:bodyPr/>
                    <a:lstStyle/>
                    <a:p>
                      <a:r>
                        <a:rPr sz="1725" b="0">
                          <a:solidFill>
                            <a:srgbClr val="243D3F"/>
                          </a:solidFill>
                        </a:rPr>
                        <a:t>West Coast</a:t>
                      </a:r>
                    </a:p>
                  </a:txBody>
                  <a:tcPr marL="91440" marR="91440" marT="45720" marB="45720">
                    <a:solidFill>
                      <a:srgbClr val="FFFFFF"/>
                    </a:solidFill>
                  </a:tcPr>
                </a:tc>
                <a:tc>
                  <a:txBody>
                    <a:bodyPr/>
                    <a:lstStyle/>
                    <a:p>
                      <a:r>
                        <a:rPr sz="1725" b="0">
                          <a:solidFill>
                            <a:srgbClr val="243D3F"/>
                          </a:solidFill>
                        </a:rPr>
                        <a:t>-1.45</a:t>
                      </a:r>
                    </a:p>
                  </a:txBody>
                  <a:tcPr marL="91440" marR="91440" marT="45720" marB="45720">
                    <a:solidFill>
                      <a:srgbClr val="FFFFFF"/>
                    </a:solidFill>
                  </a:tcPr>
                </a:tc>
                <a:tc>
                  <a:txBody>
                    <a:bodyPr/>
                    <a:lstStyle/>
                    <a:p>
                      <a:r>
                        <a:rPr sz="1725" b="0">
                          <a:solidFill>
                            <a:srgbClr val="243D3F"/>
                          </a:solidFill>
                        </a:rPr>
                        <a:t>-0.66</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85075119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63E7A272-B398-430C-A374-8FCD6A10DC4D}"/>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GLDAS is a benchmark with clear limits</a:t>
            </a:r>
          </a:p>
        </p:txBody>
      </p:sp>
      <p:sp>
        <p:nvSpPr>
          <p:cNvPr id="2" name="body">
            <a:extLst xmlns:a="http://schemas.openxmlformats.org/drawingml/2006/main">
              <a:ext uri="{FF2B5EF4-FFF2-40B4-BE49-F238E27FC236}">
                <a16:creationId xmlns:a16="http://schemas.microsoft.com/office/drawing/2014/main" id="{8E031EFB-EF3F-4944-ACA8-4A1C4B2A86F8}"/>
              </a:ext>
            </a:extLst>
          </p:cNvPr>
          <p:cNvSpPr>
            <a:spLocks xmlns:a="http://schemas.openxmlformats.org/drawingml/2006/main" noGrp="1"/>
          </p:cNvSpPr>
          <p:nvPr/>
        </p:nvSpPr>
        <p:spPr>
          <a:xfrm xmlns:a="http://schemas.openxmlformats.org/drawingml/2006/main">
            <a:off x="514350" y="161925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TWSA climate reconstruction is compared with GLDAS Noah land storage in each basin.</a:t>
            </a:r>
          </a:p>
        </p:txBody>
      </p:sp>
      <p:sp>
        <p:nvSpPr>
          <p:cNvPr id="3" name="body">
            <a:extLst xmlns:a="http://schemas.openxmlformats.org/drawingml/2006/main">
              <a:ext uri="{FF2B5EF4-FFF2-40B4-BE49-F238E27FC236}">
                <a16:creationId xmlns:a16="http://schemas.microsoft.com/office/drawing/2014/main" id="{3EB82631-2D9B-495B-BFA7-EF0B61F7D76E}"/>
              </a:ext>
            </a:extLst>
          </p:cNvPr>
          <p:cNvSpPr>
            <a:spLocks xmlns:a="http://schemas.openxmlformats.org/drawingml/2006/main" noGrp="1"/>
          </p:cNvSpPr>
          <p:nvPr/>
        </p:nvSpPr>
        <p:spPr>
          <a:xfrm xmlns:a="http://schemas.openxmlformats.org/drawingml/2006/main">
            <a:off x="514350" y="3000375"/>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Noah has no groundwater compartment: it cannot independently validate GWSA.</a:t>
            </a:r>
          </a:p>
        </p:txBody>
      </p:sp>
      <p:sp>
        <p:nvSpPr>
          <p:cNvPr id="4" name="body">
            <a:extLst xmlns:a="http://schemas.openxmlformats.org/drawingml/2006/main">
              <a:ext uri="{FF2B5EF4-FFF2-40B4-BE49-F238E27FC236}">
                <a16:creationId xmlns:a16="http://schemas.microsoft.com/office/drawing/2014/main" id="{8195F34B-7390-4A57-8030-104E0AAAFB09}"/>
              </a:ext>
            </a:extLst>
          </p:cNvPr>
          <p:cNvSpPr>
            <a:spLocks xmlns:a="http://schemas.openxmlformats.org/drawingml/2006/main" noGrp="1"/>
          </p:cNvSpPr>
          <p:nvPr/>
        </p:nvSpPr>
        <p:spPr>
          <a:xfrm xmlns:a="http://schemas.openxmlformats.org/drawingml/2006/main">
            <a:off x="514350" y="438150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G3P groundwater is a related-product comparison; actual wells provide observation checks.</a:t>
            </a:r>
          </a:p>
        </p:txBody>
      </p:sp>
      <p:sp>
        <p:nvSpPr>
          <p:cNvPr id="5" name="source">
            <a:extLst xmlns:a="http://schemas.openxmlformats.org/drawingml/2006/main">
              <a:ext uri="{FF2B5EF4-FFF2-40B4-BE49-F238E27FC236}">
                <a16:creationId xmlns:a16="http://schemas.microsoft.com/office/drawing/2014/main" id="{F156C970-E46C-4661-894E-163E1D1426A1}"/>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Sources: NASA GLDAS • GFZ G3P • GROW</a:t>
            </a:r>
          </a:p>
        </p:txBody>
      </p:sp>
      <p:sp>
        <p:nvSpPr>
          <p:cNvPr id="6" name="page">
            <a:extLst xmlns:a="http://schemas.openxmlformats.org/drawingml/2006/main">
              <a:ext uri="{FF2B5EF4-FFF2-40B4-BE49-F238E27FC236}">
                <a16:creationId xmlns:a16="http://schemas.microsoft.com/office/drawing/2014/main" id="{22536FE4-C9C8-4709-8833-EEB50EC7D10B}"/>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14</a:t>
            </a:r>
          </a:p>
        </p:txBody>
      </p:sp>
    </p:spTree>
    <p:extLst>
      <p:ext uri="{BB962C8B-B14F-4D97-AF65-F5344CB8AC3E}">
        <p14:creationId xmlns:p14="http://schemas.microsoft.com/office/powerpoint/2010/main" val="24833072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94603719-E537-4536-B910-B77DE223BBC4}"/>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Residuals separate unexplained storage from climate</a:t>
            </a:r>
          </a:p>
        </p:txBody>
      </p:sp>
      <p:sp>
        <p:nvSpPr>
          <p:cNvPr id="2" name="source">
            <a:extLst xmlns:a="http://schemas.openxmlformats.org/drawingml/2006/main">
              <a:ext uri="{FF2B5EF4-FFF2-40B4-BE49-F238E27FC236}">
                <a16:creationId xmlns:a16="http://schemas.microsoft.com/office/drawing/2014/main" id="{A5A90E17-DE5A-40CF-A077-A021BCBB9FDB}"/>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3" name="page">
            <a:extLst xmlns:a="http://schemas.openxmlformats.org/drawingml/2006/main">
              <a:ext uri="{FF2B5EF4-FFF2-40B4-BE49-F238E27FC236}">
                <a16:creationId xmlns:a16="http://schemas.microsoft.com/office/drawing/2014/main" id="{A738A8B4-0CDB-4F6B-B2CC-65277BA96453}"/>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15</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f925f7248a942f5"/>
          <a:stretch xmlns:a="http://schemas.openxmlformats.org/drawingml/2006/main"/>
        </p:blipFill>
        <p:spPr>
          <a:xfrm xmlns:a="http://schemas.openxmlformats.org/drawingml/2006/main">
            <a:off x="2063508" y="1476375"/>
            <a:ext cx="8064983" cy="4667250"/>
          </a:xfrm>
          <a:prstGeom xmlns:a="http://schemas.openxmlformats.org/drawingml/2006/main" prst="rect">
            <a:avLst/>
          </a:prstGeom>
        </p:spPr>
      </p:pic>
    </p:spTree>
    <p:extLst>
      <p:ext uri="{BB962C8B-B14F-4D97-AF65-F5344CB8AC3E}">
        <p14:creationId xmlns:p14="http://schemas.microsoft.com/office/powerpoint/2010/main" val="54909573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F8CD51E0-FCFD-401F-946C-D8D39EB293B5}"/>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Residual trends identify places for closer review</a:t>
            </a:r>
          </a:p>
        </p:txBody>
      </p:sp>
      <p:sp>
        <p:nvSpPr>
          <p:cNvPr id="2" name="source">
            <a:extLst xmlns:a="http://schemas.openxmlformats.org/drawingml/2006/main">
              <a:ext uri="{FF2B5EF4-FFF2-40B4-BE49-F238E27FC236}">
                <a16:creationId xmlns:a16="http://schemas.microsoft.com/office/drawing/2014/main" id="{B8E8B123-D4B7-4180-874C-8412D760A22A}"/>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3" name="page">
            <a:extLst xmlns:a="http://schemas.openxmlformats.org/drawingml/2006/main">
              <a:ext uri="{FF2B5EF4-FFF2-40B4-BE49-F238E27FC236}">
                <a16:creationId xmlns:a16="http://schemas.microsoft.com/office/drawing/2014/main" id="{192EF06D-816B-4411-A838-6700B3300DD2}"/>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16</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63e7b8a172a448ad"/>
          <a:stretch xmlns:a="http://schemas.openxmlformats.org/drawingml/2006/main"/>
        </p:blipFill>
        <p:spPr>
          <a:xfrm xmlns:a="http://schemas.openxmlformats.org/drawingml/2006/main">
            <a:off x="2523747" y="1476375"/>
            <a:ext cx="7144506" cy="4667250"/>
          </a:xfrm>
          <a:prstGeom xmlns:a="http://schemas.openxmlformats.org/drawingml/2006/main" prst="rect">
            <a:avLst/>
          </a:prstGeom>
        </p:spPr>
      </p:pic>
    </p:spTree>
    <p:extLst>
      <p:ext uri="{BB962C8B-B14F-4D97-AF65-F5344CB8AC3E}">
        <p14:creationId xmlns:p14="http://schemas.microsoft.com/office/powerpoint/2010/main" val="6644500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8D3CD650-81CC-4F3E-800B-4764D2F43BB2}"/>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Historical groundwater observations are available</a:t>
            </a:r>
          </a:p>
        </p:txBody>
      </p:sp>
      <p:sp>
        <p:nvSpPr>
          <p:cNvPr id="2" name="source">
            <a:extLst xmlns:a="http://schemas.openxmlformats.org/drawingml/2006/main">
              <a:ext uri="{FF2B5EF4-FFF2-40B4-BE49-F238E27FC236}">
                <a16:creationId xmlns:a16="http://schemas.microsoft.com/office/drawing/2014/main" id="{E0D1188D-67FE-48BD-AC5F-C4E92FA8D7AE}"/>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Source: GROW / IGRAC • Thai groundwater providers</a:t>
            </a:r>
          </a:p>
        </p:txBody>
      </p:sp>
      <p:sp>
        <p:nvSpPr>
          <p:cNvPr id="3" name="page">
            <a:extLst xmlns:a="http://schemas.openxmlformats.org/drawingml/2006/main">
              <a:ext uri="{FF2B5EF4-FFF2-40B4-BE49-F238E27FC236}">
                <a16:creationId xmlns:a16="http://schemas.microsoft.com/office/drawing/2014/main" id="{C1A07C2D-C46A-4928-9210-3F14BBB20CFF}"/>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17</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cffee44f4cb34e95"/>
          <a:stretch xmlns:a="http://schemas.openxmlformats.org/drawingml/2006/main"/>
        </p:blipFill>
        <p:spPr>
          <a:xfrm xmlns:a="http://schemas.openxmlformats.org/drawingml/2006/main">
            <a:off x="2448070" y="1476375"/>
            <a:ext cx="7295860" cy="4667250"/>
          </a:xfrm>
          <a:prstGeom xmlns:a="http://schemas.openxmlformats.org/drawingml/2006/main" prst="rect">
            <a:avLst/>
          </a:prstGeom>
        </p:spPr>
      </p:pic>
    </p:spTree>
    <p:extLst>
      <p:ext uri="{BB962C8B-B14F-4D97-AF65-F5344CB8AC3E}">
        <p14:creationId xmlns:p14="http://schemas.microsoft.com/office/powerpoint/2010/main" val="161168808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0671FDC6-B724-4DF2-B045-E029DCEB5A25}"/>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Well agreement depends on observation coverage</a:t>
            </a:r>
          </a:p>
        </p:txBody>
      </p:sp>
      <p:sp>
        <p:nvSpPr>
          <p:cNvPr id="2" name="body">
            <a:extLst xmlns:a="http://schemas.openxmlformats.org/drawingml/2006/main">
              <a:ext uri="{FF2B5EF4-FFF2-40B4-BE49-F238E27FC236}">
                <a16:creationId xmlns:a16="http://schemas.microsoft.com/office/drawing/2014/main" id="{2FA1BC2E-E40C-4531-A1B2-4FDD92A7095D}"/>
              </a:ext>
            </a:extLst>
          </p:cNvPr>
          <p:cNvSpPr>
            <a:spLocks xmlns:a="http://schemas.openxmlformats.org/drawingml/2006/main" noGrp="1"/>
          </p:cNvSpPr>
          <p:nvPr/>
        </p:nvSpPr>
        <p:spPr>
          <a:xfrm xmlns:a="http://schemas.openxmlformats.org/drawingml/2006/main">
            <a:off x="514350" y="161925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Annual observed-storage correlations: TWSA r = 0.22; GWSA r = 0.08.</a:t>
            </a:r>
          </a:p>
        </p:txBody>
      </p:sp>
      <p:sp>
        <p:nvSpPr>
          <p:cNvPr id="3" name="body">
            <a:extLst xmlns:a="http://schemas.openxmlformats.org/drawingml/2006/main">
              <a:ext uri="{FF2B5EF4-FFF2-40B4-BE49-F238E27FC236}">
                <a16:creationId xmlns:a16="http://schemas.microsoft.com/office/drawing/2014/main" id="{2975E4C1-9150-41F1-9C26-62D6D92172E3}"/>
              </a:ext>
            </a:extLst>
          </p:cNvPr>
          <p:cNvSpPr>
            <a:spLocks xmlns:a="http://schemas.openxmlformats.org/drawingml/2006/main" noGrp="1"/>
          </p:cNvSpPr>
          <p:nvPr/>
        </p:nvSpPr>
        <p:spPr>
          <a:xfrm xmlns:a="http://schemas.openxmlformats.org/drawingml/2006/main">
            <a:off x="514350" y="3000375"/>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Fixed-eligibility sensitivity: TWSA r = 0.62; GWSA r = 0.52.</a:t>
            </a:r>
          </a:p>
        </p:txBody>
      </p:sp>
      <p:sp>
        <p:nvSpPr>
          <p:cNvPr id="4" name="body">
            <a:extLst xmlns:a="http://schemas.openxmlformats.org/drawingml/2006/main">
              <a:ext uri="{FF2B5EF4-FFF2-40B4-BE49-F238E27FC236}">
                <a16:creationId xmlns:a16="http://schemas.microsoft.com/office/drawing/2014/main" id="{9BAE615E-D755-468B-B3EF-03F79E7A73CB}"/>
              </a:ext>
            </a:extLst>
          </p:cNvPr>
          <p:cNvSpPr>
            <a:spLocks xmlns:a="http://schemas.openxmlformats.org/drawingml/2006/main" noGrp="1"/>
          </p:cNvSpPr>
          <p:nvPr/>
        </p:nvSpPr>
        <p:spPr>
          <a:xfrm xmlns:a="http://schemas.openxmlformats.org/drawingml/2006/main">
            <a:off x="514350" y="438150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Post-2015 GWSA has only five paired annual years: insufficient for a reported correlation.</a:t>
            </a:r>
          </a:p>
        </p:txBody>
      </p:sp>
      <p:sp>
        <p:nvSpPr>
          <p:cNvPr id="5" name="source">
            <a:extLst xmlns:a="http://schemas.openxmlformats.org/drawingml/2006/main">
              <a:ext uri="{FF2B5EF4-FFF2-40B4-BE49-F238E27FC236}">
                <a16:creationId xmlns:a16="http://schemas.microsoft.com/office/drawing/2014/main" id="{3634BE84-4165-41C9-8A21-3F18EE8579CD}"/>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Observed-pattern checks • not pumping attribution</a:t>
            </a:r>
          </a:p>
        </p:txBody>
      </p:sp>
      <p:sp>
        <p:nvSpPr>
          <p:cNvPr id="6" name="page">
            <a:extLst xmlns:a="http://schemas.openxmlformats.org/drawingml/2006/main">
              <a:ext uri="{FF2B5EF4-FFF2-40B4-BE49-F238E27FC236}">
                <a16:creationId xmlns:a16="http://schemas.microsoft.com/office/drawing/2014/main" id="{E6FD62A1-A1FE-4117-B72A-FCD09064F7E7}"/>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18</a:t>
            </a:r>
          </a:p>
        </p:txBody>
      </p:sp>
    </p:spTree>
    <p:extLst>
      <p:ext uri="{BB962C8B-B14F-4D97-AF65-F5344CB8AC3E}">
        <p14:creationId xmlns:p14="http://schemas.microsoft.com/office/powerpoint/2010/main" val="18421604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5FC2F510-5516-45B9-98DB-9BF0C49F32C0}"/>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Irrigation proxies do not establish human causality</a:t>
            </a:r>
          </a:p>
        </p:txBody>
      </p:sp>
      <p:sp>
        <p:nvSpPr>
          <p:cNvPr id="2" name="body">
            <a:extLst xmlns:a="http://schemas.openxmlformats.org/drawingml/2006/main">
              <a:ext uri="{FF2B5EF4-FFF2-40B4-BE49-F238E27FC236}">
                <a16:creationId xmlns:a16="http://schemas.microsoft.com/office/drawing/2014/main" id="{9981D028-5EEC-4BB7-8617-9E3ADA07B5C9}"/>
              </a:ext>
            </a:extLst>
          </p:cNvPr>
          <p:cNvSpPr>
            <a:spLocks xmlns:a="http://schemas.openxmlformats.org/drawingml/2006/main" noGrp="1"/>
          </p:cNvSpPr>
          <p:nvPr/>
        </p:nvSpPr>
        <p:spPr>
          <a:xfrm xmlns:a="http://schemas.openxmlformats.org/drawingml/2006/main">
            <a:off x="514350" y="161925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FAO GMIA represents static irrigation-equipped area and inferred groundwater-irrigation share.</a:t>
            </a:r>
          </a:p>
        </p:txBody>
      </p:sp>
      <p:sp>
        <p:nvSpPr>
          <p:cNvPr id="3" name="body">
            <a:extLst xmlns:a="http://schemas.openxmlformats.org/drawingml/2006/main">
              <a:ext uri="{FF2B5EF4-FFF2-40B4-BE49-F238E27FC236}">
                <a16:creationId xmlns:a16="http://schemas.microsoft.com/office/drawing/2014/main" id="{98492150-91E2-4D5D-884F-D55B32CDF9C7}"/>
              </a:ext>
            </a:extLst>
          </p:cNvPr>
          <p:cNvSpPr>
            <a:spLocks xmlns:a="http://schemas.openxmlformats.org/drawingml/2006/main" noGrp="1"/>
          </p:cNvSpPr>
          <p:nvPr/>
        </p:nvSpPr>
        <p:spPr>
          <a:xfrm xmlns:a="http://schemas.openxmlformats.org/drawingml/2006/main">
            <a:off x="514350" y="3000375"/>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Across 22 basins, residual-trend associations are weak and nominal p-values exceed 0.45.</a:t>
            </a:r>
          </a:p>
        </p:txBody>
      </p:sp>
      <p:sp>
        <p:nvSpPr>
          <p:cNvPr id="4" name="body">
            <a:extLst xmlns:a="http://schemas.openxmlformats.org/drawingml/2006/main">
              <a:ext uri="{FF2B5EF4-FFF2-40B4-BE49-F238E27FC236}">
                <a16:creationId xmlns:a16="http://schemas.microsoft.com/office/drawing/2014/main" id="{0F9AADA5-C968-4D33-9553-E45B9D4F7500}"/>
              </a:ext>
            </a:extLst>
          </p:cNvPr>
          <p:cNvSpPr>
            <a:spLocks xmlns:a="http://schemas.openxmlformats.org/drawingml/2006/main" noGrp="1"/>
          </p:cNvSpPr>
          <p:nvPr/>
        </p:nvSpPr>
        <p:spPr>
          <a:xfrm xmlns:a="http://schemas.openxmlformats.org/drawingml/2006/main">
            <a:off x="514350" y="438150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Model residuals remain candidate human influence plus unresolved errors.</a:t>
            </a:r>
          </a:p>
        </p:txBody>
      </p:sp>
      <p:sp>
        <p:nvSpPr>
          <p:cNvPr id="5" name="source">
            <a:extLst xmlns:a="http://schemas.openxmlformats.org/drawingml/2006/main">
              <a:ext uri="{FF2B5EF4-FFF2-40B4-BE49-F238E27FC236}">
                <a16:creationId xmlns:a16="http://schemas.microsoft.com/office/drawing/2014/main" id="{18254615-3AD7-4F1C-90D0-BE21E1B6A209}"/>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Source: FAO GMIA v5 • exploratory spatial associations</a:t>
            </a:r>
          </a:p>
        </p:txBody>
      </p:sp>
      <p:sp>
        <p:nvSpPr>
          <p:cNvPr id="6" name="page">
            <a:extLst xmlns:a="http://schemas.openxmlformats.org/drawingml/2006/main">
              <a:ext uri="{FF2B5EF4-FFF2-40B4-BE49-F238E27FC236}">
                <a16:creationId xmlns:a16="http://schemas.microsoft.com/office/drawing/2014/main" id="{3616F9A7-953B-4C05-8E5C-3B7F9133311C}"/>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19</a:t>
            </a:r>
          </a:p>
        </p:txBody>
      </p:sp>
    </p:spTree>
    <p:extLst>
      <p:ext uri="{BB962C8B-B14F-4D97-AF65-F5344CB8AC3E}">
        <p14:creationId xmlns:p14="http://schemas.microsoft.com/office/powerpoint/2010/main" val="44404433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A0E618CB-7572-459C-B05A-C073151645C3}"/>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An interactive system makes evidence reviewable</a:t>
            </a:r>
          </a:p>
        </p:txBody>
      </p:sp>
      <p:sp>
        <p:nvSpPr>
          <p:cNvPr id="2" name="source">
            <a:extLst xmlns:a="http://schemas.openxmlformats.org/drawingml/2006/main">
              <a:ext uri="{FF2B5EF4-FFF2-40B4-BE49-F238E27FC236}">
                <a16:creationId xmlns:a16="http://schemas.microsoft.com/office/drawing/2014/main" id="{1968B552-F194-4032-B69A-6B02743E14F1}"/>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3" name="page">
            <a:extLst xmlns:a="http://schemas.openxmlformats.org/drawingml/2006/main">
              <a:ext uri="{FF2B5EF4-FFF2-40B4-BE49-F238E27FC236}">
                <a16:creationId xmlns:a16="http://schemas.microsoft.com/office/drawing/2014/main" id="{8190FC45-CBBA-4E6D-9779-B91F28D066A4}"/>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20</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358c0933f4d4120"/>
          <a:stretch xmlns:a="http://schemas.openxmlformats.org/drawingml/2006/main"/>
        </p:blipFill>
        <p:spPr>
          <a:xfrm xmlns:a="http://schemas.openxmlformats.org/drawingml/2006/main">
            <a:off x="1028700" y="1476375"/>
            <a:ext cx="6400800" cy="4667250"/>
          </a:xfrm>
          <a:prstGeom xmlns:a="http://schemas.openxmlformats.org/drawingml/2006/main" prst="rect">
            <a:avLst/>
          </a:prstGeom>
        </p:spPr>
      </p:pic>
      <p:sp>
        <p:nvSpPr>
          <p:cNvPr id="5" name="body">
            <a:extLst xmlns:a="http://schemas.openxmlformats.org/drawingml/2006/main">
              <a:ext uri="{FF2B5EF4-FFF2-40B4-BE49-F238E27FC236}">
                <a16:creationId xmlns:a16="http://schemas.microsoft.com/office/drawing/2014/main" id="{C757B8A1-C654-40C3-B471-350E1C57001F}"/>
              </a:ext>
            </a:extLst>
          </p:cNvPr>
          <p:cNvSpPr>
            <a:spLocks xmlns:a="http://schemas.openxmlformats.org/drawingml/2006/main" noGrp="1"/>
          </p:cNvSpPr>
          <p:nvPr/>
        </p:nvSpPr>
        <p:spPr>
          <a:xfrm xmlns:a="http://schemas.openxmlformats.org/drawingml/2006/main">
            <a:off x="8286750" y="1905000"/>
            <a:ext cx="3238500" cy="23812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475" b="0">
                <a:solidFill>
                  <a:srgbClr val="243D3F"/>
                </a:solidFill>
              </a:defRPr>
            </a:pPr>
            <a:r>
              <a:t>Explore trends
Compare models
Check observations
Download evidence</a:t>
            </a:r>
          </a:p>
        </p:txBody>
      </p:sp>
      <p:sp>
        <p:nvSpPr>
          <p:cNvPr id="6" name="body">
            <a:extLst xmlns:a="http://schemas.openxmlformats.org/drawingml/2006/main">
              <a:ext uri="{FF2B5EF4-FFF2-40B4-BE49-F238E27FC236}">
                <a16:creationId xmlns:a16="http://schemas.microsoft.com/office/drawing/2014/main" id="{A785D260-AC73-42C9-BA55-A477EFA8F671}"/>
              </a:ext>
            </a:extLst>
          </p:cNvPr>
          <p:cNvSpPr>
            <a:spLocks xmlns:a="http://schemas.openxmlformats.org/drawingml/2006/main" noGrp="1"/>
          </p:cNvSpPr>
          <p:nvPr/>
        </p:nvSpPr>
        <p:spPr>
          <a:xfrm xmlns:a="http://schemas.openxmlformats.org/drawingml/2006/main">
            <a:off x="8286750" y="4953000"/>
            <a:ext cx="3286125" cy="8572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725" b="0">
                <a:solidFill>
                  <a:srgbClr val="137D78"/>
                </a:solidFill>
              </a:defRPr>
            </a:pPr>
            <a:r>
              <a:t>pratikkhanal16.github.io/
thailand-water-storage-dss/</a:t>
            </a:r>
          </a:p>
        </p:txBody>
      </p:sp>
    </p:spTree>
    <p:extLst>
      <p:ext uri="{BB962C8B-B14F-4D97-AF65-F5344CB8AC3E}">
        <p14:creationId xmlns:p14="http://schemas.microsoft.com/office/powerpoint/2010/main" val="42897942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981528DC-056F-4B3C-994E-D538E4D29564}"/>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The release is organized for reproducibility</a:t>
            </a:r>
          </a:p>
        </p:txBody>
      </p:sp>
      <p:sp>
        <p:nvSpPr>
          <p:cNvPr id="2" name="body">
            <a:extLst xmlns:a="http://schemas.openxmlformats.org/drawingml/2006/main">
              <a:ext uri="{FF2B5EF4-FFF2-40B4-BE49-F238E27FC236}">
                <a16:creationId xmlns:a16="http://schemas.microsoft.com/office/drawing/2014/main" id="{170B0655-A269-49CD-B58C-1DB233640096}"/>
              </a:ext>
            </a:extLst>
          </p:cNvPr>
          <p:cNvSpPr>
            <a:spLocks xmlns:a="http://schemas.openxmlformats.org/drawingml/2006/main" noGrp="1"/>
          </p:cNvSpPr>
          <p:nvPr/>
        </p:nvSpPr>
        <p:spPr>
          <a:xfrm xmlns:a="http://schemas.openxmlformats.org/drawingml/2006/main">
            <a:off x="514350" y="161925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Objective 1: monthly storage, all-basin and grid trends, uncertainty and coverage.</a:t>
            </a:r>
          </a:p>
        </p:txBody>
      </p:sp>
      <p:sp>
        <p:nvSpPr>
          <p:cNvPr id="3" name="body">
            <a:extLst xmlns:a="http://schemas.openxmlformats.org/drawingml/2006/main">
              <a:ext uri="{FF2B5EF4-FFF2-40B4-BE49-F238E27FC236}">
                <a16:creationId xmlns:a16="http://schemas.microsoft.com/office/drawing/2014/main" id="{498D2E4C-8BD9-4B20-BBA5-F0B9B07A974B}"/>
              </a:ext>
            </a:extLst>
          </p:cNvPr>
          <p:cNvSpPr>
            <a:spLocks xmlns:a="http://schemas.openxmlformats.org/drawingml/2006/main" noGrp="1"/>
          </p:cNvSpPr>
          <p:nvPr/>
        </p:nvSpPr>
        <p:spPr>
          <a:xfrm xmlns:a="http://schemas.openxmlformats.org/drawingml/2006/main">
            <a:off x="514350" y="3000375"/>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Objective 2: fitted models, independent tests, residual trends and actual-well sensitivities.</a:t>
            </a:r>
          </a:p>
        </p:txBody>
      </p:sp>
      <p:sp>
        <p:nvSpPr>
          <p:cNvPr id="4" name="body">
            <a:extLst xmlns:a="http://schemas.openxmlformats.org/drawingml/2006/main">
              <a:ext uri="{FF2B5EF4-FFF2-40B4-BE49-F238E27FC236}">
                <a16:creationId xmlns:a16="http://schemas.microsoft.com/office/drawing/2014/main" id="{3D6F7851-82FC-4598-8BA8-F170CADCC214}"/>
              </a:ext>
            </a:extLst>
          </p:cNvPr>
          <p:cNvSpPr>
            <a:spLocks xmlns:a="http://schemas.openxmlformats.org/drawingml/2006/main" noGrp="1"/>
          </p:cNvSpPr>
          <p:nvPr/>
        </p:nvSpPr>
        <p:spPr>
          <a:xfrm xmlns:a="http://schemas.openxmlformats.org/drawingml/2006/main">
            <a:off x="514350" y="438150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250" b="0">
                <a:solidFill>
                  <a:srgbClr val="243D3F"/>
                </a:solidFill>
              </a:defRPr>
            </a:pPr>
            <a:r>
              <a:t>Objective 3: hosted dashboard, downloadable tables and this presentation.</a:t>
            </a:r>
          </a:p>
        </p:txBody>
      </p:sp>
      <p:sp>
        <p:nvSpPr>
          <p:cNvPr id="5" name="source">
            <a:extLst xmlns:a="http://schemas.openxmlformats.org/drawingml/2006/main">
              <a:ext uri="{FF2B5EF4-FFF2-40B4-BE49-F238E27FC236}">
                <a16:creationId xmlns:a16="http://schemas.microsoft.com/office/drawing/2014/main" id="{EF90E89B-1FD7-4D37-896D-986A6C919B1A}"/>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6" name="page">
            <a:extLst xmlns:a="http://schemas.openxmlformats.org/drawingml/2006/main">
              <a:ext uri="{FF2B5EF4-FFF2-40B4-BE49-F238E27FC236}">
                <a16:creationId xmlns:a16="http://schemas.microsoft.com/office/drawing/2014/main" id="{36FFCFA4-A700-47E9-970F-6C11C633BB13}"/>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21</a:t>
            </a:r>
          </a:p>
        </p:txBody>
      </p:sp>
    </p:spTree>
    <p:extLst>
      <p:ext uri="{BB962C8B-B14F-4D97-AF65-F5344CB8AC3E}">
        <p14:creationId xmlns:p14="http://schemas.microsoft.com/office/powerpoint/2010/main" val="9189190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8116764A-DF88-44D6-B207-92EE74A31D3A}"/>
              </a:ext>
            </a:extLst>
          </p:cNvPr>
          <p:cNvSpPr>
            <a:spLocks xmlns:a="http://schemas.openxmlformats.org/drawingml/2006/main" noGrp="1"/>
          </p:cNvSpPr>
          <p:nvPr/>
        </p:nvSpPr>
        <p:spPr>
          <a:xfrm xmlns:a="http://schemas.openxmlformats.org/drawingml/2006/main">
            <a:off x="514350" y="361950"/>
            <a:ext cx="11163300" cy="74295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3600" b="0">
                <a:solidFill>
                  <a:srgbClr val="173A3C"/>
                </a:solidFill>
              </a:defRPr>
            </a:pPr>
            <a:r>
              <a:t>Declining storage is clear; attribution remains conditional</a:t>
            </a:r>
          </a:p>
        </p:txBody>
      </p:sp>
      <p:sp>
        <p:nvSpPr>
          <p:cNvPr id="2" name="body">
            <a:extLst xmlns:a="http://schemas.openxmlformats.org/drawingml/2006/main">
              <a:ext uri="{FF2B5EF4-FFF2-40B4-BE49-F238E27FC236}">
                <a16:creationId xmlns:a16="http://schemas.microsoft.com/office/drawing/2014/main" id="{BFB486E3-EE82-442C-912C-284596E0332F}"/>
              </a:ext>
            </a:extLst>
          </p:cNvPr>
          <p:cNvSpPr>
            <a:spLocks xmlns:a="http://schemas.openxmlformats.org/drawingml/2006/main" noGrp="1"/>
          </p:cNvSpPr>
          <p:nvPr/>
        </p:nvSpPr>
        <p:spPr>
          <a:xfrm xmlns:a="http://schemas.openxmlformats.org/drawingml/2006/main">
            <a:off x="514350" y="161925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400" b="0">
                <a:solidFill>
                  <a:srgbClr val="243D3F"/>
                </a:solidFill>
              </a:defRPr>
            </a:pPr>
            <a:r>
              <a:t>Both national storage records decline, with uncertainty reported for every basin.</a:t>
            </a:r>
          </a:p>
        </p:txBody>
      </p:sp>
      <p:sp>
        <p:nvSpPr>
          <p:cNvPr id="3" name="body">
            <a:extLst xmlns:a="http://schemas.openxmlformats.org/drawingml/2006/main">
              <a:ext uri="{FF2B5EF4-FFF2-40B4-BE49-F238E27FC236}">
                <a16:creationId xmlns:a16="http://schemas.microsoft.com/office/drawing/2014/main" id="{2C598A24-C195-48F6-B2B3-0F7E827D678A}"/>
              </a:ext>
            </a:extLst>
          </p:cNvPr>
          <p:cNvSpPr>
            <a:spLocks xmlns:a="http://schemas.openxmlformats.org/drawingml/2006/main" noGrp="1"/>
          </p:cNvSpPr>
          <p:nvPr/>
        </p:nvSpPr>
        <p:spPr>
          <a:xfrm xmlns:a="http://schemas.openxmlformats.org/drawingml/2006/main">
            <a:off x="514350" y="3000375"/>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400" b="0">
                <a:solidFill>
                  <a:srgbClr val="243D3F"/>
                </a:solidFill>
              </a:defRPr>
            </a:pPr>
            <a:r>
              <a:t>Climate models capture seasonality more reliably than longer-term groundwater changes.</a:t>
            </a:r>
          </a:p>
        </p:txBody>
      </p:sp>
      <p:sp>
        <p:nvSpPr>
          <p:cNvPr id="4" name="body">
            <a:extLst xmlns:a="http://schemas.openxmlformats.org/drawingml/2006/main">
              <a:ext uri="{FF2B5EF4-FFF2-40B4-BE49-F238E27FC236}">
                <a16:creationId xmlns:a16="http://schemas.microsoft.com/office/drawing/2014/main" id="{75EBB05A-6F6F-4215-90C2-4C472B7B5B91}"/>
              </a:ext>
            </a:extLst>
          </p:cNvPr>
          <p:cNvSpPr>
            <a:spLocks xmlns:a="http://schemas.openxmlformats.org/drawingml/2006/main" noGrp="1"/>
          </p:cNvSpPr>
          <p:nvPr/>
        </p:nvSpPr>
        <p:spPr>
          <a:xfrm xmlns:a="http://schemas.openxmlformats.org/drawingml/2006/main">
            <a:off x="514350" y="4381500"/>
            <a:ext cx="10953750" cy="122872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2400" b="0">
                <a:solidFill>
                  <a:srgbClr val="243D3F"/>
                </a:solidFill>
              </a:defRPr>
            </a:pPr>
            <a:r>
              <a:t>Groundwater checks are complete, but available evidence does not establish causal human depletion.</a:t>
            </a:r>
          </a:p>
        </p:txBody>
      </p:sp>
      <p:sp>
        <p:nvSpPr>
          <p:cNvPr id="5" name="source">
            <a:extLst xmlns:a="http://schemas.openxmlformats.org/drawingml/2006/main">
              <a:ext uri="{FF2B5EF4-FFF2-40B4-BE49-F238E27FC236}">
                <a16:creationId xmlns:a16="http://schemas.microsoft.com/office/drawing/2014/main" id="{AE05DEF2-93AB-4761-B3E3-43F6A462B319}"/>
              </a:ext>
            </a:extLst>
          </p:cNvPr>
          <p:cNvSpPr>
            <a:spLocks xmlns:a="http://schemas.openxmlformats.org/drawingml/2006/main" noGrp="1"/>
          </p:cNvSpPr>
          <p:nvPr/>
        </p:nvSpPr>
        <p:spPr>
          <a:xfrm xmlns:a="http://schemas.openxmlformats.org/drawingml/2006/main">
            <a:off x="514350" y="6362700"/>
            <a:ext cx="104775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Thailand research release v3 • 14 October 2026</a:t>
            </a:r>
          </a:p>
        </p:txBody>
      </p:sp>
      <p:sp>
        <p:nvSpPr>
          <p:cNvPr id="6" name="page">
            <a:extLst xmlns:a="http://schemas.openxmlformats.org/drawingml/2006/main">
              <a:ext uri="{FF2B5EF4-FFF2-40B4-BE49-F238E27FC236}">
                <a16:creationId xmlns:a16="http://schemas.microsoft.com/office/drawing/2014/main" id="{E615783C-D5D5-414B-A122-CDFF1A07BA14}"/>
              </a:ext>
            </a:extLst>
          </p:cNvPr>
          <p:cNvSpPr>
            <a:spLocks xmlns:a="http://schemas.openxmlformats.org/drawingml/2006/main" noGrp="1"/>
          </p:cNvSpPr>
          <p:nvPr/>
        </p:nvSpPr>
        <p:spPr>
          <a:xfrm xmlns:a="http://schemas.openxmlformats.org/drawingml/2006/main">
            <a:off x="11191875" y="6334125"/>
            <a:ext cx="476250" cy="333375"/>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defRPr sz="1650" b="0">
                <a:solidFill>
                  <a:srgbClr val="697776"/>
                </a:solidFill>
              </a:defRPr>
            </a:pPr>
            <a:r>
              <a:t>22</a:t>
            </a:r>
          </a:p>
        </p:txBody>
      </p:sp>
    </p:spTree>
    <p:extLst>
      <p:ext uri="{BB962C8B-B14F-4D97-AF65-F5344CB8AC3E}">
        <p14:creationId xmlns:p14="http://schemas.microsoft.com/office/powerpoint/2010/main" val="18507726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2026-10-14T12:45:35.8450000Z</dcterms:created>
  <dcterms:modified xsi:type="dcterms:W3CDTF">2026-10-14T12:45:35.8450000Z</dcterms:modified>
</coreProperties>
</file>