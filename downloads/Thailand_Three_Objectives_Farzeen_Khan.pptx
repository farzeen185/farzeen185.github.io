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ff895b9f8c4341" /><Relationship Type="http://schemas.openxmlformats.org/officeDocument/2006/relationships/extended-properties" Target="/docProps/app.xml" Id="R7412d476b6f54d3f" /><Relationship Type="http://schemas.openxmlformats.org/officeDocument/2006/relationships/officeDocument" Target="/ppt/presentation.xml" Id="Redadf203462444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d23ae11e2b43b2"/>
  </p:sldMasterIdLst>
  <p:notesMasterIdLst>
    <p:notesMasterId xmlns:r="http://schemas.openxmlformats.org/officeDocument/2006/relationships" r:id="R80c8c2a1560e4347"/>
  </p:notesMasterIdLst>
  <p:sldIdLst>
    <p:sldId xmlns:r="http://schemas.openxmlformats.org/officeDocument/2006/relationships" id="256" r:id="Rbb2ef098e10b49cb"/>
    <p:sldId xmlns:r="http://schemas.openxmlformats.org/officeDocument/2006/relationships" id="257" r:id="R00b40e6ba2634327"/>
    <p:sldId xmlns:r="http://schemas.openxmlformats.org/officeDocument/2006/relationships" id="258" r:id="Re985dd54b8384ffe"/>
    <p:sldId xmlns:r="http://schemas.openxmlformats.org/officeDocument/2006/relationships" id="259" r:id="R05c3db9817674872"/>
    <p:sldId xmlns:r="http://schemas.openxmlformats.org/officeDocument/2006/relationships" id="260" r:id="Rf2886a58117e42f1"/>
    <p:sldId xmlns:r="http://schemas.openxmlformats.org/officeDocument/2006/relationships" id="261" r:id="R2549d0959e224082"/>
    <p:sldId xmlns:r="http://schemas.openxmlformats.org/officeDocument/2006/relationships" id="262" r:id="R92de03c5c01d4243"/>
    <p:sldId xmlns:r="http://schemas.openxmlformats.org/officeDocument/2006/relationships" id="263" r:id="R877a1bff73954b20"/>
    <p:sldId xmlns:r="http://schemas.openxmlformats.org/officeDocument/2006/relationships" id="264" r:id="R5eb3246d577345df"/>
    <p:sldId xmlns:r="http://schemas.openxmlformats.org/officeDocument/2006/relationships" id="265" r:id="Rea2f813e900348e2"/>
    <p:sldId xmlns:r="http://schemas.openxmlformats.org/officeDocument/2006/relationships" id="266" r:id="Rce9de6ac9eb243ae"/>
    <p:sldId xmlns:r="http://schemas.openxmlformats.org/officeDocument/2006/relationships" id="267" r:id="Rfd0bbc6c82f048ac"/>
    <p:sldId xmlns:r="http://schemas.openxmlformats.org/officeDocument/2006/relationships" id="268" r:id="R697f7e4b96074add"/>
    <p:sldId xmlns:r="http://schemas.openxmlformats.org/officeDocument/2006/relationships" id="269" r:id="Re2f1455baa894cca"/>
    <p:sldId xmlns:r="http://schemas.openxmlformats.org/officeDocument/2006/relationships" id="270" r:id="R8a8096e992004573"/>
    <p:sldId xmlns:r="http://schemas.openxmlformats.org/officeDocument/2006/relationships" id="271" r:id="R7602d94019df4a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322a7c9fd94c0a" /><Relationship Type="http://schemas.openxmlformats.org/officeDocument/2006/relationships/slideMaster" Target="/ppt/slideMasters/slideMaster1.xml" Id="R0ad23ae11e2b43b2" /><Relationship Type="http://schemas.openxmlformats.org/officeDocument/2006/relationships/notesMaster" Target="/ppt/notesMasters/notesMaster1.xml" Id="R80c8c2a1560e4347" /><Relationship Type="http://schemas.openxmlformats.org/officeDocument/2006/relationships/presProps" Target="/ppt/presProps.xml" Id="Rda22a4207b214eb6" /><Relationship Type="http://schemas.openxmlformats.org/officeDocument/2006/relationships/tableStyles" Target="/ppt/tableStyles.xml" Id="R01e5168ab85e443e" /><Relationship Type="http://schemas.openxmlformats.org/officeDocument/2006/relationships/slide" Target="/ppt/slides/slide1.xml" Id="Rbb2ef098e10b49cb" /><Relationship Type="http://schemas.openxmlformats.org/officeDocument/2006/relationships/slide" Target="/ppt/slides/slide2.xml" Id="R00b40e6ba2634327" /><Relationship Type="http://schemas.openxmlformats.org/officeDocument/2006/relationships/slide" Target="/ppt/slides/slide3.xml" Id="Re985dd54b8384ffe" /><Relationship Type="http://schemas.openxmlformats.org/officeDocument/2006/relationships/slide" Target="/ppt/slides/slide4.xml" Id="R05c3db9817674872" /><Relationship Type="http://schemas.openxmlformats.org/officeDocument/2006/relationships/slide" Target="/ppt/slides/slide5.xml" Id="Rf2886a58117e42f1" /><Relationship Type="http://schemas.openxmlformats.org/officeDocument/2006/relationships/slide" Target="/ppt/slides/slide6.xml" Id="R2549d0959e224082" /><Relationship Type="http://schemas.openxmlformats.org/officeDocument/2006/relationships/slide" Target="/ppt/slides/slide7.xml" Id="R92de03c5c01d4243" /><Relationship Type="http://schemas.openxmlformats.org/officeDocument/2006/relationships/slide" Target="/ppt/slides/slide8.xml" Id="R877a1bff73954b20" /><Relationship Type="http://schemas.openxmlformats.org/officeDocument/2006/relationships/slide" Target="/ppt/slides/slide9.xml" Id="R5eb3246d577345df" /><Relationship Type="http://schemas.openxmlformats.org/officeDocument/2006/relationships/slide" Target="/ppt/slides/slide10.xml" Id="Rea2f813e900348e2" /><Relationship Type="http://schemas.openxmlformats.org/officeDocument/2006/relationships/slide" Target="/ppt/slides/slide11.xml" Id="Rce9de6ac9eb243ae" /><Relationship Type="http://schemas.openxmlformats.org/officeDocument/2006/relationships/slide" Target="/ppt/slides/slide12.xml" Id="Rfd0bbc6c82f048ac" /><Relationship Type="http://schemas.openxmlformats.org/officeDocument/2006/relationships/slide" Target="/ppt/slides/slide13.xml" Id="R697f7e4b96074add" /><Relationship Type="http://schemas.openxmlformats.org/officeDocument/2006/relationships/slide" Target="/ppt/slides/slide14.xml" Id="Re2f1455baa894cca" /><Relationship Type="http://schemas.openxmlformats.org/officeDocument/2006/relationships/slide" Target="/ppt/slides/slide15.xml" Id="R8a8096e992004573" /><Relationship Type="http://schemas.openxmlformats.org/officeDocument/2006/relationships/slide" Target="/ppt/slides/slide16.xml" Id="R7602d94019df4a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e3d66e1d7549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565cea447a45e3" /><Relationship Type="http://schemas.openxmlformats.org/officeDocument/2006/relationships/notesMaster" Target="/ppt/notesMasters/notesMaster1.xml" Id="Rba98cc1d011241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1b12b749b0475d" /><Relationship Type="http://schemas.openxmlformats.org/officeDocument/2006/relationships/notesMaster" Target="/ppt/notesMasters/notesMaster1.xml" Id="R3cff74aa4a5141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972f7a38494aa1" /><Relationship Type="http://schemas.openxmlformats.org/officeDocument/2006/relationships/notesMaster" Target="/ppt/notesMasters/notesMaster1.xml" Id="R4afd39358e114a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f9bb78ac9d4bf7" /><Relationship Type="http://schemas.openxmlformats.org/officeDocument/2006/relationships/notesMaster" Target="/ppt/notesMasters/notesMaster1.xml" Id="Re8b720dd3e014b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5e945925ea4448" /><Relationship Type="http://schemas.openxmlformats.org/officeDocument/2006/relationships/notesMaster" Target="/ppt/notesMasters/notesMaster1.xml" Id="R4bd11101d01b40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d2bfd29f564274" /><Relationship Type="http://schemas.openxmlformats.org/officeDocument/2006/relationships/notesMaster" Target="/ppt/notesMasters/notesMaster1.xml" Id="Rda41126be48a49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2d6ad616794b54" /><Relationship Type="http://schemas.openxmlformats.org/officeDocument/2006/relationships/notesMaster" Target="/ppt/notesMasters/notesMaster1.xml" Id="R3eb6760ce53448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698aeae50149a3" /><Relationship Type="http://schemas.openxmlformats.org/officeDocument/2006/relationships/notesMaster" Target="/ppt/notesMasters/notesMaster1.xml" Id="R4d6c8263fbd841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2dfec06e8b4851" /><Relationship Type="http://schemas.openxmlformats.org/officeDocument/2006/relationships/notesMaster" Target="/ppt/notesMasters/notesMaster1.xml" Id="R6a9b1817e3b44d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0ef6dcb5b4442a" /><Relationship Type="http://schemas.openxmlformats.org/officeDocument/2006/relationships/notesMaster" Target="/ppt/notesMasters/notesMaster1.xml" Id="Rd96a42198b9444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00c9cc72a74c22" /><Relationship Type="http://schemas.openxmlformats.org/officeDocument/2006/relationships/notesMaster" Target="/ppt/notesMasters/notesMaster1.xml" Id="Rb223c712404c4a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537efa8159441c" /><Relationship Type="http://schemas.openxmlformats.org/officeDocument/2006/relationships/notesMaster" Target="/ppt/notesMasters/notesMaster1.xml" Id="R8b478117392f4e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2f7548495a4572" /><Relationship Type="http://schemas.openxmlformats.org/officeDocument/2006/relationships/notesMaster" Target="/ppt/notesMasters/notesMaster1.xml" Id="R053f40e761be4b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96bea469994cb5" /><Relationship Type="http://schemas.openxmlformats.org/officeDocument/2006/relationships/notesMaster" Target="/ppt/notesMasters/notesMaster1.xml" Id="Rf64d5da24a244f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62defcddca44dd" /><Relationship Type="http://schemas.openxmlformats.org/officeDocument/2006/relationships/notesMaster" Target="/ppt/notesMasters/notesMaster1.xml" Id="Rc79a535d576943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24046dda944881" /><Relationship Type="http://schemas.openxmlformats.org/officeDocument/2006/relationships/notesMaster" Target="/ppt/notesMasters/notesMaster1.xml" Id="Re3d7765aa63d48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Three-objective research release. Source report and manuscript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 1 full TWSA ends September 2024; GWSA ends September 2023. Revised WaterGAP climate baseline ends December 2023.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GRACE, GLDAS Noah, G3P/LISFLOOD. Observations and model fields use common support for attribution. No zero surface-water assumption.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Müller Schmied et al. 2024 https://doi.org/10.5194/gmd-17-8817-2024 . Naturalized DOI10.25716/GUDE.1TWP-GNQP, historical DOI10.25716/GUDE.14B4-KQ6R.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anomalies use 2004–2009. H is change in modeled human influence relative to the reference, not total pre-GRACE depletion. The exact identity is checked numerically.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Scaling and tuning are within chronological training folds. No unrestricted year trend, observed storage lag or groundwater head predictor enters the primary emulator.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has96 months per national target. These are model-emulation scores, not independent validation of actual groundwater depletion.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historical-human WaterGAP model is compared against observed storage on common support. GWS agreement remains weak despite strong emulation.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Noah and WaterGAP soil columns differ. This is a cross-model benchmark with related climatic drivers, not independent observations. Source NASA GLDAS dataset specifications.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National common-support series. Source simulations end December 2023; missing observations remain gaps.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paired modeled human effect is much smaller than the observed residual. Do not allocate all discrepancy to abstraction.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Seasonal Sen slopes in mm/year are not additive. The separate OLS monthly-fixed-effect table supplies an additive point partition.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Unconfined storage conversion would require ΔSgw(mm)=1000 Sy Δh(m). No specific yield or storativity is invented. Total human TWSA needs evidence about other compartments as well.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GROW:5484 observed aggregates,511 Thai wells,506 annual and5 monthly. Partial correlations control naturalized climate descriptively, not causally.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Pages application. Source and full report include metadata, missing-date policy, source licenses and downloadable tables.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supplied GRACE file lacks processing-centre/release/leakage metadata. Different groundwater products give different slope magnitudes. Further aquifer-specific monthly heads, pumping and reservoir histories are needed for stronger attribution.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a845a30e747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39722554e4b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0f7da153744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7c040d58148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e14708d0d4f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f74bf464247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35AD2C-DE49-4DA8-A4CD-C6062F40F8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99A94B8-288B-4A54-8084-6E631CE5FC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9B5D1B-96AB-48B6-B47F-CF83A012F4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9455B1-E408-49C4-AD8B-C3D21B3143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A503F6-B06C-4AFE-8C02-7A0134E181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A84D6B-92E2-46EA-B03A-2A6CEDB58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741CB0-3A56-43D7-8AAC-BE74218DE8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D7B654-7744-4F08-9EFC-F8C30E3C81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0E9DF7-A129-466B-80BC-DCC56191EB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64229D-4085-4B5D-87A7-6B760D1AD7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ca058fbe954ee3" /><Relationship Type="http://schemas.openxmlformats.org/officeDocument/2006/relationships/slideLayout" Target="/ppt/slideLayouts/slideLayout1.xml" Id="Rb449adfe32054e24" /><Relationship Type="http://schemas.openxmlformats.org/officeDocument/2006/relationships/slideLayout" Target="/ppt/slideLayouts/slideLayout2.xml" Id="Reda8cf8beff44506" /><Relationship Type="http://schemas.openxmlformats.org/officeDocument/2006/relationships/slideLayout" Target="/ppt/slideLayouts/slideLayout3.xml" Id="R086a5704babd4e79" /><Relationship Type="http://schemas.openxmlformats.org/officeDocument/2006/relationships/slideLayout" Target="/ppt/slideLayouts/slideLayout4.xml" Id="R7250e0b0173646d7" /><Relationship Type="http://schemas.openxmlformats.org/officeDocument/2006/relationships/slideLayout" Target="/ppt/slideLayouts/slideLayout5.xml" Id="Re1b50513675542be" /><Relationship Type="http://schemas.openxmlformats.org/officeDocument/2006/relationships/slideLayout" Target="/ppt/slideLayouts/slideLayout6.xml" Id="R4d21582e491e4b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49adfe32054e24"/>
    <p:sldLayoutId xmlns:r="http://schemas.openxmlformats.org/officeDocument/2006/relationships" id="2147483650" r:id="Reda8cf8beff44506"/>
    <p:sldLayoutId xmlns:r="http://schemas.openxmlformats.org/officeDocument/2006/relationships" id="2147483651" r:id="R086a5704babd4e79"/>
    <p:sldLayoutId xmlns:r="http://schemas.openxmlformats.org/officeDocument/2006/relationships" id="2147483652" r:id="R7250e0b0173646d7"/>
    <p:sldLayoutId xmlns:r="http://schemas.openxmlformats.org/officeDocument/2006/relationships" id="2147483653" r:id="Re1b50513675542be"/>
    <p:sldLayoutId xmlns:r="http://schemas.openxmlformats.org/officeDocument/2006/relationships" id="2147483654" r:id="R4d21582e491e4b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a1e0a5136f49f4" /><Relationship Type="http://schemas.openxmlformats.org/officeDocument/2006/relationships/notesSlide" Target="/ppt/notesSlides/notesSlide1.xml" Id="R791c374f581340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5c7caef03b4753" /><Relationship Type="http://schemas.openxmlformats.org/officeDocument/2006/relationships/notesSlide" Target="/ppt/notesSlides/notesSlide2.xml" Id="Ra77898f9c68f49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78cd6696c54873" /><Relationship Type="http://schemas.openxmlformats.org/officeDocument/2006/relationships/notesSlide" Target="/ppt/notesSlides/notesSlide3.xml" Id="R3e2724ac668749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c49e6dd6a4f6a" /><Relationship Type="http://schemas.openxmlformats.org/officeDocument/2006/relationships/notesSlide" Target="/ppt/notesSlides/notesSlide4.xml" Id="R76e4289ea70144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a3cca118948cd" /><Relationship Type="http://schemas.openxmlformats.org/officeDocument/2006/relationships/notesSlide" Target="/ppt/notesSlides/notesSlide5.xml" Id="R0fa3707262fc43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606279d0b4ab4" /><Relationship Type="http://schemas.openxmlformats.org/officeDocument/2006/relationships/notesSlide" Target="/ppt/notesSlides/notesSlide6.xml" Id="R0c1b7970880241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81a0b5e06d4c81" /><Relationship Type="http://schemas.openxmlformats.org/officeDocument/2006/relationships/notesSlide" Target="/ppt/notesSlides/notesSlide7.xml" Id="Rd67da6f0ffab4f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e806a7123465b" /><Relationship Type="http://schemas.openxmlformats.org/officeDocument/2006/relationships/notesSlide" Target="/ppt/notesSlides/notesSlide8.xml" Id="Rbe2679b12e2342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6ac2a659b64517" /><Relationship Type="http://schemas.openxmlformats.org/officeDocument/2006/relationships/notesSlide" Target="/ppt/notesSlides/notesSlide9.xml" Id="R1e8ec752049842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ac09d967140ff" /><Relationship Type="http://schemas.openxmlformats.org/officeDocument/2006/relationships/image" Target="/ppt/media/image.png" Id="R1885c74ee78d48c0" /><Relationship Type="http://schemas.openxmlformats.org/officeDocument/2006/relationships/notesSlide" Target="/ppt/notesSlides/notesSlide10.xml" Id="R27292e17c73f45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1d3e05e9f4e99" /><Relationship Type="http://schemas.openxmlformats.org/officeDocument/2006/relationships/image" Target="/ppt/media/image2.png" Id="R974ecaec9cb2444e" /><Relationship Type="http://schemas.openxmlformats.org/officeDocument/2006/relationships/notesSlide" Target="/ppt/notesSlides/notesSlide11.xml" Id="R4eb8f3fb6c5441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0621d74cfb4a22" /><Relationship Type="http://schemas.openxmlformats.org/officeDocument/2006/relationships/notesSlide" Target="/ppt/notesSlides/notesSlide12.xml" Id="R223a2a78feb34d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6a665f59d4559" /><Relationship Type="http://schemas.openxmlformats.org/officeDocument/2006/relationships/notesSlide" Target="/ppt/notesSlides/notesSlide13.xml" Id="R9fafa101835f45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daa7c179b4d91" /><Relationship Type="http://schemas.openxmlformats.org/officeDocument/2006/relationships/notesSlide" Target="/ppt/notesSlides/notesSlide14.xml" Id="R8b0786dd2fc440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de3c3331f14e7f" /><Relationship Type="http://schemas.openxmlformats.org/officeDocument/2006/relationships/notesSlide" Target="/ppt/notesSlides/notesSlide15.xml" Id="R0f000f410c5145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be8a91505f4e7b" /><Relationship Type="http://schemas.openxmlformats.org/officeDocument/2006/relationships/notesSlide" Target="/ppt/notesSlides/notesSlide16.xml" Id="R92023d04f57c41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6C28C-3EC0-4215-B05E-9BE317C7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Water storage trends and climate attribution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1402E-0860-48C8-BD81-1B69AB3F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Farzeen Khan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DD5D5-FF1A-4694-9198-149091E5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MS in Water Engineering and Management • Asian Institute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47EA5-EE4B-4D3A-A0C8-FB5ED894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Advisor: Dr. Natthachet Tangdamrongsub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8CF36-4EEF-41B1-918F-D564BC2E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3CE5F-41DA-4DFD-A093-5DC7BA38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454153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98ECB-7B1E-4074-913C-F3B971B3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Three objectives are implemented for all 22 basins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5EB1B-F446-42B7-9986-A6E6DFF4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Storage trends: TWSA/GWSA, seasonal Sen, Mann–Kendall and uncertainty.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FB470-4FDD-4EDA-9E57-09D49557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Climate attribution: naturalized hydrology, emulators, GLDAS and actual well checks.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68BE1-D136-4E02-8758-2E65B3EE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Decision support: interactive maps, time series and downloadable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74FE3-D3B9-492C-A989-20DE6365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FB90F-1A5D-4569-B43B-3C0A0848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95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EE030-77E5-4F04-A690-53925866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The groundwater balance includes all compartments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68B59-7A3E-4D35-B60F-BDBE61FD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GWSA = TWSA − soil − surface water − canopy − snow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38B85-79AB-4D9E-BECD-27710A4C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All terms use mm water equivalent and a common 2004–2009 reference.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ED9E2-10CD-433F-A6E8-9149A628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Common valid cells preserve the basin water balance; filtering mismatch remains.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1586A-D04E-45FC-9454-0A92A650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E7735-7ED4-4860-B93C-2BB13234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09173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9FBA4-2DE0-4F4D-9587-043430D6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The revised climate baseline is explicitly naturalized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2F6EB-54A0-4DE3-A2FF-DBD6CE49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WaterGAP naturalized run: direct water use and artificial reservoirs switched 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B215A-A406-4821-B3FC-24988969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Historical-human run: same model and meteorological forcing, with direct human impacts.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79D15-A419-449E-92BB-5ABCE2A5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Climate emulators learn naturalized storage; GRACE is excluded from fitting.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72759-B612-4822-9F43-60E188FA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AE962-932C-485E-AB96-EB19FC74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036033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8E238-F095-42C1-B139-2DF02B93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Residuals include modeled human effects and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FC6B6-3992-4C7C-AC31-4DFC04A8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Residual R = observed O − naturalized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1BC13-92C1-4572-AE87-86237551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Modeled human H = historical-human A − naturalized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453FA-5E2C-4376-9691-E557E104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R = H + E, where discrepancy E = observed O − historical-human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05DE6-40E1-4394-852B-F804F912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340F7-FCCE-44AB-BFD0-C49FB6D4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1882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BF0CD-32F1-44E1-9682-B5AE4B3A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Climate testing separates seasonality from anomalies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C3746-F295-4849-B85C-CEF31371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Predictors: precipitation, potential ET, causal lags and climate-memory indices.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3376A-779F-48CB-8B74-EC44A222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Warm-up 1981–1990; train 1991–2009; validate 2010–2015; test 2016–2023.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D13F3-ED45-49C9-9D43-497A70D0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Ridge, ElasticNet, splines and Random Forest; validation selects frozen ensembles.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6A7E7-9973-4CEE-8456-E5D1A890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65DB7-EB8F-4C38-B4FB-BAF2DFB0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6909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5F0D1-AEF0-4866-884A-1DFC9A52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Emulators reproduce the naturalized parent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A8F58-7EB2-45A6-985C-F7124194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74B34-F0B7-4497-882A-8EE69864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F97CD-BCA7-428F-9FAB-96A8B13F9DE8}"/>
              </a:ext>
            </a:extLst>
          </p:cNvPr>
          <p:cNvGraphicFramePr/>
          <p:nvPr/>
        </p:nvGraphicFramePr>
        <p:xfrm>
          <a:off xmlns:a="http://schemas.openxmlformats.org/drawingml/2006/main" x="514350" y="1666875"/>
          <a:ext xmlns:a="http://schemas.openxmlformats.org/drawingml/2006/main" cx="111633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476500"/>
                <a:gridCol w="2476500"/>
                <a:gridCol w="2495550"/>
              </a:tblGrid>
              <a:tr h="7810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Test NSE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Anomaly NSE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RMSE mm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TWSA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0.981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0.888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13.45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GWSA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0.961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0.781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5.42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926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ADF32-9840-4D5E-9E57-A68B84F1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High emulator skill does not imply observed 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BFC6A-1ED0-489F-AE7C-0BEBC3D1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D3855-4EA0-46D9-9CC2-EBF4D21B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B517F-80CD-43B8-9D26-58F3F34E9A84}"/>
              </a:ext>
            </a:extLst>
          </p:cNvPr>
          <p:cNvGraphicFramePr/>
          <p:nvPr/>
        </p:nvGraphicFramePr>
        <p:xfrm>
          <a:off xmlns:a="http://schemas.openxmlformats.org/drawingml/2006/main" x="514350" y="1666875"/>
          <a:ext xmlns:a="http://schemas.openxmlformats.org/drawingml/2006/main" cx="111633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810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TWSA NSE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GWSA NSE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Naturalized / observed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0.652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0.110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Historical-human / observed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0.673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0.093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500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A4290-491D-431A-8FB5-39BEB924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GLDAS benchmarks matching land compartments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B27F8-6CDE-4BF2-9FF0-B5E1BC71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Naturalized WaterGAP soil + canopy + snow versus GLDAS Noah land storage.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17BD6-C05F-418A-9173-B3BA4493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National benchmark NSE = 0.738 and r = 0.969.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B600C-2C3F-4A62-9E88-5011F1C4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Noah has no groundwater compartment; it cannot independently validate GWSA.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4BFC2-86CD-4562-A95A-B6BD01AC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45928-60FA-4437-B868-5C0CC3D4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012883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38AFB-C629-4E37-B338-5241E909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Observed storage and modeled climate differ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9E2E6-C084-4100-B30F-9783F190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68C73-A5FF-4562-8943-E128E633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54052-F62B-472D-84EB-F65751AB80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5c74ee78d48c0"/>
          <a:stretch xmlns:a="http://schemas.openxmlformats.org/drawingml/2006/main"/>
        </p:blipFill>
        <p:spPr>
          <a:xfrm xmlns:a="http://schemas.openxmlformats.org/drawingml/2006/main">
            <a:off x="2419615" y="1476375"/>
            <a:ext cx="7352769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117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69929-903B-4AD6-93D0-814AB47A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Large discrepancy remains after modeled human effects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184CB-DBD4-412B-83F7-66A5FCE6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B5BAE-2B31-418C-B80D-C3CDE59F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DDB46-984A-4CD0-89CF-4A831579E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ecaec9cb2444e"/>
          <a:stretch xmlns:a="http://schemas.openxmlformats.org/drawingml/2006/main"/>
        </p:blipFill>
        <p:spPr>
          <a:xfrm xmlns:a="http://schemas.openxmlformats.org/drawingml/2006/main">
            <a:off x="740081" y="1476375"/>
            <a:ext cx="10711837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3294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25755-C231-415C-94AD-9980DD64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National trends require cautious attribution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D90E4-DFB1-46BE-B330-FC87894D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E2465-F13B-4C7D-BFE3-467EB90C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B3C92-263D-4281-BA4A-A18EEECF4CF1}"/>
              </a:ext>
            </a:extLst>
          </p:cNvPr>
          <p:cNvGraphicFramePr/>
          <p:nvPr/>
        </p:nvGraphicFramePr>
        <p:xfrm>
          <a:off xmlns:a="http://schemas.openxmlformats.org/drawingml/2006/main" x="514350" y="1666875"/>
          <a:ext xmlns:a="http://schemas.openxmlformats.org/drawingml/2006/main" cx="111633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810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TWSA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GWSA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Observed full record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−7.46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−6.82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Naturalized common record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−0.25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−0.05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Observed residual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−6.61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−6.55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Paired modeled human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−0.52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+0.04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834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F7DED-871D-42EF-8C2D-96AF2DB2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Well heads cannot validate total human TWSA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4D465-1B53-4331-BEE7-59DE52DC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A well measures local groundwater head; TWSA also includes rivers, reservoirs and soil.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FAA52-C802-4332-8666-1EE17594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Heads contain both climate and human effects. Raw residual correlation can be misleading.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28174-5766-4CA5-B764-F429DE69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Use groundwater consistency checks; pumping/storage validation requires aquifer and management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DD431-001F-44B7-AAD2-1344053E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0124C-A6CA-4E38-968E-BCE50C05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803802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EFB80-68A8-44AA-9D7E-9B5BFF72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Actual well observations give weak residual agreement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C6E13-570C-48A4-83A5-62916AF7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7B7B6-383E-4C02-8F2F-2A4B8E64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B6DA0-B8F2-4666-BA78-A5C049794A61}"/>
              </a:ext>
            </a:extLst>
          </p:cNvPr>
          <p:cNvGraphicFramePr/>
          <p:nvPr/>
        </p:nvGraphicFramePr>
        <p:xfrm>
          <a:off xmlns:a="http://schemas.openxmlformats.org/drawingml/2006/main" x="514350" y="1666875"/>
          <a:ext xmlns:a="http://schemas.openxmlformats.org/drawingml/2006/main" cx="111633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476500"/>
                <a:gridCol w="2476500"/>
                <a:gridCol w="2495550"/>
              </a:tblGrid>
              <a:tr h="7810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Residual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Annual years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Raw r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Climate-controlled r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TWSA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0.142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0.131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GWSA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0.054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0.029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7876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714F7-F897-408F-98E8-F0A6465C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The decision-support system exposes uncertainty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3B22B-B508-4216-BE13-9077D228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All 22 basins: observed trends, naturalized climate and residual comparison.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EB6E0-C871-492E-9318-BEB90C4E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Separate panels identify model verification, GLDAS benchmarking and groundwater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F06ED-BD78-461D-A851-AFEAADA5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pratikkhanal16.github.io/thailand-water-storage-dss/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85C9B-DF11-45F2-8BF9-E5F2C834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F8327-F26E-4CDD-91C3-317CB8FE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17419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6148E-091B-4A4C-BF1F-37A3D935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Human attribution remains uncertain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A7025-EECF-4DF1-9BAC-D8F6F39D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Observed decline is conditional on supplied GRACE data; product provenance needs confirmation.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74F31-8F46-4400-B971-0ECECB8C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Climate emulation is strong, but independent groundwater consistency is weak.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F9F57-A998-44C3-8DDC-093A5BE5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The residual remains candidate human influence plus model and observation 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10F74-B1C8-499F-878E-4AF8FFA1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46E2A-ED02-48B2-BBCD-C53AE90E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30443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2026-10-24T07:58:44.8460000Z</dcterms:created>
  <dcterms:modified xsi:type="dcterms:W3CDTF">2026-10-24T07:58:44.8460000Z</dcterms:modified>
</coreProperties>
</file>