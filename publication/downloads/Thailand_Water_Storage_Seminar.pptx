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a43c3f4115c419d" /><Relationship Type="http://schemas.openxmlformats.org/officeDocument/2006/relationships/extended-properties" Target="/docProps/app.xml" Id="R976c8dc30a2f4b7d" /><Relationship Type="http://schemas.openxmlformats.org/officeDocument/2006/relationships/officeDocument" Target="/ppt/presentation.xml" Id="R73e92861f68c490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d5b05472fe44880"/>
  </p:sldMasterIdLst>
  <p:notesMasterIdLst>
    <p:notesMasterId xmlns:r="http://schemas.openxmlformats.org/officeDocument/2006/relationships" r:id="Rf94ad8cc6cf94c88"/>
  </p:notesMasterIdLst>
  <p:sldIdLst>
    <p:sldId xmlns:r="http://schemas.openxmlformats.org/officeDocument/2006/relationships" id="256" r:id="R9f39773ef6544244"/>
    <p:sldId xmlns:r="http://schemas.openxmlformats.org/officeDocument/2006/relationships" id="257" r:id="Rb62d9b1f2cea4090"/>
    <p:sldId xmlns:r="http://schemas.openxmlformats.org/officeDocument/2006/relationships" id="258" r:id="R21bb8caa966d433f"/>
    <p:sldId xmlns:r="http://schemas.openxmlformats.org/officeDocument/2006/relationships" id="259" r:id="R82c5c012e2364877"/>
    <p:sldId xmlns:r="http://schemas.openxmlformats.org/officeDocument/2006/relationships" id="260" r:id="R5b8af53db3324a0d"/>
    <p:sldId xmlns:r="http://schemas.openxmlformats.org/officeDocument/2006/relationships" id="261" r:id="Re2a768e20cef4c0a"/>
    <p:sldId xmlns:r="http://schemas.openxmlformats.org/officeDocument/2006/relationships" id="262" r:id="Ra03d759002424492"/>
    <p:sldId xmlns:r="http://schemas.openxmlformats.org/officeDocument/2006/relationships" id="263" r:id="Rdb4861b02332427f"/>
    <p:sldId xmlns:r="http://schemas.openxmlformats.org/officeDocument/2006/relationships" id="264" r:id="Ra4c1e9d5064e40fc"/>
    <p:sldId xmlns:r="http://schemas.openxmlformats.org/officeDocument/2006/relationships" id="265" r:id="Re8731abc40034591"/>
    <p:sldId xmlns:r="http://schemas.openxmlformats.org/officeDocument/2006/relationships" id="266" r:id="Rb68ce7686c08489f"/>
    <p:sldId xmlns:r="http://schemas.openxmlformats.org/officeDocument/2006/relationships" id="267" r:id="Rccf07e9b14234459"/>
    <p:sldId xmlns:r="http://schemas.openxmlformats.org/officeDocument/2006/relationships" id="268" r:id="Rf7f761a4d0e24c08"/>
    <p:sldId xmlns:r="http://schemas.openxmlformats.org/officeDocument/2006/relationships" id="269" r:id="R346a673358d7426c"/>
    <p:sldId xmlns:r="http://schemas.openxmlformats.org/officeDocument/2006/relationships" id="270" r:id="R85175566308041e1"/>
    <p:sldId xmlns:r="http://schemas.openxmlformats.org/officeDocument/2006/relationships" id="271" r:id="R1634ec49e3e442e9"/>
    <p:sldId xmlns:r="http://schemas.openxmlformats.org/officeDocument/2006/relationships" id="272" r:id="R7c784ef0c60140bc"/>
    <p:sldId xmlns:r="http://schemas.openxmlformats.org/officeDocument/2006/relationships" id="273" r:id="R91e5118f01184a77"/>
    <p:sldId xmlns:r="http://schemas.openxmlformats.org/officeDocument/2006/relationships" id="274" r:id="R4e8d65b7d12f4fb0"/>
    <p:sldId xmlns:r="http://schemas.openxmlformats.org/officeDocument/2006/relationships" id="275" r:id="R75e64274e3f746b7"/>
    <p:sldId xmlns:r="http://schemas.openxmlformats.org/officeDocument/2006/relationships" id="276" r:id="Rb5528f1c2cee46f2"/>
    <p:sldId xmlns:r="http://schemas.openxmlformats.org/officeDocument/2006/relationships" id="277" r:id="Rf3bdfd3c42644138"/>
    <p:sldId xmlns:r="http://schemas.openxmlformats.org/officeDocument/2006/relationships" id="278" r:id="Rc01d8b0d1f704f80"/>
    <p:sldId xmlns:r="http://schemas.openxmlformats.org/officeDocument/2006/relationships" id="279" r:id="R5cbe14f022504345"/>
    <p:sldId xmlns:r="http://schemas.openxmlformats.org/officeDocument/2006/relationships" id="280" r:id="R5f99f73dc2dc49ba"/>
    <p:sldId xmlns:r="http://schemas.openxmlformats.org/officeDocument/2006/relationships" id="281" r:id="R3e2778fb67e24084"/>
    <p:sldId xmlns:r="http://schemas.openxmlformats.org/officeDocument/2006/relationships" id="282" r:id="Re3fbe50dcf7143b8"/>
    <p:sldId xmlns:r="http://schemas.openxmlformats.org/officeDocument/2006/relationships" id="283" r:id="R2335bed966ff40ec"/>
    <p:sldId xmlns:r="http://schemas.openxmlformats.org/officeDocument/2006/relationships" id="284" r:id="Ree6522dde9d14790"/>
    <p:sldId xmlns:r="http://schemas.openxmlformats.org/officeDocument/2006/relationships" id="285" r:id="Reef9515bf032446f"/>
    <p:sldId xmlns:r="http://schemas.openxmlformats.org/officeDocument/2006/relationships" id="286" r:id="R7011db7772c6447b"/>
    <p:sldId xmlns:r="http://schemas.openxmlformats.org/officeDocument/2006/relationships" id="287" r:id="R89950b0d5394418b"/>
    <p:sldId xmlns:r="http://schemas.openxmlformats.org/officeDocument/2006/relationships" id="288" r:id="R994a1167ee274520"/>
    <p:sldId xmlns:r="http://schemas.openxmlformats.org/officeDocument/2006/relationships" id="289" r:id="R5bb26fd8a18043c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b7c91041c994bf6" /><Relationship Type="http://schemas.openxmlformats.org/officeDocument/2006/relationships/slideMaster" Target="/ppt/slideMasters/slideMaster1.xml" Id="R5d5b05472fe44880" /><Relationship Type="http://schemas.openxmlformats.org/officeDocument/2006/relationships/notesMaster" Target="/ppt/notesMasters/notesMaster1.xml" Id="Rf94ad8cc6cf94c88" /><Relationship Type="http://schemas.openxmlformats.org/officeDocument/2006/relationships/presProps" Target="/ppt/presProps.xml" Id="R365c113e4350478f" /><Relationship Type="http://schemas.openxmlformats.org/officeDocument/2006/relationships/tableStyles" Target="/ppt/tableStyles.xml" Id="R6d0b4cc2afe24898" /><Relationship Type="http://schemas.openxmlformats.org/officeDocument/2006/relationships/slide" Target="/ppt/slides/slide1.xml" Id="R9f39773ef6544244" /><Relationship Type="http://schemas.openxmlformats.org/officeDocument/2006/relationships/slide" Target="/ppt/slides/slide2.xml" Id="Rb62d9b1f2cea4090" /><Relationship Type="http://schemas.openxmlformats.org/officeDocument/2006/relationships/slide" Target="/ppt/slides/slide3.xml" Id="R21bb8caa966d433f" /><Relationship Type="http://schemas.openxmlformats.org/officeDocument/2006/relationships/slide" Target="/ppt/slides/slide4.xml" Id="R82c5c012e2364877" /><Relationship Type="http://schemas.openxmlformats.org/officeDocument/2006/relationships/slide" Target="/ppt/slides/slide5.xml" Id="R5b8af53db3324a0d" /><Relationship Type="http://schemas.openxmlformats.org/officeDocument/2006/relationships/slide" Target="/ppt/slides/slide6.xml" Id="Re2a768e20cef4c0a" /><Relationship Type="http://schemas.openxmlformats.org/officeDocument/2006/relationships/slide" Target="/ppt/slides/slide7.xml" Id="Ra03d759002424492" /><Relationship Type="http://schemas.openxmlformats.org/officeDocument/2006/relationships/slide" Target="/ppt/slides/slide8.xml" Id="Rdb4861b02332427f" /><Relationship Type="http://schemas.openxmlformats.org/officeDocument/2006/relationships/slide" Target="/ppt/slides/slide9.xml" Id="Ra4c1e9d5064e40fc" /><Relationship Type="http://schemas.openxmlformats.org/officeDocument/2006/relationships/slide" Target="/ppt/slides/slide10.xml" Id="Re8731abc40034591" /><Relationship Type="http://schemas.openxmlformats.org/officeDocument/2006/relationships/slide" Target="/ppt/slides/slide11.xml" Id="Rb68ce7686c08489f" /><Relationship Type="http://schemas.openxmlformats.org/officeDocument/2006/relationships/slide" Target="/ppt/slides/slide12.xml" Id="Rccf07e9b14234459" /><Relationship Type="http://schemas.openxmlformats.org/officeDocument/2006/relationships/slide" Target="/ppt/slides/slide13.xml" Id="Rf7f761a4d0e24c08" /><Relationship Type="http://schemas.openxmlformats.org/officeDocument/2006/relationships/slide" Target="/ppt/slides/slide14.xml" Id="R346a673358d7426c" /><Relationship Type="http://schemas.openxmlformats.org/officeDocument/2006/relationships/slide" Target="/ppt/slides/slide15.xml" Id="R85175566308041e1" /><Relationship Type="http://schemas.openxmlformats.org/officeDocument/2006/relationships/slide" Target="/ppt/slides/slide16.xml" Id="R1634ec49e3e442e9" /><Relationship Type="http://schemas.openxmlformats.org/officeDocument/2006/relationships/slide" Target="/ppt/slides/slide17.xml" Id="R7c784ef0c60140bc" /><Relationship Type="http://schemas.openxmlformats.org/officeDocument/2006/relationships/slide" Target="/ppt/slides/slide18.xml" Id="R91e5118f01184a77" /><Relationship Type="http://schemas.openxmlformats.org/officeDocument/2006/relationships/slide" Target="/ppt/slides/slide19.xml" Id="R4e8d65b7d12f4fb0" /><Relationship Type="http://schemas.openxmlformats.org/officeDocument/2006/relationships/slide" Target="/ppt/slides/slide20.xml" Id="R75e64274e3f746b7" /><Relationship Type="http://schemas.openxmlformats.org/officeDocument/2006/relationships/slide" Target="/ppt/slides/slide21.xml" Id="Rb5528f1c2cee46f2" /><Relationship Type="http://schemas.openxmlformats.org/officeDocument/2006/relationships/slide" Target="/ppt/slides/slide22.xml" Id="Rf3bdfd3c42644138" /><Relationship Type="http://schemas.openxmlformats.org/officeDocument/2006/relationships/slide" Target="/ppt/slides/slide23.xml" Id="Rc01d8b0d1f704f80" /><Relationship Type="http://schemas.openxmlformats.org/officeDocument/2006/relationships/slide" Target="/ppt/slides/slide24.xml" Id="R5cbe14f022504345" /><Relationship Type="http://schemas.openxmlformats.org/officeDocument/2006/relationships/slide" Target="/ppt/slides/slide25.xml" Id="R5f99f73dc2dc49ba" /><Relationship Type="http://schemas.openxmlformats.org/officeDocument/2006/relationships/slide" Target="/ppt/slides/slide26.xml" Id="R3e2778fb67e24084" /><Relationship Type="http://schemas.openxmlformats.org/officeDocument/2006/relationships/slide" Target="/ppt/slides/slide27.xml" Id="Re3fbe50dcf7143b8" /><Relationship Type="http://schemas.openxmlformats.org/officeDocument/2006/relationships/slide" Target="/ppt/slides/slide28.xml" Id="R2335bed966ff40ec" /><Relationship Type="http://schemas.openxmlformats.org/officeDocument/2006/relationships/slide" Target="/ppt/slides/slide29.xml" Id="Ree6522dde9d14790" /><Relationship Type="http://schemas.openxmlformats.org/officeDocument/2006/relationships/slide" Target="/ppt/slides/slide30.xml" Id="Reef9515bf032446f" /><Relationship Type="http://schemas.openxmlformats.org/officeDocument/2006/relationships/slide" Target="/ppt/slides/slide31.xml" Id="R7011db7772c6447b" /><Relationship Type="http://schemas.openxmlformats.org/officeDocument/2006/relationships/slide" Target="/ppt/slides/slide32.xml" Id="R89950b0d5394418b" /><Relationship Type="http://schemas.openxmlformats.org/officeDocument/2006/relationships/slide" Target="/ppt/slides/slide33.xml" Id="R994a1167ee274520" /><Relationship Type="http://schemas.openxmlformats.org/officeDocument/2006/relationships/slide" Target="/ppt/slides/slide34.xml" Id="R5bb26fd8a18043c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275d74d41ab4c5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49b917144ee45fe" /><Relationship Type="http://schemas.openxmlformats.org/officeDocument/2006/relationships/notesMaster" Target="/ppt/notesMasters/notesMaster1.xml" Id="Rb1de541da6664ab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29e9d1b98a4520" /><Relationship Type="http://schemas.openxmlformats.org/officeDocument/2006/relationships/notesMaster" Target="/ppt/notesMasters/notesMaster1.xml" Id="R205463becc7e444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ee3d46ef7884a00" /><Relationship Type="http://schemas.openxmlformats.org/officeDocument/2006/relationships/notesMaster" Target="/ppt/notesMasters/notesMaster1.xml" Id="Ra90b13e41a7f46d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71b6f06d28745cb" /><Relationship Type="http://schemas.openxmlformats.org/officeDocument/2006/relationships/notesMaster" Target="/ppt/notesMasters/notesMaster1.xml" Id="R49b641abc1f6423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6de7ad1b58f4461" /><Relationship Type="http://schemas.openxmlformats.org/officeDocument/2006/relationships/notesMaster" Target="/ppt/notesMasters/notesMaster1.xml" Id="R87eda6e751bf45f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a28f9eff91f4842" /><Relationship Type="http://schemas.openxmlformats.org/officeDocument/2006/relationships/notesMaster" Target="/ppt/notesMasters/notesMaster1.xml" Id="R25e99f4e54ea43c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49e6b53ab8b4134" /><Relationship Type="http://schemas.openxmlformats.org/officeDocument/2006/relationships/notesMaster" Target="/ppt/notesMasters/notesMaster1.xml" Id="Ra2a5d8c8018d49e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8333c4095664ed2" /><Relationship Type="http://schemas.openxmlformats.org/officeDocument/2006/relationships/notesMaster" Target="/ppt/notesMasters/notesMaster1.xml" Id="R33c72676d823493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4f2ad5681134c7c" /><Relationship Type="http://schemas.openxmlformats.org/officeDocument/2006/relationships/notesMaster" Target="/ppt/notesMasters/notesMaster1.xml" Id="R5aa51f8a981f45e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a3fb3bb95f14168" /><Relationship Type="http://schemas.openxmlformats.org/officeDocument/2006/relationships/notesMaster" Target="/ppt/notesMasters/notesMaster1.xml" Id="R7a477e821778423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0eaa7c92b4c4ba9" /><Relationship Type="http://schemas.openxmlformats.org/officeDocument/2006/relationships/notesMaster" Target="/ppt/notesMasters/notesMaster1.xml" Id="R44cc0ec1891c4be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d4cf35212cc4596" /><Relationship Type="http://schemas.openxmlformats.org/officeDocument/2006/relationships/notesMaster" Target="/ppt/notesMasters/notesMaster1.xml" Id="R9f1198bdfd60484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e7c293c750a4943" /><Relationship Type="http://schemas.openxmlformats.org/officeDocument/2006/relationships/notesMaster" Target="/ppt/notesMasters/notesMaster1.xml" Id="Rc7b5fd351452448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0df967fe2ee4dcd" /><Relationship Type="http://schemas.openxmlformats.org/officeDocument/2006/relationships/notesMaster" Target="/ppt/notesMasters/notesMaster1.xml" Id="Rcad70eb77966429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f5eba5dcf4042c0" /><Relationship Type="http://schemas.openxmlformats.org/officeDocument/2006/relationships/notesMaster" Target="/ppt/notesMasters/notesMaster1.xml" Id="Re2adb79e7cdd4ee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ee3ade6271b4c92" /><Relationship Type="http://schemas.openxmlformats.org/officeDocument/2006/relationships/notesMaster" Target="/ppt/notesMasters/notesMaster1.xml" Id="R6794ebf0ddac4ce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f9a2b6b197a4923" /><Relationship Type="http://schemas.openxmlformats.org/officeDocument/2006/relationships/notesMaster" Target="/ppt/notesMasters/notesMaster1.xml" Id="R67d19f88541848c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7fcef9339f8477c" /><Relationship Type="http://schemas.openxmlformats.org/officeDocument/2006/relationships/notesMaster" Target="/ppt/notesMasters/notesMaster1.xml" Id="Rc047d1e86f894ba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1b78c1e5eaa49d5" /><Relationship Type="http://schemas.openxmlformats.org/officeDocument/2006/relationships/notesMaster" Target="/ppt/notesMasters/notesMaster1.xml" Id="Ra0668780eb974e4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f6163924f9e4dd8" /><Relationship Type="http://schemas.openxmlformats.org/officeDocument/2006/relationships/notesMaster" Target="/ppt/notesMasters/notesMaster1.xml" Id="R47dd1e6be8cb4e4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78913b45a51452f" /><Relationship Type="http://schemas.openxmlformats.org/officeDocument/2006/relationships/notesMaster" Target="/ppt/notesMasters/notesMaster1.xml" Id="Re82c620301dc403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cdc8cc941154f1d" /><Relationship Type="http://schemas.openxmlformats.org/officeDocument/2006/relationships/notesMaster" Target="/ppt/notesMasters/notesMaster1.xml" Id="R8b89b3c71d984d1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ebc69a40ead42dd" /><Relationship Type="http://schemas.openxmlformats.org/officeDocument/2006/relationships/notesMaster" Target="/ppt/notesMasters/notesMaster1.xml" Id="R5b131c49d8a04d3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3e49e4ea553438b" /><Relationship Type="http://schemas.openxmlformats.org/officeDocument/2006/relationships/notesMaster" Target="/ppt/notesMasters/notesMaster1.xml" Id="R41e8dd4906104aa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45d2c316bfc4c0b" /><Relationship Type="http://schemas.openxmlformats.org/officeDocument/2006/relationships/notesMaster" Target="/ppt/notesMasters/notesMaster1.xml" Id="R72ad0396211d419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ad035d7c72442ed" /><Relationship Type="http://schemas.openxmlformats.org/officeDocument/2006/relationships/notesMaster" Target="/ppt/notesMasters/notesMaster1.xml" Id="R2598cd50bdfd4cd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8d3be6f3ae0497f" /><Relationship Type="http://schemas.openxmlformats.org/officeDocument/2006/relationships/notesMaster" Target="/ppt/notesMasters/notesMaster1.xml" Id="Rb366f9c02fbf45a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5d8da39dc1944cd" /><Relationship Type="http://schemas.openxmlformats.org/officeDocument/2006/relationships/notesMaster" Target="/ppt/notesMasters/notesMaster1.xml" Id="R5c5015acb06a4d9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97bc879ee4248b3" /><Relationship Type="http://schemas.openxmlformats.org/officeDocument/2006/relationships/notesMaster" Target="/ppt/notesMasters/notesMaster1.xml" Id="R3f6384aadaff4faa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e61ee433c7f4cac" /><Relationship Type="http://schemas.openxmlformats.org/officeDocument/2006/relationships/notesMaster" Target="/ppt/notesMasters/notesMaster1.xml" Id="Rac24cdfb11e64c06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aa1dbac9fba4b14" /><Relationship Type="http://schemas.openxmlformats.org/officeDocument/2006/relationships/notesMaster" Target="/ppt/notesMasters/notesMaster1.xml" Id="Rdbdaf0ce1730461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e78b9193225d46aa" /><Relationship Type="http://schemas.openxmlformats.org/officeDocument/2006/relationships/notesMaster" Target="/ppt/notesMasters/notesMaster1.xml" Id="Ref22f376089e4c71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b99e67266de4f44" /><Relationship Type="http://schemas.openxmlformats.org/officeDocument/2006/relationships/notesMaster" Target="/ppt/notesMasters/notesMaster1.xml" Id="R0e33e3c2c3144fce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d7d375e84a6f400c" /><Relationship Type="http://schemas.openxmlformats.org/officeDocument/2006/relationships/notesMaster" Target="/ppt/notesMasters/notesMaster1.xml" Id="R837dc97bd873436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Main research presentation.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Main research presentation.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Main research presentation.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ONWR principal-basin geometry. Reporting units do not imply independent GRACE observations.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Main research presentation.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Main research presentation.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Storage anomalies use mm of equivalent water depth. Snow is small in Thailand but retained consistently.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Main research presentation.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statistical emulator reconstructs C from weather. Its prediction does not replace C in the primary residual.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Main research presentation.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Ridge, Elastic Net, splines and Random Forest. Predictors exclude GRACE and groundwater observations.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Main research presentation.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National monthly values, 2003–2023. Native P/PET drive reconstruction. CHIRPS supplies the rainfall replacement test.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Main research presentation.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National CSR TWSA and compartment-derived GWSA. Missing months remain gaps. Groundwater ends earlier because of compartment availability.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Main research presentation.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Seasonal Sen slopes. Negative values indicate decline. All basins retain the CSR small-area caution.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Main research presentation.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Common-date rank correlations: TWSA 0.138 and GWSA 0.027. Groundwater chains also differ in compartment processing.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Main research presentation.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Ensemble test anomaly NSE against naturalized WaterGAP, 2016–2023. High scores verify reconstruction of the parent model.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Main research presentation.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Controlled Ridge experiment. National test anomaly NSE: current weather / memory = 0.283 / 0.890 for TWSA and 0.039 / 0.723 for GWSA.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Main research presentation.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2022 national anomaly NSE: TWSA 0.234; GWSA −1.067. Negative NSE indicates performance below the mean benchmark.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Main research presentation.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Soil + canopy + snow only. National r = 0.969, NSE = 0.738, RMSE = 52.49 mm across 261 months. Groundwater and surface water are excluded.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Main research presentation.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 = H + E on common observed months. The remaining discrepancy includes unresolved model and observation errors.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Main research presentation.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OLS slopes, mm/year, using the same months. R = H + E. Seasonal Sen slopes are reported separately because their medians are not additive.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Main research presentation.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National 2003–2023 diagnostics. At six months, TWSA baseline r = −0.536 and residual r = −0.142; GWSA values are −0.528 and −0.136. These differences are descriptive, not a causal validation.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Main research presentation.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Circular whole-year rotations preserve index patterns but assume shift comparability. Contemporary DMI, calendar season and trend are controlled. Current operational RONI uses v6; the study freezes historical v5.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Main research presentation.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Frozen 2016–2023 ensemble, naturalized parent target. There are 29 El Niño, 31 La Niña and 36 neutral months. The months share events; these are conditional reconstruction scores, not independent event forecasts.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Main research presentation.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511 wells provide 5,484 aggregates. Co-located wells are grouped. The common-period panels cover eight usable storage years within 2013–2022.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Main research presentation.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26-reservoir fixed panel, 73 scene-supported months. Adjusted r = 0.439, year-cluster 95% interval 0.188–0.665. Both curves remove season and linear trend.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Main research presentation.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Interactive basin analysis, a consolidated figure library, final documents and runnable code: https://pratikkhanal16.github.io/thailand-water-storage-dss/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Main research presentation.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Contribution: a reproducible joint assessment of product sensitivity, climate memory, paired-model discrepancy and monitoring-network uncertainty.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Main research presentation.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Metropolis theme: Matthias Vogelgesang and contributors, https://github.com/matze/mtheme. Full source bibliography and frozen NOAA indices accompany the report.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Main research presentation.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Basin available-month means, 2003–2023. Product coverage differs. Volumetric moisture is distinct from storage in mm.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Backup slide for discussion.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Matched land-storage benchmark. NSE colours saturate below −1 and RMSE above 100 mm. GLDAS also contributes to the groundwater subtraction.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Backup slide for discussion.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Residual–head correlations on available annual pairs. Grey hatching marks insufficient evidence. These comparisons cannot validate a human-only total.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Backup slide for discussion.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Scene-screened MSEA-Res Level 1. Reservoir storage checks a surface-water component. Climate and operating decisions both affect reservoirs.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Backup slide for discussion.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Frozen ensemble, 2016–2023 test data. Target: naturalized WaterGAP, not GRACE. Errors are mm; anomaly NSE removes the training monthly climatology. Higher NSE and lower errors are better.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Backup slide for discussion.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Frozen ensemble, 2016–2023 test data. Target: naturalized WaterGAP, not GRACE. Errors are mm; anomaly NSE removes the training monthly climatology. Higher NSE and lower errors are better.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Backup slide for discussion.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Frozen ensemble, 2016–2023 test data. Target: naturalized WaterGAP, not GRACE. Errors are mm; anomaly NSE removes the training monthly climatology. Higher NSE and lower errors are better.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Backup slide for discussion.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Frozen ensemble, 2016–2023 test data. Target: naturalized WaterGAP, not GRACE. Errors are mm; anomaly NSE removes the training monthly climatology. Higher NSE and lower errors are better.</a:t>
            </a:r>
          </a:p>
          <a:p xmlns:a="http://schemas.openxmlformats.org/drawingml/2006/main">
            <a:r>
              <a:t>Source: Thailand publication release, frozen ENSO diagnostics and verified component evidence.</a:t>
            </a:r>
          </a:p>
          <a:p xmlns:a="http://schemas.openxmlformats.org/drawingml/2006/main">
            <a:r>
              <a:t>Backup slide for discussion.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4b026392704b4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0acde919864c8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783c91b0be407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b1375e46e3440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14b2ec8a9b447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d058f83a9d47b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4D7B6C2-FC4C-4781-BF6B-F9761E2EAD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62B7F9E-6F5E-4FB6-A431-EF00B45F057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6CCBD5D-A884-4A88-9495-A2F8ACD667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7151539-2949-4FFD-9A18-F1C34C38EA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B61694B-8113-4D96-B78B-CA2FE8F204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292E1AB-A019-48DD-BF00-D3E18314FB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FA2BB75-5D87-4883-BA93-C1CE18F0553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6C380F4-2D4C-4477-96A0-63E82741950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A5C2BC0-F427-4108-9D2E-7780F2C610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12B65B6-3C62-4B13-ADF1-962EAC7BA23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73f7e45a6984251" /><Relationship Type="http://schemas.openxmlformats.org/officeDocument/2006/relationships/slideLayout" Target="/ppt/slideLayouts/slideLayout1.xml" Id="Re9b639909c134450" /><Relationship Type="http://schemas.openxmlformats.org/officeDocument/2006/relationships/slideLayout" Target="/ppt/slideLayouts/slideLayout2.xml" Id="Rf435fa98a7a14f3c" /><Relationship Type="http://schemas.openxmlformats.org/officeDocument/2006/relationships/slideLayout" Target="/ppt/slideLayouts/slideLayout3.xml" Id="R10c23f35029443a6" /><Relationship Type="http://schemas.openxmlformats.org/officeDocument/2006/relationships/slideLayout" Target="/ppt/slideLayouts/slideLayout4.xml" Id="Rbd5640ec4212405c" /><Relationship Type="http://schemas.openxmlformats.org/officeDocument/2006/relationships/slideLayout" Target="/ppt/slideLayouts/slideLayout5.xml" Id="R67374b9353d54422" /><Relationship Type="http://schemas.openxmlformats.org/officeDocument/2006/relationships/slideLayout" Target="/ppt/slideLayouts/slideLayout6.xml" Id="Rfc0544cab8244ba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9b639909c134450"/>
    <p:sldLayoutId xmlns:r="http://schemas.openxmlformats.org/officeDocument/2006/relationships" id="2147483650" r:id="Rf435fa98a7a14f3c"/>
    <p:sldLayoutId xmlns:r="http://schemas.openxmlformats.org/officeDocument/2006/relationships" id="2147483651" r:id="R10c23f35029443a6"/>
    <p:sldLayoutId xmlns:r="http://schemas.openxmlformats.org/officeDocument/2006/relationships" id="2147483652" r:id="Rbd5640ec4212405c"/>
    <p:sldLayoutId xmlns:r="http://schemas.openxmlformats.org/officeDocument/2006/relationships" id="2147483653" r:id="R67374b9353d54422"/>
    <p:sldLayoutId xmlns:r="http://schemas.openxmlformats.org/officeDocument/2006/relationships" id="2147483654" r:id="Rfc0544cab8244ba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cd24e0039141d6" /><Relationship Type="http://schemas.openxmlformats.org/officeDocument/2006/relationships/notesSlide" Target="/ppt/notesSlides/notesSlide1.xml" Id="R8e5ddabb3fc645c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244285317d4d2c" /><Relationship Type="http://schemas.openxmlformats.org/officeDocument/2006/relationships/notesSlide" Target="/ppt/notesSlides/notesSlide2.xml" Id="R5c81030f7f2b40f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4399fa10ae457b" /><Relationship Type="http://schemas.openxmlformats.org/officeDocument/2006/relationships/notesSlide" Target="/ppt/notesSlides/notesSlide3.xml" Id="R59139815534e454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88f1e65662483c" /><Relationship Type="http://schemas.openxmlformats.org/officeDocument/2006/relationships/image" Target="/ppt/media/image.png" Id="Rd2f32ddfbf4f4974" /><Relationship Type="http://schemas.openxmlformats.org/officeDocument/2006/relationships/notesSlide" Target="/ppt/notesSlides/notesSlide4.xml" Id="R9b08dfbc67e84fb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feae86e4e14f44" /><Relationship Type="http://schemas.openxmlformats.org/officeDocument/2006/relationships/notesSlide" Target="/ppt/notesSlides/notesSlide5.xml" Id="R4e2248ea4b9d4b8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796ec843974fee" /><Relationship Type="http://schemas.openxmlformats.org/officeDocument/2006/relationships/notesSlide" Target="/ppt/notesSlides/notesSlide6.xml" Id="R277b8ee93a5d413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4d133c2d50409d" /><Relationship Type="http://schemas.openxmlformats.org/officeDocument/2006/relationships/notesSlide" Target="/ppt/notesSlides/notesSlide7.xml" Id="Rf516e5918429448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733d7028634ed5" /><Relationship Type="http://schemas.openxmlformats.org/officeDocument/2006/relationships/notesSlide" Target="/ppt/notesSlides/notesSlide8.xml" Id="R16475a9d6d1f4bb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87b27ca3f546f1" /><Relationship Type="http://schemas.openxmlformats.org/officeDocument/2006/relationships/image" Target="/ppt/media/image2.png" Id="Rf2286fa639744d5d" /><Relationship Type="http://schemas.openxmlformats.org/officeDocument/2006/relationships/notesSlide" Target="/ppt/notesSlides/notesSlide9.xml" Id="R9b3465e088e9431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d533d4bd1b4e47" /><Relationship Type="http://schemas.openxmlformats.org/officeDocument/2006/relationships/image" Target="/ppt/media/image3.png" Id="Re35665584ec54d98" /><Relationship Type="http://schemas.openxmlformats.org/officeDocument/2006/relationships/notesSlide" Target="/ppt/notesSlides/notesSlide10.xml" Id="R78da7a164a044d8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888dd31ead4c67" /><Relationship Type="http://schemas.openxmlformats.org/officeDocument/2006/relationships/image" Target="/ppt/media/image4.png" Id="R5e11ef3a40464364" /><Relationship Type="http://schemas.openxmlformats.org/officeDocument/2006/relationships/notesSlide" Target="/ppt/notesSlides/notesSlide11.xml" Id="Rcd4eb667bf024ed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823d32e0b74545" /><Relationship Type="http://schemas.openxmlformats.org/officeDocument/2006/relationships/image" Target="/ppt/media/image5.png" Id="R437a31cbef794616" /><Relationship Type="http://schemas.openxmlformats.org/officeDocument/2006/relationships/notesSlide" Target="/ppt/notesSlides/notesSlide12.xml" Id="R543ed7b45863417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7709e79cca4bda" /><Relationship Type="http://schemas.openxmlformats.org/officeDocument/2006/relationships/image" Target="/ppt/media/image6.png" Id="R2e59e4bc064a4e07" /><Relationship Type="http://schemas.openxmlformats.org/officeDocument/2006/relationships/notesSlide" Target="/ppt/notesSlides/notesSlide13.xml" Id="R9a71385a30ea432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e8ecfe4b084740" /><Relationship Type="http://schemas.openxmlformats.org/officeDocument/2006/relationships/image" Target="/ppt/media/image7.png" Id="R82d881bef3064d14" /><Relationship Type="http://schemas.openxmlformats.org/officeDocument/2006/relationships/notesSlide" Target="/ppt/notesSlides/notesSlide14.xml" Id="R71f8ef7637d54f3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3a0bc6211b4fa6" /><Relationship Type="http://schemas.openxmlformats.org/officeDocument/2006/relationships/image" Target="/ppt/media/image8.png" Id="Rad37da642f8a4505" /><Relationship Type="http://schemas.openxmlformats.org/officeDocument/2006/relationships/notesSlide" Target="/ppt/notesSlides/notesSlide15.xml" Id="R0aeb9060b899447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449da106154f4e" /><Relationship Type="http://schemas.openxmlformats.org/officeDocument/2006/relationships/image" Target="/ppt/media/image9.png" Id="Rda22df48f1134410" /><Relationship Type="http://schemas.openxmlformats.org/officeDocument/2006/relationships/notesSlide" Target="/ppt/notesSlides/notesSlide16.xml" Id="R64b5070cac02459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a7bfb132b94430" /><Relationship Type="http://schemas.openxmlformats.org/officeDocument/2006/relationships/image" Target="/ppt/media/image10.png" Id="R7caa9ddb129047a7" /><Relationship Type="http://schemas.openxmlformats.org/officeDocument/2006/relationships/notesSlide" Target="/ppt/notesSlides/notesSlide17.xml" Id="R47420e48314341e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433218bb7643dd" /><Relationship Type="http://schemas.openxmlformats.org/officeDocument/2006/relationships/notesSlide" Target="/ppt/notesSlides/notesSlide18.xml" Id="R1b4ae4a0cc55422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320165c95f4d74" /><Relationship Type="http://schemas.openxmlformats.org/officeDocument/2006/relationships/image" Target="/ppt/media/image11.png" Id="R918ddcef72b54ade" /><Relationship Type="http://schemas.openxmlformats.org/officeDocument/2006/relationships/notesSlide" Target="/ppt/notesSlides/notesSlide19.xml" Id="Re4eb00306f1845b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4e78968c54439b" /><Relationship Type="http://schemas.openxmlformats.org/officeDocument/2006/relationships/notesSlide" Target="/ppt/notesSlides/notesSlide20.xml" Id="Rbb221a84c724472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df7aebfe1c4e2e" /><Relationship Type="http://schemas.openxmlformats.org/officeDocument/2006/relationships/image" Target="/ppt/media/image12.png" Id="Rda0ff2c45c184001" /><Relationship Type="http://schemas.openxmlformats.org/officeDocument/2006/relationships/notesSlide" Target="/ppt/notesSlides/notesSlide21.xml" Id="Rb8a02cef480e47f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782798ae3e46bf" /><Relationship Type="http://schemas.openxmlformats.org/officeDocument/2006/relationships/notesSlide" Target="/ppt/notesSlides/notesSlide22.xml" Id="Rbe34a2fcde94407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13708867d24aca" /><Relationship Type="http://schemas.openxmlformats.org/officeDocument/2006/relationships/image" Target="/ppt/media/image13.png" Id="Rc02a09e12799457d" /><Relationship Type="http://schemas.openxmlformats.org/officeDocument/2006/relationships/notesSlide" Target="/ppt/notesSlides/notesSlide23.xml" Id="Rc93ec8fed13345a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e1f081c45d441d" /><Relationship Type="http://schemas.openxmlformats.org/officeDocument/2006/relationships/notesSlide" Target="/ppt/notesSlides/notesSlide24.xml" Id="Rbe5c072114634e1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3fdbccecf6442d" /><Relationship Type="http://schemas.openxmlformats.org/officeDocument/2006/relationships/notesSlide" Target="/ppt/notesSlides/notesSlide25.xml" Id="R1d26a2aab1054f6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4ffc2f73004f4c" /><Relationship Type="http://schemas.openxmlformats.org/officeDocument/2006/relationships/notesSlide" Target="/ppt/notesSlides/notesSlide26.xml" Id="R0b9c4e36128647a1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43af261ac64532" /><Relationship Type="http://schemas.openxmlformats.org/officeDocument/2006/relationships/image" Target="/ppt/media/image14.png" Id="R8747c03f374e4b4f" /><Relationship Type="http://schemas.openxmlformats.org/officeDocument/2006/relationships/notesSlide" Target="/ppt/notesSlides/notesSlide27.xml" Id="R481953eaa87248e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7fd1da33304736" /><Relationship Type="http://schemas.openxmlformats.org/officeDocument/2006/relationships/image" Target="/ppt/media/image15.png" Id="R2db6e0cdd17b4d21" /><Relationship Type="http://schemas.openxmlformats.org/officeDocument/2006/relationships/notesSlide" Target="/ppt/notesSlides/notesSlide28.xml" Id="R856c77b54044460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528fca3e18427d" /><Relationship Type="http://schemas.openxmlformats.org/officeDocument/2006/relationships/image" Target="/ppt/media/image16.png" Id="Rf8a3e9c7f96b4e19" /><Relationship Type="http://schemas.openxmlformats.org/officeDocument/2006/relationships/notesSlide" Target="/ppt/notesSlides/notesSlide29.xml" Id="Rde3bec093dda48a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327f6b66ea40cc" /><Relationship Type="http://schemas.openxmlformats.org/officeDocument/2006/relationships/image" Target="/ppt/media/image17.png" Id="Rb2382f232f6f42f7" /><Relationship Type="http://schemas.openxmlformats.org/officeDocument/2006/relationships/notesSlide" Target="/ppt/notesSlides/notesSlide30.xml" Id="Ra633db4a2d1347d6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cf905c3d254c71" /><Relationship Type="http://schemas.openxmlformats.org/officeDocument/2006/relationships/notesSlide" Target="/ppt/notesSlides/notesSlide31.xml" Id="R183cb79db27b4ff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f8582790b34997" /><Relationship Type="http://schemas.openxmlformats.org/officeDocument/2006/relationships/notesSlide" Target="/ppt/notesSlides/notesSlide32.xml" Id="Re960f4769ff849a3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b2c683feb8497c" /><Relationship Type="http://schemas.openxmlformats.org/officeDocument/2006/relationships/notesSlide" Target="/ppt/notesSlides/notesSlide33.xml" Id="R5be3235631cb42c8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91cc952ebc4bdb" /><Relationship Type="http://schemas.openxmlformats.org/officeDocument/2006/relationships/notesSlide" Target="/ppt/notesSlides/notesSlide34.xml" Id="Rfc4948b04dee435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7B7999-E976-447F-A5B2-673CCE4C6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76325"/>
            <a:ext cx="10477500" cy="140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4350" b="1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4350" b="1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4350" b="1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4350" b="1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4350" b="1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4350" b="1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4350" b="1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4350" b="1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4350" b="1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4350" b="1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350" b="1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Water storage change across Thailand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DDF89D-B25D-46CB-8690-F535EEF8C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95575"/>
            <a:ext cx="104775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325" b="0">
                <a:solidFill>
                  <a:srgbClr val="368C83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368C83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368C83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368C83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368C83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368C83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368C83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368C83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368C83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368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368C83"/>
                </a:solidFill>
                <a:latin typeface="Arial"/>
                <a:ea typeface="Arial"/>
                <a:cs typeface="Arial"/>
              </a:defRPr>
            </a:pPr>
            <a:r>
              <a:t>Climate memory, ENSO and the credibility of human attribution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091B29-CEF3-4B5A-B76F-F7B99BBDB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038600"/>
            <a:ext cx="10477500" cy="4857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550" b="1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Farzeen Khan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D354C2-A380-43EE-8A07-F37CF6990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657725"/>
            <a:ext cx="10477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MS in Water Engineering and Management</a:t>
            </a:r>
            <a:br/>
            <a:r>
              <a:t>Asian Institute of Technology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E1BA30-0F7B-46F4-A395-1A146682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695950"/>
            <a:ext cx="10477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Advisor: Dr. Natthachet Tangdamrongsub</a:t>
            </a:r>
          </a:p>
        </p:txBody>
      </p:sp>
    </p:spTree>
    <p:extLst>
      <p:ext uri="{BB962C8B-B14F-4D97-AF65-F5344CB8AC3E}">
        <p14:creationId xmlns:p14="http://schemas.microsoft.com/office/powerpoint/2010/main" val="17484578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06A910-240F-485B-A526-B5B2FD4E7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23AFE5-9643-492B-BB1A-468A2AE4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Research focus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07C052-286B-4A49-BDAD-8D16E3C30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937846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696079-6A0A-4E18-B7B3-2AD8088CE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38300"/>
            <a:ext cx="10953750" cy="1038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How are total and groundwater storage changing across Thailand’s 22 principal basins?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6310FF-0DDE-48D6-8360-84978852A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809875"/>
            <a:ext cx="10953750" cy="1038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How much of the observed change can the climate baseline explain?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2C2810-5146-443A-8638-EB184BE88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981450"/>
            <a:ext cx="10953750" cy="1038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How strongly do independent observations support the remaining residual?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A7A227-7000-46DD-8B6B-274CC5C0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Introduction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6CC690-8705-44CB-BC07-ED1C40A5A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2 / 26</a:t>
            </a:r>
          </a:p>
        </p:txBody>
      </p:sp>
    </p:spTree>
    <p:extLst>
      <p:ext uri="{BB962C8B-B14F-4D97-AF65-F5344CB8AC3E}">
        <p14:creationId xmlns:p14="http://schemas.microsoft.com/office/powerpoint/2010/main" val="15506874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AD074A-0960-446F-A314-014ABCD1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4F781E-1763-432C-9049-5D664013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Research objectives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74601A-2E11-4458-9B77-E4895A9A2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1406769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393CD9-D7DE-47CB-8D02-CF3910ED85A8}"/>
              </a:ext>
            </a:extLst>
          </p:cNvPr>
          <p:cNvGraphicFramePr/>
          <p:nvPr/>
        </p:nvGraphicFramePr>
        <p:xfrm>
          <a:off xmlns:a="http://schemas.openxmlformats.org/drawingml/2006/main" x="514350" y="1571625"/>
          <a:ext xmlns:a="http://schemas.openxmlformats.org/drawingml/2006/main" cx="11163300" cy="2362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90875"/>
                <a:gridCol w="7972425"/>
              </a:tblGrid>
              <a:tr h="5905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Objective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Output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  Storage change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Monthly TWSA/GWSA, Sen slopes and Mann–Kendall tests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2  Climate and residual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Climate reconstruction, GLDAS benchmark and observation checks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3  Decision support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Interactive basin app, input data and reproducible code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47FFC9-3463-45AD-B857-D0D5E9E5C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Introduction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0CD881-1944-407B-A002-9445D5836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3 / 26</a:t>
            </a:r>
          </a:p>
        </p:txBody>
      </p:sp>
    </p:spTree>
    <p:extLst>
      <p:ext uri="{BB962C8B-B14F-4D97-AF65-F5344CB8AC3E}">
        <p14:creationId xmlns:p14="http://schemas.microsoft.com/office/powerpoint/2010/main" val="10354334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41943A-6103-41EB-9F0A-627C0511E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A70BBF-1DE7-4583-94E7-74692D6D1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Thailand’s 22 principal basins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D5C950-0BD6-4621-830F-3603FA06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1875692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0AB0E5-50FA-466C-AC92-7A7E387A14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f32ddfbf4f4974"/>
          <a:stretch xmlns:a="http://schemas.openxmlformats.org/drawingml/2006/main"/>
        </p:blipFill>
        <p:spPr>
          <a:xfrm xmlns:a="http://schemas.openxmlformats.org/drawingml/2006/main">
            <a:off x="1556848" y="1323975"/>
            <a:ext cx="2944205" cy="44577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C29D9D-32A3-4D2A-835C-7BFA8F9B3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1952625"/>
            <a:ext cx="533400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Official ONWR reporting framework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633F30-91B3-482E-AA0D-B1AB57ED0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124200"/>
            <a:ext cx="533400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GRACE information extends across basin boundaries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DE263F-F8CA-4744-87E8-98D7A0DA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4295775"/>
            <a:ext cx="533400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All basin tables retain coverage and uncertainty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2AA5FC-0458-45FA-BCAD-3F9B51A3A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ONWR principal-basin geometry. Reporting units do not imply independent GRACE observations.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2CEBE4-D8E6-445A-B6DE-4AF1F254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Study design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F58B0C-D2BB-4F95-8FC2-2FE33DC4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4 / 26</a:t>
            </a:r>
          </a:p>
        </p:txBody>
      </p:sp>
    </p:spTree>
    <p:extLst>
      <p:ext uri="{BB962C8B-B14F-4D97-AF65-F5344CB8AC3E}">
        <p14:creationId xmlns:p14="http://schemas.microsoft.com/office/powerpoint/2010/main" val="17946388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9A399E-552C-493D-AE77-E0C04A676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3ED73B-3E80-4BBC-B6E2-2818E27C8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Analysis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0FA853-932C-4412-8AF0-8370CA6C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234461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B4E40A-FDB4-4298-ABD1-5CD57FE5F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38300"/>
            <a:ext cx="109537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Harmonize monthly units, dates, area weights and the 2004–2009 reference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20C69D-57F6-41F5-B11A-454DE7558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33650"/>
            <a:ext cx="109537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Calculate GWSA and estimate storage trends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3F254D-CF0A-4C4B-BF00-D4054142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29000"/>
            <a:ext cx="109537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Reconstruct naturalized storage using weather and climate memory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F40A8B-F132-480D-9484-E13672F4F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324350"/>
            <a:ext cx="109537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Calculate the residual, examine uncertainty and compare independent observations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A05F4B-508D-42E6-9CB9-4DBAA796A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Methodology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550320-F258-4EC5-950A-27D50385F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5 / 26</a:t>
            </a:r>
          </a:p>
        </p:txBody>
      </p:sp>
    </p:spTree>
    <p:extLst>
      <p:ext uri="{BB962C8B-B14F-4D97-AF65-F5344CB8AC3E}">
        <p14:creationId xmlns:p14="http://schemas.microsoft.com/office/powerpoint/2010/main" val="13484051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91F60F-F9C4-400B-8B47-E6125F263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D6147D-69BF-4246-AD1C-3BF3952E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Groundwater storage balance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FC50A6-0435-4CF2-B77E-EE6CF2E86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2813538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4D6C47-006E-4B35-92D0-841D133C8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111633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775" b="1">
                <a:solidFill>
                  <a:srgbClr val="368C83"/>
                </a:solidFill>
                <a:latin typeface="Arial"/>
                <a:ea typeface="Arial"/>
                <a:cs typeface="Arial"/>
              </a:defRPr>
            </a:defPPr>
            <a:lvl1pPr>
              <a:defRPr sz="2775" b="1">
                <a:solidFill>
                  <a:srgbClr val="368C83"/>
                </a:solidFill>
                <a:latin typeface="Arial"/>
                <a:ea typeface="Arial"/>
                <a:cs typeface="Arial"/>
              </a:defRPr>
            </a:lvl1pPr>
            <a:lvl2pPr>
              <a:defRPr sz="2775" b="1">
                <a:solidFill>
                  <a:srgbClr val="368C83"/>
                </a:solidFill>
                <a:latin typeface="Arial"/>
                <a:ea typeface="Arial"/>
                <a:cs typeface="Arial"/>
              </a:defRPr>
            </a:lvl2pPr>
            <a:lvl3pPr>
              <a:defRPr sz="2775" b="1">
                <a:solidFill>
                  <a:srgbClr val="368C83"/>
                </a:solidFill>
                <a:latin typeface="Arial"/>
                <a:ea typeface="Arial"/>
                <a:cs typeface="Arial"/>
              </a:defRPr>
            </a:lvl3pPr>
            <a:lvl4pPr>
              <a:defRPr sz="2775" b="1">
                <a:solidFill>
                  <a:srgbClr val="368C83"/>
                </a:solidFill>
                <a:latin typeface="Arial"/>
                <a:ea typeface="Arial"/>
                <a:cs typeface="Arial"/>
              </a:defRPr>
            </a:lvl4pPr>
            <a:lvl5pPr>
              <a:defRPr sz="2775" b="1">
                <a:solidFill>
                  <a:srgbClr val="368C83"/>
                </a:solidFill>
                <a:latin typeface="Arial"/>
                <a:ea typeface="Arial"/>
                <a:cs typeface="Arial"/>
              </a:defRPr>
            </a:lvl5pPr>
            <a:lvl6pPr>
              <a:defRPr sz="2775" b="1">
                <a:solidFill>
                  <a:srgbClr val="368C83"/>
                </a:solidFill>
                <a:latin typeface="Arial"/>
                <a:ea typeface="Arial"/>
                <a:cs typeface="Arial"/>
              </a:defRPr>
            </a:lvl6pPr>
            <a:lvl7pPr>
              <a:defRPr sz="2775" b="1">
                <a:solidFill>
                  <a:srgbClr val="368C83"/>
                </a:solidFill>
                <a:latin typeface="Arial"/>
                <a:ea typeface="Arial"/>
                <a:cs typeface="Arial"/>
              </a:defRPr>
            </a:lvl7pPr>
            <a:lvl8pPr>
              <a:defRPr sz="2775" b="1">
                <a:solidFill>
                  <a:srgbClr val="368C83"/>
                </a:solidFill>
                <a:latin typeface="Arial"/>
                <a:ea typeface="Arial"/>
                <a:cs typeface="Arial"/>
              </a:defRPr>
            </a:lvl8pPr>
            <a:lvl9pPr>
              <a:defRPr sz="2775" b="1">
                <a:solidFill>
                  <a:srgbClr val="368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775" b="1">
                <a:solidFill>
                  <a:srgbClr val="368C83"/>
                </a:solidFill>
                <a:latin typeface="Arial"/>
                <a:ea typeface="Arial"/>
                <a:cs typeface="Arial"/>
              </a:defRPr>
            </a:pPr>
            <a:r>
              <a:t>GWSA = TWSA − SMSA − SWSA − CWSA − SWEA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FC68A4-19FE-417E-BFD2-8CB67D54F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10953750" cy="1038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Subtract soil, surface, canopy and snow storage anomalies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074DA3-3888-4EB1-8A85-535632774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743325"/>
            <a:ext cx="10953750" cy="1038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Use common valid cells and a common reference period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CBF1D4-9977-495F-BD1B-AEA72304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914900"/>
            <a:ext cx="10953750" cy="1038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Groundwater uncertainty includes every subtracted compartment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45613E-C67F-4702-8555-D569C37C1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Storage anomalies use mm of equivalent water depth. Snow is small in Thailand but retained consistently.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F1403C-F4EF-4EAE-AED6-85A04F060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Methodology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F83D7-8069-4031-BEDD-80DDAF76B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6 / 26</a:t>
            </a:r>
          </a:p>
        </p:txBody>
      </p:sp>
    </p:spTree>
    <p:extLst>
      <p:ext uri="{BB962C8B-B14F-4D97-AF65-F5344CB8AC3E}">
        <p14:creationId xmlns:p14="http://schemas.microsoft.com/office/powerpoint/2010/main" val="17945697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AB7120-1398-4302-9BFA-48CD22341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8020A4-417F-4308-BDAD-107060B6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Residual accounting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D73658-D825-45DC-93F2-90C824914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3282462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DBF372-6C34-4A0F-8196-406D9E105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111633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775" b="1">
                <a:solidFill>
                  <a:srgbClr val="368C83"/>
                </a:solidFill>
                <a:latin typeface="Arial"/>
                <a:ea typeface="Arial"/>
                <a:cs typeface="Arial"/>
              </a:defRPr>
            </a:defPPr>
            <a:lvl1pPr>
              <a:defRPr sz="2775" b="1">
                <a:solidFill>
                  <a:srgbClr val="368C83"/>
                </a:solidFill>
                <a:latin typeface="Arial"/>
                <a:ea typeface="Arial"/>
                <a:cs typeface="Arial"/>
              </a:defRPr>
            </a:lvl1pPr>
            <a:lvl2pPr>
              <a:defRPr sz="2775" b="1">
                <a:solidFill>
                  <a:srgbClr val="368C83"/>
                </a:solidFill>
                <a:latin typeface="Arial"/>
                <a:ea typeface="Arial"/>
                <a:cs typeface="Arial"/>
              </a:defRPr>
            </a:lvl2pPr>
            <a:lvl3pPr>
              <a:defRPr sz="2775" b="1">
                <a:solidFill>
                  <a:srgbClr val="368C83"/>
                </a:solidFill>
                <a:latin typeface="Arial"/>
                <a:ea typeface="Arial"/>
                <a:cs typeface="Arial"/>
              </a:defRPr>
            </a:lvl3pPr>
            <a:lvl4pPr>
              <a:defRPr sz="2775" b="1">
                <a:solidFill>
                  <a:srgbClr val="368C83"/>
                </a:solidFill>
                <a:latin typeface="Arial"/>
                <a:ea typeface="Arial"/>
                <a:cs typeface="Arial"/>
              </a:defRPr>
            </a:lvl4pPr>
            <a:lvl5pPr>
              <a:defRPr sz="2775" b="1">
                <a:solidFill>
                  <a:srgbClr val="368C83"/>
                </a:solidFill>
                <a:latin typeface="Arial"/>
                <a:ea typeface="Arial"/>
                <a:cs typeface="Arial"/>
              </a:defRPr>
            </a:lvl5pPr>
            <a:lvl6pPr>
              <a:defRPr sz="2775" b="1">
                <a:solidFill>
                  <a:srgbClr val="368C83"/>
                </a:solidFill>
                <a:latin typeface="Arial"/>
                <a:ea typeface="Arial"/>
                <a:cs typeface="Arial"/>
              </a:defRPr>
            </a:lvl6pPr>
            <a:lvl7pPr>
              <a:defRPr sz="2775" b="1">
                <a:solidFill>
                  <a:srgbClr val="368C83"/>
                </a:solidFill>
                <a:latin typeface="Arial"/>
                <a:ea typeface="Arial"/>
                <a:cs typeface="Arial"/>
              </a:defRPr>
            </a:lvl7pPr>
            <a:lvl8pPr>
              <a:defRPr sz="2775" b="1">
                <a:solidFill>
                  <a:srgbClr val="368C83"/>
                </a:solidFill>
                <a:latin typeface="Arial"/>
                <a:ea typeface="Arial"/>
                <a:cs typeface="Arial"/>
              </a:defRPr>
            </a:lvl8pPr>
            <a:lvl9pPr>
              <a:defRPr sz="2775" b="1">
                <a:solidFill>
                  <a:srgbClr val="368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775" b="1">
                <a:solidFill>
                  <a:srgbClr val="368C83"/>
                </a:solidFill>
                <a:latin typeface="Arial"/>
                <a:ea typeface="Arial"/>
                <a:cs typeface="Arial"/>
              </a:defRPr>
            </a:pPr>
            <a:r>
              <a:t>R = O − C = (A − C) + (O − A) = H + 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6BE447-2703-4D2C-9A3B-CFFBE7A51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10953750" cy="1038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H describes the human effect represented by the paired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8B99E1-DC93-44E0-9D46-43363985A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743325"/>
            <a:ext cx="10953750" cy="1038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E retains the observation–historical-model discrepancy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2301A5-5E69-4FA4-BCBD-BC014E22D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914900"/>
            <a:ext cx="10953750" cy="1038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The primary residual uses the published naturalized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FD4B69-4C5B-4824-98B9-1207D01E2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The statistical emulator reconstructs C from weather. Its prediction does not replace C in the primary residual.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75DA91-4D09-463A-A9C0-46A03977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Methodology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F4B03E-D9E9-4720-9D71-48F04CBEE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7 / 26</a:t>
            </a:r>
          </a:p>
        </p:txBody>
      </p:sp>
    </p:spTree>
    <p:extLst>
      <p:ext uri="{BB962C8B-B14F-4D97-AF65-F5344CB8AC3E}">
        <p14:creationId xmlns:p14="http://schemas.microsoft.com/office/powerpoint/2010/main" val="20061514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2EE811-69D8-4DC5-8788-EED6FEF5C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159039-A280-4F00-AE6B-9634819F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Chronological model evaluation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D19960-FDD0-4A85-BCA4-4DB49F111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375138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9FE5D1-04FA-4B6C-9A2C-FA24820AFF20}"/>
              </a:ext>
            </a:extLst>
          </p:cNvPr>
          <p:cNvGraphicFramePr/>
          <p:nvPr/>
        </p:nvGraphicFramePr>
        <p:xfrm>
          <a:off xmlns:a="http://schemas.openxmlformats.org/drawingml/2006/main" x="514350" y="1571625"/>
          <a:ext xmlns:a="http://schemas.openxmlformats.org/drawingml/2006/main" cx="111633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05250"/>
                <a:gridCol w="3143250"/>
                <a:gridCol w="4114800"/>
              </a:tblGrid>
              <a:tr h="5905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Period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Years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Use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Warm-up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1981–1990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Initialize climate memory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Training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1991–2009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Fit transformations and tune models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Validation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2010–2015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Freeze model selection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Test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2016–2023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Evaluate unseen years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8BB4EC-2630-4A07-B282-7B629DA72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Ridge, Elastic Net, splines and Random Forest. Predictors exclude GRACE and groundwater observations.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968E26-C8B9-4290-BBDB-7C302D8E2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Methodology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7521F5-51D8-4C88-AC55-BB84A5A2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8 / 26</a:t>
            </a:r>
          </a:p>
        </p:txBody>
      </p:sp>
    </p:spTree>
    <p:extLst>
      <p:ext uri="{BB962C8B-B14F-4D97-AF65-F5344CB8AC3E}">
        <p14:creationId xmlns:p14="http://schemas.microsoft.com/office/powerpoint/2010/main" val="178267543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45B559-33BE-4720-9B03-D80A966AA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1FC09F-0EE4-4BAD-A2A4-4FF9F220B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Precipitation and potential 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F00AEE-93D1-449B-8702-4C1BDA816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4220308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4E4016-88FA-493A-9AC2-2D5F4EB6FF3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286fa639744d5d"/>
          <a:stretch xmlns:a="http://schemas.openxmlformats.org/drawingml/2006/main"/>
        </p:blipFill>
        <p:spPr>
          <a:xfrm xmlns:a="http://schemas.openxmlformats.org/drawingml/2006/main">
            <a:off x="1386433" y="1285875"/>
            <a:ext cx="9419134" cy="43338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17B9B4-18F8-409C-B81D-D0113AA0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National monthly values, 2003–2023. Native P/PET drive reconstruction. CHIRPS supplies the rainfall replacement test.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589745-D9A5-4130-965A-3DA6DDF8A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Climate forcing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0837A1-F0A7-49EC-A4C8-DD636BB74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9 / 26</a:t>
            </a:r>
          </a:p>
        </p:txBody>
      </p:sp>
    </p:spTree>
    <p:extLst>
      <p:ext uri="{BB962C8B-B14F-4D97-AF65-F5344CB8AC3E}">
        <p14:creationId xmlns:p14="http://schemas.microsoft.com/office/powerpoint/2010/main" val="143363368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492974-70AA-4422-B879-59BE247F4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F610F5-7394-4C4B-9AD8-3469D1356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Observed storage through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35280A-0DD3-4E7A-8291-C7766B239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4689231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401BFB-E851-4DEE-8716-9895F780702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5665584ec54d98"/>
          <a:stretch xmlns:a="http://schemas.openxmlformats.org/drawingml/2006/main"/>
        </p:blipFill>
        <p:spPr>
          <a:xfrm xmlns:a="http://schemas.openxmlformats.org/drawingml/2006/main">
            <a:off x="1920730" y="1285875"/>
            <a:ext cx="8350540" cy="43338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26F7C3-A2ED-431D-8F8E-5AE2CB9DB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National CSR TWSA and compartment-derived GWSA. Missing months remain gaps. Groundwater ends earlier because of compartment availability.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A32D7E-0AB4-4632-A6CA-AE0000F1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Objective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E1B0A4-C526-4BBF-9626-E35616D56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10 / 26</a:t>
            </a:r>
          </a:p>
        </p:txBody>
      </p:sp>
    </p:spTree>
    <p:extLst>
      <p:ext uri="{BB962C8B-B14F-4D97-AF65-F5344CB8AC3E}">
        <p14:creationId xmlns:p14="http://schemas.microsoft.com/office/powerpoint/2010/main" val="196644520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D8B327-F190-4E6C-B0CA-326DE6D86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B5E9B0-22B0-457F-A346-EE4EF8223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Storage trend patterns across basins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64B2E2-43DA-46FE-99FD-9F2E6E2EF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5158154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511754-0657-4F3A-8D57-9B15B682030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11ef3a40464364"/>
          <a:stretch xmlns:a="http://schemas.openxmlformats.org/drawingml/2006/main"/>
        </p:blipFill>
        <p:spPr>
          <a:xfrm xmlns:a="http://schemas.openxmlformats.org/drawingml/2006/main">
            <a:off x="2526231" y="1285875"/>
            <a:ext cx="7139539" cy="43338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F4959-62A9-406C-9C94-C8BEB1958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Seasonal Sen slopes. Negative values indicate decline. All basins retain the CSR small-area caution.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7FFFA1-1DCF-4340-A4E0-DEB536B10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Objective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8F52A8-974F-4D03-8764-99051FD53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11 / 26</a:t>
            </a:r>
          </a:p>
        </p:txBody>
      </p:sp>
    </p:spTree>
    <p:extLst>
      <p:ext uri="{BB962C8B-B14F-4D97-AF65-F5344CB8AC3E}">
        <p14:creationId xmlns:p14="http://schemas.microsoft.com/office/powerpoint/2010/main" val="33872676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1E8E6D-FA4B-426D-A1F7-942EC459D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1EDE2B-AF17-4865-B78E-99A084442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Basin ranking depends on the processing chain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DD4133-1289-417F-ADD9-C91D44943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5627077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FA6277-AFD9-46CA-95D7-A729942F84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7a31cbef794616"/>
          <a:stretch xmlns:a="http://schemas.openxmlformats.org/drawingml/2006/main"/>
        </p:blipFill>
        <p:spPr>
          <a:xfrm xmlns:a="http://schemas.openxmlformats.org/drawingml/2006/main">
            <a:off x="1480803" y="1285875"/>
            <a:ext cx="9230393" cy="43338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CE8F0F-DCF5-4A4A-85F0-0AEDA667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Common-date rank correlations: TWSA 0.138 and GWSA 0.027. Groundwater chains also differ in compartment processing.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36ABD4-9AFD-4BC9-ADFD-CFA708CA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Objective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B372A6-E897-45DA-9A34-17511F9A7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12 / 26</a:t>
            </a:r>
          </a:p>
        </p:txBody>
      </p:sp>
    </p:spTree>
    <p:extLst>
      <p:ext uri="{BB962C8B-B14F-4D97-AF65-F5344CB8AC3E}">
        <p14:creationId xmlns:p14="http://schemas.microsoft.com/office/powerpoint/2010/main" val="160178726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A6D3EA-3071-4260-B517-945A960DD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6159EC-B680-47E8-8BB9-63C3E900B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Climate reconstruction performance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067E9E-175E-4023-83E2-B0DF59348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6096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5C99D8-552E-462A-B7FA-E5A41FC98D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59e4bc064a4e07"/>
          <a:stretch xmlns:a="http://schemas.openxmlformats.org/drawingml/2006/main"/>
        </p:blipFill>
        <p:spPr>
          <a:xfrm xmlns:a="http://schemas.openxmlformats.org/drawingml/2006/main">
            <a:off x="2566447" y="1285875"/>
            <a:ext cx="7059106" cy="43338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3BE9B8-1547-408E-8449-9DC01C64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Ensemble test anomaly NSE against naturalized WaterGAP, 2016–2023. High scores verify reconstruction of the parent model.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E14E7F-CF9D-4E12-86D4-614505B1A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Objective 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0294FB-90E0-4BD9-8A14-55DCA223B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13 / 26</a:t>
            </a:r>
          </a:p>
        </p:txBody>
      </p:sp>
    </p:spTree>
    <p:extLst>
      <p:ext uri="{BB962C8B-B14F-4D97-AF65-F5344CB8AC3E}">
        <p14:creationId xmlns:p14="http://schemas.microsoft.com/office/powerpoint/2010/main" val="6129524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1A3069-A824-406E-B093-B6469C04C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3B0AAD-DCAF-41BE-B732-F3A2363C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Climate memory improves reconstruction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D8BDC4-7F29-447F-B068-D77860ED1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6564923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3F53A1-985F-455E-9735-AA4EC7ABD5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d881bef3064d14"/>
          <a:stretch xmlns:a="http://schemas.openxmlformats.org/drawingml/2006/main"/>
        </p:blipFill>
        <p:spPr>
          <a:xfrm xmlns:a="http://schemas.openxmlformats.org/drawingml/2006/main">
            <a:off x="1152793" y="1285875"/>
            <a:ext cx="9886414" cy="43338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F20E54-9D9B-4628-93B7-3E8E9D36B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Controlled Ridge experiment. National test anomaly NSE: current weather / memory = 0.283 / 0.890 for TWSA and 0.039 / 0.723 for GWSA.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7B432F-1E24-42CD-98C0-FBBFB96B2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Objective 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1D1758-4A71-4106-AB44-2F170EAE2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14 / 26</a:t>
            </a:r>
          </a:p>
        </p:txBody>
      </p:sp>
    </p:spTree>
    <p:extLst>
      <p:ext uri="{BB962C8B-B14F-4D97-AF65-F5344CB8AC3E}">
        <p14:creationId xmlns:p14="http://schemas.microsoft.com/office/powerpoint/2010/main" val="198894113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F0F305-1B65-4A24-90AB-24C5AC13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735D21-B410-4F08-A003-B9C58538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Performance varies between test years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6F2F01-3E75-40B3-8CD6-E9631C225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7033846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24CB9F-2B07-479A-BF9F-CC50639BD9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37da642f8a4505"/>
          <a:stretch xmlns:a="http://schemas.openxmlformats.org/drawingml/2006/main"/>
        </p:blipFill>
        <p:spPr>
          <a:xfrm xmlns:a="http://schemas.openxmlformats.org/drawingml/2006/main">
            <a:off x="571096" y="1285875"/>
            <a:ext cx="11049807" cy="43338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1A8E82-46F0-4D68-9E18-97BFF5CA6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2022 national anomaly NSE: TWSA 0.234; GWSA −1.067. Negative NSE indicates performance below the mean benchmark.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FB8C8F-A4B6-4403-84B2-1F6C42ECD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Objective 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28E3AB-DF5F-4AA2-BBF6-710B7574D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15 / 26</a:t>
            </a:r>
          </a:p>
        </p:txBody>
      </p:sp>
    </p:spTree>
    <p:extLst>
      <p:ext uri="{BB962C8B-B14F-4D97-AF65-F5344CB8AC3E}">
        <p14:creationId xmlns:p14="http://schemas.microsoft.com/office/powerpoint/2010/main" val="146901331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73F055-6F18-4CDC-9DBB-AA66DC683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706B76-70CD-4F78-AB29-C0658E60F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GLDAS comparison on matching compartments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889FC8-1A5B-46BD-A88F-FC8EB07B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7502769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98D785-EA3C-40EA-9949-BE0AEF376A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22df48f1134410"/>
          <a:stretch xmlns:a="http://schemas.openxmlformats.org/drawingml/2006/main"/>
        </p:blipFill>
        <p:spPr>
          <a:xfrm xmlns:a="http://schemas.openxmlformats.org/drawingml/2006/main">
            <a:off x="514350" y="1311325"/>
            <a:ext cx="11163300" cy="42829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56BE41-F1F2-490C-A90E-C8E7F8ED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Soil + canopy + snow only. National r = 0.969, NSE = 0.738, RMSE = 52.49 mm across 261 months. Groundwater and surface water are excluded.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FF9D9D-1D9C-4508-A8E7-C20133F1A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Evaluation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D787B1-822E-4839-98F1-32B79DC98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16 / 26</a:t>
            </a:r>
          </a:p>
        </p:txBody>
      </p:sp>
    </p:spTree>
    <p:extLst>
      <p:ext uri="{BB962C8B-B14F-4D97-AF65-F5344CB8AC3E}">
        <p14:creationId xmlns:p14="http://schemas.microsoft.com/office/powerpoint/2010/main" val="162500160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4FD354-AA39-41D5-80E3-763AF13B4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E81D0A-0F4C-4B96-83E2-100F18CDC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Residual and modeled human effects differ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BB2A24-92CB-4A3B-B11A-F25A31EE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7971692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A2050A-E7D7-4724-8E89-91174D4A18E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aa9ddb129047a7"/>
          <a:stretch xmlns:a="http://schemas.openxmlformats.org/drawingml/2006/main"/>
        </p:blipFill>
        <p:spPr>
          <a:xfrm xmlns:a="http://schemas.openxmlformats.org/drawingml/2006/main">
            <a:off x="1920730" y="1285875"/>
            <a:ext cx="8350540" cy="43338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0C5B82-5A20-4631-A0C8-9D76089D8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R = H + E on common observed months. The remaining discrepancy includes unresolved model and observation errors.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5CE833-952D-4B46-89FD-34E136D0D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Objective 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1E4EF2-A875-4FC6-A751-206712B72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17 / 26</a:t>
            </a:r>
          </a:p>
        </p:txBody>
      </p:sp>
    </p:spTree>
    <p:extLst>
      <p:ext uri="{BB962C8B-B14F-4D97-AF65-F5344CB8AC3E}">
        <p14:creationId xmlns:p14="http://schemas.microsoft.com/office/powerpoint/2010/main" val="200089868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8EF3AE-7A14-4B2F-AEE9-45A18A11F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6DB1C5-C7BC-49A4-8983-3EDF758E2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Additive national trend partition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4DE9CA-A32F-4069-8A5A-A09349DD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844061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B084A9-98BE-4EB7-A314-D4AA7BAC3786}"/>
              </a:ext>
            </a:extLst>
          </p:cNvPr>
          <p:cNvGraphicFramePr/>
          <p:nvPr/>
        </p:nvGraphicFramePr>
        <p:xfrm>
          <a:off xmlns:a="http://schemas.openxmlformats.org/drawingml/2006/main" x="514350" y="1571625"/>
          <a:ext xmlns:a="http://schemas.openxmlformats.org/drawingml/2006/main" cx="11163300" cy="3543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05250"/>
                <a:gridCol w="3143250"/>
                <a:gridCol w="4114800"/>
              </a:tblGrid>
              <a:tr h="5905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Component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TWSA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GWSA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Observed O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-8.36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-7.28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Naturalized C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-0.54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-0.21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Modeled human H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-0.49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0.06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Residual R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-7.81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-7.07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Discrepancy E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-7.32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-7.13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EA5EE3-F045-4BB6-B976-932EC67B1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OLS slopes, mm/year, using the same months. R = H + E. Seasonal Sen slopes are reported separately because their medians are not additive.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F8CB49-D565-4751-9174-64BD3B2C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Objective 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1358E1-CF6A-4540-A5C4-450CFFCAF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18 / 26</a:t>
            </a:r>
          </a:p>
        </p:txBody>
      </p:sp>
    </p:spTree>
    <p:extLst>
      <p:ext uri="{BB962C8B-B14F-4D97-AF65-F5344CB8AC3E}">
        <p14:creationId xmlns:p14="http://schemas.microsoft.com/office/powerpoint/2010/main" val="179461503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6944C8-7F14-4F27-BE61-1F6433486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0678AD-EEDC-4222-8658-3BDF0B18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ENSO is clearer in the climate baseline than in the residual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FD7D5D-FA15-4D7C-BFE2-A21C4262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8909538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9850A9-C6D1-4E13-A0DE-0E343DC874E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8ddcef72b54ade"/>
          <a:stretch xmlns:a="http://schemas.openxmlformats.org/drawingml/2006/main"/>
        </p:blipFill>
        <p:spPr>
          <a:xfrm xmlns:a="http://schemas.openxmlformats.org/drawingml/2006/main">
            <a:off x="514350" y="1395612"/>
            <a:ext cx="11163300" cy="4114401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953767-7FFC-4318-8799-197C7278A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National 2003–2023 diagnostics. At six months, TWSA baseline r = −0.536 and residual r = −0.142; GWSA values are −0.528 and −0.136. These differences are descriptive, not a causal validation.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75788E-8F3C-4897-B1B8-7BEF73E8C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ENSO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27E084-A8AD-4ADB-A4A1-E3F0CBD43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19 / 26</a:t>
            </a:r>
          </a:p>
        </p:txBody>
      </p:sp>
    </p:spTree>
    <p:extLst>
      <p:ext uri="{BB962C8B-B14F-4D97-AF65-F5344CB8AC3E}">
        <p14:creationId xmlns:p14="http://schemas.microsoft.com/office/powerpoint/2010/main" val="11027743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12DB38-024A-466C-8036-3D890AD50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87F9C4-1692-4911-9ACC-92F014425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ENSO evidence remains limited after multiple comparisons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F3905B-6710-4AA3-A3B9-08AF0766E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9378462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163D38-6F84-4A2C-AF6C-CEAFC280E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38300"/>
            <a:ext cx="109537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All five selected leads and both ONI and historical RONI v5 are retained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FA3EF3-CBB4-4AB2-8654-543877E7F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33650"/>
            <a:ext cx="109537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No basin association passes the complete FDR screen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7687AA-1529-4276-99A1-BED02C5CE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29000"/>
            <a:ext cx="109537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Only 21 years: minimum whole-year rotation p = 1/21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45BD6D-B7CB-47CC-BB56-B8ABDB63B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324350"/>
            <a:ext cx="109537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Weak residual correlation does not prove complete climate removal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56DC66-48B5-4E0B-9325-F97F10FF8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Circular whole-year rotations preserve index patterns but assume shift comparability. Contemporary DMI, calendar season and trend are controlled. Current operational RONI uses v6; the study freezes historical v5.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8B5F87-8C36-422F-AECA-0853DB147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ENSO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194C63-0168-4D0C-95CB-88BA99E22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20 / 26</a:t>
            </a:r>
          </a:p>
        </p:txBody>
      </p:sp>
    </p:spTree>
    <p:extLst>
      <p:ext uri="{BB962C8B-B14F-4D97-AF65-F5344CB8AC3E}">
        <p14:creationId xmlns:p14="http://schemas.microsoft.com/office/powerpoint/2010/main" val="10837678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3BAAED-3C1F-43A3-A569-6B111AE64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C9C470-FE61-4E6C-A965-3459597C4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Reconstruction skill varies with ENSO phase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DF1D63-A1D9-4A42-A36A-C6BC87A49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984738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3ED500-BC2F-4E71-8F43-D0CD63081C4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0ff2c45c184001"/>
          <a:stretch xmlns:a="http://schemas.openxmlformats.org/drawingml/2006/main"/>
        </p:blipFill>
        <p:spPr>
          <a:xfrm xmlns:a="http://schemas.openxmlformats.org/drawingml/2006/main">
            <a:off x="514350" y="1488051"/>
            <a:ext cx="11163300" cy="3929522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1BFCF1-FECF-4966-9B73-66AEC7151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Frozen 2016–2023 ensemble, naturalized parent target. There are 29 El Niño, 31 La Niña and 36 neutral months. The months share events; these are conditional reconstruction scores, not independent event forecasts.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F6E23A-B8F0-4EC5-9523-69752A739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ENSO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C97B44-E11F-4DFF-8953-1244B2FEE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21 / 26</a:t>
            </a:r>
          </a:p>
        </p:txBody>
      </p:sp>
    </p:spTree>
    <p:extLst>
      <p:ext uri="{BB962C8B-B14F-4D97-AF65-F5344CB8AC3E}">
        <p14:creationId xmlns:p14="http://schemas.microsoft.com/office/powerpoint/2010/main" val="94596798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AB59ED-A9AE-46FC-9744-73203B14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47DFB5-5444-44BD-BCC4-E3C47840C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Well selection changes residual agreement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4D3C3C-FFC5-46B9-88C6-88F716280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10316308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720505-48F6-4566-8944-2BE8DC0EC8EE}"/>
              </a:ext>
            </a:extLst>
          </p:cNvPr>
          <p:cNvGraphicFramePr/>
          <p:nvPr/>
        </p:nvGraphicFramePr>
        <p:xfrm>
          <a:off xmlns:a="http://schemas.openxmlformats.org/drawingml/2006/main" x="514350" y="1571625"/>
          <a:ext xmlns:a="http://schemas.openxmlformats.org/drawingml/2006/main" cx="111633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29250"/>
                <a:gridCol w="1809750"/>
                <a:gridCol w="1809750"/>
                <a:gridCol w="2114550"/>
              </a:tblGrid>
              <a:tr h="5905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Station panel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TWS 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GWS 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GWS years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Longest overlap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0.127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0.037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Fixed eligibility / wider history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0.657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0.511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Common period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0.325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0.029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Strictly balanced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0.305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≈0.000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EA8DB7-A542-4498-ADCA-C44863CE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511 wells provide 5,484 aggregates. Co-located wells are grouped. The common-period panels cover eight usable storage years within 2013–2022.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A7D19C-B9F9-4AF2-B83C-0DD4D453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Evaluation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8D87E6-AA67-4FE0-A7DA-89AC941C8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22 / 26</a:t>
            </a:r>
          </a:p>
        </p:txBody>
      </p:sp>
    </p:spTree>
    <p:extLst>
      <p:ext uri="{BB962C8B-B14F-4D97-AF65-F5344CB8AC3E}">
        <p14:creationId xmlns:p14="http://schemas.microsoft.com/office/powerpoint/2010/main" val="63067730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04FE46-0D0C-4718-BA48-DDD64CB9E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010D07-00C2-4438-B2D8-678000CED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Independent reservoir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5A4EFF-1654-42C3-A4B4-27FA3842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10785231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6E97BA-F469-4689-9A2F-75A2880019F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2a09e12799457d"/>
          <a:stretch xmlns:a="http://schemas.openxmlformats.org/drawingml/2006/main"/>
        </p:blipFill>
        <p:spPr>
          <a:xfrm xmlns:a="http://schemas.openxmlformats.org/drawingml/2006/main">
            <a:off x="514350" y="1297049"/>
            <a:ext cx="11163300" cy="4311526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96BF8A-3629-4436-94CB-B0CDA03B8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26-reservoir fixed panel, 73 scene-supported months. Adjusted r = 0.439, year-cluster 95% interval 0.188–0.665. Both curves remove season and linear trend.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67810A-0AC6-400A-ADD4-0C2B9204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Evaluation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69DE9C-2C25-4608-9861-FAFB872AF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23 / 26</a:t>
            </a:r>
          </a:p>
        </p:txBody>
      </p:sp>
    </p:spTree>
    <p:extLst>
      <p:ext uri="{BB962C8B-B14F-4D97-AF65-F5344CB8AC3E}">
        <p14:creationId xmlns:p14="http://schemas.microsoft.com/office/powerpoint/2010/main" val="85171183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B901FE-CCE1-4CBF-9031-8DE91E1EA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209936-64B6-4A72-A66D-81F3394D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Decision support and reproducibility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DD4CBF-8BB2-4C69-8478-493FA463E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11254154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171B09-9F55-4FC4-9EA2-9C419BFA2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38300"/>
            <a:ext cx="10953750" cy="1038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Interactive storage histories, trend maps and observation support for all 22 basins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70AD61-7749-4BB4-BF54-C320B8AC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809875"/>
            <a:ext cx="10953750" cy="1038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Downloadable basin performance tables and spatial/temporal forcing figures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AEEB44-C84D-449C-A26D-B9E355C8B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981450"/>
            <a:ext cx="10953750" cy="1038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Input subsets, pinned dependencies and executable scientific workflows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D6F36E-724E-4AC7-944E-105183475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Interactive basin analysis, a consolidated figure library, final documents and runnable code: https://pratikkhanal16.github.io/thailand-water-storage-dss/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C3808A-539D-4330-83F5-B1083304A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Objective 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34496E-0FC1-4C7B-A96E-59DC40A89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24 / 26</a:t>
            </a:r>
          </a:p>
        </p:txBody>
      </p:sp>
    </p:spTree>
    <p:extLst>
      <p:ext uri="{BB962C8B-B14F-4D97-AF65-F5344CB8AC3E}">
        <p14:creationId xmlns:p14="http://schemas.microsoft.com/office/powerpoint/2010/main" val="88695763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09D60D-4A05-442A-BB58-93A7B63C1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282279-55BF-405D-899C-BB7C07891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Conclusions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4A2A14-3DC8-47CD-8D52-E73D0A4A8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11723077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250CC0-76B1-4346-9F54-7B9BBC18D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38300"/>
            <a:ext cx="109537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National total and derived groundwater storage decline in the primary records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67801D-5839-420B-8BEB-95238DE2E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33650"/>
            <a:ext cx="109537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Weather memory improves parent-model reconstruction; ENSO diagnostics add context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B2F6AB-9A13-4459-A1D3-0D3E03253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29000"/>
            <a:ext cx="109537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Processing chains and monitoring support limit local rankings and attribution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665787-C005-4AA5-B2D6-0E395365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324350"/>
            <a:ext cx="109537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The residual remains human effects plus unresolved discrepancy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E588D2-460C-483E-B222-246EE5D1F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Contribution: a reproducible joint assessment of product sensitivity, climate memory, paired-model discrepancy and monitoring-network uncertainty.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3EC933-B8D2-414B-ACD1-B14080D2C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Conclusions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8FD360-F0D4-4F83-A9C4-ED8A7BDE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25 / 26</a:t>
            </a:r>
          </a:p>
        </p:txBody>
      </p:sp>
    </p:spTree>
    <p:extLst>
      <p:ext uri="{BB962C8B-B14F-4D97-AF65-F5344CB8AC3E}">
        <p14:creationId xmlns:p14="http://schemas.microsoft.com/office/powerpoint/2010/main" val="121450306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389726-EC17-4E47-B6C0-251A267D2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0073A3-FFC1-4437-B02C-1DA02D6C3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Selected references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191C15-005F-40CA-B4BC-93456DADF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DF5723-A2A0-4F64-A416-2C89A10A0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38300"/>
            <a:ext cx="109537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Ji et al. (2025), climate / human separation. doi:10.1080/17538947.2025.2557516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56743D-F3F5-4871-BB79-A45BEDE8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33650"/>
            <a:ext cx="109537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Müller Schmied et al. (2024), WaterGAP. doi:10.5194/gmd-17-8817-2024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43B27A-62CF-4C69-8BB3-EFF1C17D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29000"/>
            <a:ext cx="109537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Chueasa et al. (2024), ENSO and Thai rainfall. doi:10.1016/j.mex.2024.102954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6EADE7-2D53-4968-AD46-AF84A661E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324350"/>
            <a:ext cx="109537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Sharifi et al. (2025), spatial response. doi:10.5194/hess-29-6985-2025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C29668-873F-46A6-BA93-C278B8FA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19700"/>
            <a:ext cx="109537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03A49"/>
                </a:solidFill>
                <a:latin typeface="Arial"/>
                <a:ea typeface="Arial"/>
                <a:cs typeface="Arial"/>
              </a:defRPr>
            </a:pPr>
            <a:r>
              <a:t>Mahto et al. (2025), MSEA-Res. doi:10.5194/essd-17-2693-2025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B836B1-F85A-4172-97CB-A1871A5B5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Metropolis theme: Matthias Vogelgesang and contributors, https://github.com/matze/mtheme. Full source bibliography and frozen NOAA indices accompany the report.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FE50B5-FFB0-4645-BB48-8419F0A89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References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6FD9E7-02CE-4E78-A102-90BB47734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26 / 26</a:t>
            </a:r>
          </a:p>
        </p:txBody>
      </p:sp>
    </p:spTree>
    <p:extLst>
      <p:ext uri="{BB962C8B-B14F-4D97-AF65-F5344CB8AC3E}">
        <p14:creationId xmlns:p14="http://schemas.microsoft.com/office/powerpoint/2010/main" val="173907589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3E0867-6DC4-47D4-A883-3A726766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5BB6B9-C87C-4AF3-BE50-151380D39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Spatial hydroclimatic context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2B0C58-E1A9-4F50-ABEC-937C1FDF3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DA916D-7482-4150-AB2A-1821D2F329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47c03f374e4b4f"/>
          <a:stretch xmlns:a="http://schemas.openxmlformats.org/drawingml/2006/main"/>
        </p:blipFill>
        <p:spPr>
          <a:xfrm xmlns:a="http://schemas.openxmlformats.org/drawingml/2006/main">
            <a:off x="514350" y="1808828"/>
            <a:ext cx="11163300" cy="3287969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B24797-00C4-4610-93BB-B44085C0C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Basin available-month means, 2003–2023. Product coverage differs. Volumetric moisture is distinct from storage in mm.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F1F194-9BA1-4EE8-955A-4EE9F0A73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Supporting results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3D58D9-4C06-4B63-97C0-4E6B8F9C6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B1</a:t>
            </a:r>
          </a:p>
        </p:txBody>
      </p:sp>
    </p:spTree>
    <p:extLst>
      <p:ext uri="{BB962C8B-B14F-4D97-AF65-F5344CB8AC3E}">
        <p14:creationId xmlns:p14="http://schemas.microsoft.com/office/powerpoint/2010/main" val="154572157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F7E5FE-4187-4ABB-9030-7C87043EA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826A5D-F8EE-4963-A026-E13621FF1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GLDAS agreement varies among basins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A04005-A17C-40EE-BE83-F0753319B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A81982-4635-43CD-A187-F231029759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b6e0cdd17b4d21"/>
          <a:stretch xmlns:a="http://schemas.openxmlformats.org/drawingml/2006/main"/>
        </p:blipFill>
        <p:spPr>
          <a:xfrm xmlns:a="http://schemas.openxmlformats.org/drawingml/2006/main">
            <a:off x="2604297" y="1285875"/>
            <a:ext cx="6983406" cy="43338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975289-287E-4D3C-8F35-596F377D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Matched land-storage benchmark. NSE colours saturate below −1 and RMSE above 100 mm. GLDAS also contributes to the groundwater subtraction.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8EB43A-3CF2-49C6-A0AD-E980F3EB0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Supporting results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6C8B99-EF39-4CB8-A107-5134F32BC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B2</a:t>
            </a:r>
          </a:p>
        </p:txBody>
      </p:sp>
    </p:spTree>
    <p:extLst>
      <p:ext uri="{BB962C8B-B14F-4D97-AF65-F5344CB8AC3E}">
        <p14:creationId xmlns:p14="http://schemas.microsoft.com/office/powerpoint/2010/main" val="498637132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974960-C4C9-4F9B-A564-7AA6389A4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ACC54C-FC69-48AD-A814-2570B845E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Spatial groundwater consistency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70328B-46AD-45D5-B5DC-EFEBF9EB9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164D6F-7736-48A9-AC86-73854BA0A0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a3e9c7f96b4e19"/>
          <a:stretch xmlns:a="http://schemas.openxmlformats.org/drawingml/2006/main"/>
        </p:blipFill>
        <p:spPr>
          <a:xfrm xmlns:a="http://schemas.openxmlformats.org/drawingml/2006/main">
            <a:off x="2502574" y="1285875"/>
            <a:ext cx="7186852" cy="43338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C560F5-32CF-48F8-BC06-4C9588B7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Residual–head correlations on available annual pairs. Grey hatching marks insufficient evidence. These comparisons cannot validate a human-only total.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12E772-DE76-4934-8400-61F65DF2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Supporting results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325AE7-283F-4E27-8177-A238FBB0D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B3</a:t>
            </a:r>
          </a:p>
        </p:txBody>
      </p:sp>
    </p:spTree>
    <p:extLst>
      <p:ext uri="{BB962C8B-B14F-4D97-AF65-F5344CB8AC3E}">
        <p14:creationId xmlns:p14="http://schemas.microsoft.com/office/powerpoint/2010/main" val="38925508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D25573-2937-44D3-A680-A0E5D183D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BF2B51-5CFD-4277-8B6D-E42856280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Reservoir agreement and observation support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741798-216E-46C4-8E0E-CDD99DFC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0315B6-8DE4-444C-AF74-ECEA5C4352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382f232f6f42f7"/>
          <a:stretch xmlns:a="http://schemas.openxmlformats.org/drawingml/2006/main"/>
        </p:blipFill>
        <p:spPr>
          <a:xfrm xmlns:a="http://schemas.openxmlformats.org/drawingml/2006/main">
            <a:off x="2521499" y="1285875"/>
            <a:ext cx="7149001" cy="43338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D9E103-B1B6-4AA0-8875-621EA1AB5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Scene-screened MSEA-Res Level 1. Reservoir storage checks a surface-water component. Climate and operating decisions both affect reservoirs.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8C6F02-8126-4DBA-B0E9-1810C65E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Supporting results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149EA5-4C1E-4EC2-AEEF-4E12338DF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B4</a:t>
            </a:r>
          </a:p>
        </p:txBody>
      </p:sp>
    </p:spTree>
    <p:extLst>
      <p:ext uri="{BB962C8B-B14F-4D97-AF65-F5344CB8AC3E}">
        <p14:creationId xmlns:p14="http://schemas.microsoft.com/office/powerpoint/2010/main" val="1326147978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B5D9EF-3EA8-4D72-B321-F2171AB37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E5FAE8-E3F4-4D2C-A038-58913F80B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TWSA climate reconstruction performance (01–11)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7AC964-F8C5-478B-8319-8A58D58AE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B5BC4F-2E28-419E-BB73-DC039C6A3FE2}"/>
              </a:ext>
            </a:extLst>
          </p:cNvPr>
          <p:cNvGraphicFramePr/>
          <p:nvPr/>
        </p:nvGraphicFramePr>
        <p:xfrm>
          <a:off xmlns:a="http://schemas.openxmlformats.org/drawingml/2006/main" x="514350" y="1371600"/>
          <a:ext xmlns:a="http://schemas.openxmlformats.org/drawingml/2006/main" cx="11163300" cy="3952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94757"/>
                <a:gridCol w="1594757"/>
                <a:gridCol w="1594757"/>
                <a:gridCol w="1594757"/>
                <a:gridCol w="1594757"/>
                <a:gridCol w="1594757"/>
                <a:gridCol w="1594757"/>
              </a:tblGrid>
              <a:tr h="329406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Basin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n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NSE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Anom NSE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RMSE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01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0.991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0.981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0.807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22.08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16.90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02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0.990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0.979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17.32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13.88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03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0.990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0.973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0.812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27.37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19.39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0.981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0.961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0.821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15.61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11.58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05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0.974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0.946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0.732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21.43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15.40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06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0.991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0.981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0.876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15.90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12.00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07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0.987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0.974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0.868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15.24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11.08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0.987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0.972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0.873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15.38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11.43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09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0.992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0.983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0.901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14.14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10.83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0.967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0.928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0.792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42.23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30.13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0.990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0.980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0.875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15.34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12.27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78BACF-4D67-4BE6-8AB7-925AA6FBA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Frozen ensemble, 2016–2023 test data. Target: naturalized WaterGAP, not GRACE. Errors are mm; anomaly NSE removes the training monthly climatology. Higher NSE and lower errors are better.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303491-9004-4142-A097-0F43CF3C7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Supporting results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5B33F5-71C2-4E17-8C35-BA6955708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B5</a:t>
            </a:r>
          </a:p>
        </p:txBody>
      </p:sp>
    </p:spTree>
    <p:extLst>
      <p:ext uri="{BB962C8B-B14F-4D97-AF65-F5344CB8AC3E}">
        <p14:creationId xmlns:p14="http://schemas.microsoft.com/office/powerpoint/2010/main" val="42852953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9928C7-19C4-4208-82D0-75AE1FF12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3FFBFA-A48C-4DD5-9A0D-79C1D2A62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TWSA climate reconstruction performance (12–22)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3819D1-B58D-49C5-8DE3-AE4AFC21E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AEAB45-FBB0-4F45-89A7-7BE56FD389CA}"/>
              </a:ext>
            </a:extLst>
          </p:cNvPr>
          <p:cNvGraphicFramePr/>
          <p:nvPr/>
        </p:nvGraphicFramePr>
        <p:xfrm>
          <a:off xmlns:a="http://schemas.openxmlformats.org/drawingml/2006/main" x="514350" y="1371600"/>
          <a:ext xmlns:a="http://schemas.openxmlformats.org/drawingml/2006/main" cx="11163300" cy="3952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94757"/>
                <a:gridCol w="1594757"/>
                <a:gridCol w="1594757"/>
                <a:gridCol w="1594757"/>
                <a:gridCol w="1594757"/>
                <a:gridCol w="1594757"/>
                <a:gridCol w="1594757"/>
              </a:tblGrid>
              <a:tr h="329406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Basin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n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NSE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Anom NSE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RMSE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0.987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0.974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0.864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11.22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8.35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0.974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0.778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32.00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23.99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0.991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0.981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0.856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18.49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14.13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0.975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0.764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28.65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22.72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0.979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0.957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0.705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14.60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11.45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0.987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0.972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0.742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16.75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13.62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0.979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0.957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0.827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14.38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10.97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0.982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0.965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0.911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17.38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13.55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0.982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0.903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22.54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18.01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21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0.977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0.951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0.887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25.44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18.76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22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0.985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0.970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0.903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17.36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13.16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0648B1-77B7-468F-A907-98F564DA5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Frozen ensemble, 2016–2023 test data. Target: naturalized WaterGAP, not GRACE. Errors are mm; anomaly NSE removes the training monthly climatology. Higher NSE and lower errors are better.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BF367E-8657-4405-A3B0-7427775D1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Supporting results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077F96-C404-40EE-B90E-043344E79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B6</a:t>
            </a:r>
          </a:p>
        </p:txBody>
      </p:sp>
    </p:spTree>
    <p:extLst>
      <p:ext uri="{BB962C8B-B14F-4D97-AF65-F5344CB8AC3E}">
        <p14:creationId xmlns:p14="http://schemas.microsoft.com/office/powerpoint/2010/main" val="27211252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8B1C93-92B4-4387-B8E9-EF12AC65A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E00B42-8006-4BF4-9BB1-64DCEEA89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GWSA climate reconstruction performance (01–11)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94E535-8454-44EC-BCD0-DA49CB93C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D56348-8391-47C4-8055-42422F5E2642}"/>
              </a:ext>
            </a:extLst>
          </p:cNvPr>
          <p:cNvGraphicFramePr/>
          <p:nvPr/>
        </p:nvGraphicFramePr>
        <p:xfrm>
          <a:off xmlns:a="http://schemas.openxmlformats.org/drawingml/2006/main" x="514350" y="1371600"/>
          <a:ext xmlns:a="http://schemas.openxmlformats.org/drawingml/2006/main" cx="11163300" cy="3952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94757"/>
                <a:gridCol w="1594757"/>
                <a:gridCol w="1594757"/>
                <a:gridCol w="1594757"/>
                <a:gridCol w="1594757"/>
                <a:gridCol w="1594757"/>
                <a:gridCol w="1594757"/>
              </a:tblGrid>
              <a:tr h="329406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Basin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n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NSE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Anom NSE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RMSE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01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0.982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0.830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5.74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4.47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02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0.986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0.956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0.901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4.98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4.08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03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0.982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0.953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0.781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10.59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7.70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0.969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0.933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0.755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7.04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5.33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05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0.927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0.678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8.87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6.32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06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0.980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0.958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0.842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3.94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2.92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07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0.977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0.948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0.824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4.83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3.96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0.984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0.865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5.52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4.22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09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0.982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0.958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0.832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6.04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4.78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0.968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0.935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0.661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4.90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4.09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0.958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0.914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0.627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7.09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5.40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19485B-CD59-4160-AE30-992185811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Frozen ensemble, 2016–2023 test data. Target: naturalized WaterGAP, not GRACE. Errors are mm; anomaly NSE removes the training monthly climatology. Higher NSE and lower errors are better.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646B56-C3B2-404D-BD89-A03D1B971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Supporting results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E216A4-CC14-4502-A4AB-56D8417EA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B7</a:t>
            </a:r>
          </a:p>
        </p:txBody>
      </p:sp>
    </p:spTree>
    <p:extLst>
      <p:ext uri="{BB962C8B-B14F-4D97-AF65-F5344CB8AC3E}">
        <p14:creationId xmlns:p14="http://schemas.microsoft.com/office/powerpoint/2010/main" val="6546536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C13B4F-DD6E-40E4-9CC3-8F6A49C5C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A4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CAB57F-4393-44D2-9A76-D34CAD0E7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"/>
            <a:ext cx="1116330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GWSA climate reconstruction performance (12–22)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6E29FE-5E54-45FB-84DB-9151CE95F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8225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3"/>
          </a:solidFill>
          <a:ln xmlns:a="http://schemas.openxmlformats.org/drawingml/2006/main" w="0">
            <a:noFill/>
          </a:ln>
        </p:spPr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FE802E-40B6-4A44-9699-3200713A01A3}"/>
              </a:ext>
            </a:extLst>
          </p:cNvPr>
          <p:cNvGraphicFramePr/>
          <p:nvPr/>
        </p:nvGraphicFramePr>
        <p:xfrm>
          <a:off xmlns:a="http://schemas.openxmlformats.org/drawingml/2006/main" x="514350" y="1371600"/>
          <a:ext xmlns:a="http://schemas.openxmlformats.org/drawingml/2006/main" cx="11163300" cy="3952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94757"/>
                <a:gridCol w="1594757"/>
                <a:gridCol w="1594757"/>
                <a:gridCol w="1594757"/>
                <a:gridCol w="1594757"/>
                <a:gridCol w="1594757"/>
                <a:gridCol w="1594757"/>
              </a:tblGrid>
              <a:tr h="329406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Basin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n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NSE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Anom NSE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RMSE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T w="4763">
                      <a:solidFill>
                        <a:srgbClr val="CCD3D5"/>
                      </a:solidFill>
                      <a:prstDash val="solid"/>
                    </a:lnT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E5EDEC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0.981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0.962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0.812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4.62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3.61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0.959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0.920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0.703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5.50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4.45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0.985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0.970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0.812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4.39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3.12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0.902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0.360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10.51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8.46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0.970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0.933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0.564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10.88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8.87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0.980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0.952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0.589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11.67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9.60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0.958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0.711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6.84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5.11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0.968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0.926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0.823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10.40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8.46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0.946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0.892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0.668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11.69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9.70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21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0.953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0.808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9.19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7.33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  <a:tr h="32940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22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CCD3D5"/>
                      </a:solidFill>
                      <a:prstDash val="solid"/>
                    </a:lnL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96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0.967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0.922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0.780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11.32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A49"/>
                          </a:solidFill>
                          <a:latin typeface="Arial"/>
                          <a:ea typeface="Arial"/>
                          <a:cs typeface="Arial"/>
                        </a:rPr>
                        <a:t>8.94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CCD3D5"/>
                      </a:solidFill>
                      <a:prstDash val="solid"/>
                    </a:lnR>
                    <a:lnB w="4763">
                      <a:solidFill>
                        <a:srgbClr val="CCD3D5"/>
                      </a:solidFill>
                      <a:prstDash val="solid"/>
                    </a:lnB>
                    <a:solidFill>
                      <a:srgbClr val="FAFAF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0F8C11-FA28-48EB-A812-D5BBCA67E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Frozen ensemble, 2016–2023 test data. Target: naturalized WaterGAP, not GRACE. Errors are mm; anomaly NSE removes the training monthly climatology. Higher NSE and lower errors are better.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281FD1-B945-44FC-92F7-9111DDCD9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43675"/>
            <a:ext cx="98107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Supporting results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E0E48D-5DFF-4F17-BE86-A74919A7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24625"/>
            <a:ext cx="9144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B6C75"/>
                </a:solidFill>
                <a:latin typeface="Arial"/>
                <a:ea typeface="Arial"/>
                <a:cs typeface="Arial"/>
              </a:defRPr>
            </a:pPr>
            <a:r>
              <a:t>B8</a:t>
            </a:r>
          </a:p>
        </p:txBody>
      </p:sp>
    </p:spTree>
    <p:extLst>
      <p:ext uri="{BB962C8B-B14F-4D97-AF65-F5344CB8AC3E}">
        <p14:creationId xmlns:p14="http://schemas.microsoft.com/office/powerpoint/2010/main" val="5403741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2026-10-26T07:11:31.4270000Z</dcterms:created>
  <dcterms:modified xsi:type="dcterms:W3CDTF">2026-10-26T07:11:31.4270000Z</dcterms:modified>
</coreProperties>
</file>