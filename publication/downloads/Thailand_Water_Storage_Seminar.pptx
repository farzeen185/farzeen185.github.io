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Every basin is included in the maps and tables.</a:t>
            </a:r>
          </a:p>
          <a:p>
            <a:r>
              <a:t>The polygons report basin averages; they do not create independent GRACE resolution.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negative anomaly is storage below the reference, not a negative absolute water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NSE: 1 perfect; 0 mean benchmark; negative worse. Anomaly NSE removes the training seasonal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weather emulator reconstructs the naturalized parent. It does not independently observe the true climate-only counterfactual.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TWSA uses the primary CSR record through September 2024; derived GWSA ends September 2023. Missing satellite months remain gaps. Negative anomalies mean storage below the 2004–2009 reference, not a negative absolute water volume.</a:t>
            </a:r>
          </a:p>
          <a:p>
            <a:r>
              <a:t>Total storage: −7.51 mm/year.</a:t>
            </a:r>
          </a:p>
          <a:p>
            <a:r>
              <a:t>Derived groundwater: −6.84 mm/year.</a:t>
            </a:r>
          </a:p>
          <a:p>
            <a:r>
              <a:t>Wet-year recovery can occur within a longer decline.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Seasonal Sen slopes for all 22 basins. Negative rates indicate decline. Basin significance, intervals and sample counts are reported separately. All basins share broad GRACE support.</a:t>
            </a:r>
          </a:p>
          <a:p>
            <a:r>
              <a:t>Negative colours indicate declining storage.</a:t>
            </a:r>
          </a:p>
          <a:p>
            <a:r>
              <a:t>Use the map for regional screening; neighbouring basins share gravity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Common-date basin trends differ across CSR and COST-G/G3P. Rank correlations are 0.138 for TWSA and 0.027 for GWSA; both gravity and compartment processing differ.</a:t>
            </a:r>
          </a:p>
          <a:p>
            <a:r>
              <a:t>National decline persists in both chains.</a:t>
            </a:r>
          </a:p>
          <a:p>
            <a:r>
              <a:t>Basin rank agreement is weak: 0.138 for total and 0.027 for groundwater.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Available-month means, 2003–2023. Native rainfall and PET drive the reconstruction; CHIRPS supplies alternative rainfall. Monthly fluxes are distinct from storage anomalies.</a:t>
            </a:r>
          </a:p>
          <a:p>
            <a:r>
              <a:t>Rainfall and potential ET are the model inputs.</a:t>
            </a:r>
          </a:p>
          <a:p>
            <a:r>
              <a:t>These are monthly fluxes; they are not stored water.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geographically distributed illustrative basins; all 22 remain in the numerical release. Boxes show interannual native rainfall by month (quartiles and 1.5-IQR whiskers; outliers suppressed); pink line is mean observed TWSA on its own right-hand axis. Distribution spread is not a confidence interval.</a:t>
            </a:r>
          </a:p>
          <a:p>
            <a:r>
              <a:t>Blue boxes show rainfall by month. Pink shows mean storage on the right axis.</a:t>
            </a:r>
          </a:p>
          <a:p>
            <a:r>
              <a:t>Storage integrates preceding rainfall and losses. Six geographical examples are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shaded years 2016–2023 were excluded from training and model selection. Close curves show reconstruction of the parent model; they do not independently establish the true natural climate counterfactual.</a:t>
            </a:r>
          </a:p>
          <a:p>
            <a:r>
              <a:t>Shaded years are unseen test data.</a:t>
            </a:r>
          </a:p>
          <a:p>
            <a:r>
              <a:t>High agreement evaluates the parent model; it does not prove climate-only observational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2016–2023 test months, six geographical examples. Grey is identity; pink is a descriptive fit. Metrics compare predictions directly with the parent target. Basin selection is geographic, not based on model performance; all 22 basin metrics are provided.</a:t>
            </a:r>
          </a:p>
          <a:p>
            <a:r>
              <a:t>The grey line is perfect agreement.</a:t>
            </a:r>
          </a:p>
          <a:p>
            <a:r>
              <a:t>RMSE is error in mm; NSE compares error with a mean benchmark. All 22 basin scores are reported.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NSE compares squared error with the target-mean benchmark; 1 is perfect, 0 equals that benchmark and negative is worse. Monthly climatology comes only from training. The target is naturalized WaterGAP.</a:t>
            </a:r>
          </a:p>
          <a:p>
            <a:r>
              <a:t>Higher NSE means better reconstruction.</a:t>
            </a:r>
          </a:p>
          <a:p>
            <a:r>
              <a:t>Anomaly skill removes the usual seasonal cycle, giving a stricter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Controlled Ridge comparison; boxplots describe basin variation, not confidence intervals. National test anomaly NSE improves from 0.283 to 0.890 for TWSA and 0.039 to 0.723 for GWSA.</a:t>
            </a:r>
          </a:p>
          <a:p>
            <a:r>
              <a:t>Past weather adds information beyond current rainfall and PET.</a:t>
            </a:r>
          </a:p>
          <a:p>
            <a:r>
              <a:t>National anomaly NSE rises from 0.283 to 0.890 for total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National annual anomaly NSE against the naturalized parent. The 2022 groundwater score is −1.067 and is retained; pooled scores hide this failure.</a:t>
            </a:r>
          </a:p>
          <a:p>
            <a:r>
              <a:t>Groundwater anomaly NSE is −1.067 in 2022.</a:t>
            </a:r>
          </a:p>
          <a:p>
            <a:r>
              <a:t>The model performs worse than the mean benchmark in that year; the failure is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comparison excludes groundwater and open surface water. GLDAS is a cross-model benchmark, not an observed total-storage or human-only validation dataset.</a:t>
            </a:r>
          </a:p>
          <a:p>
            <a:r>
              <a:t>National r = 0.969; RMSE = 52.49 mm.</a:t>
            </a:r>
          </a:p>
          <a:p>
            <a:r>
              <a:t>The comparison covers soil, canopy and snow only. It does not validate groundwater or human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Matching soil, canopy and snow compartments on paired dates. Higher NSE and lower RMSE mean closer model agreement for this same target. They do not validate the residual.</a:t>
            </a:r>
          </a:p>
          <a:p>
            <a:r>
              <a:t>Higher NSE and lower RMSE mean closer agreement for the same land-storage target.</a:t>
            </a:r>
          </a:p>
          <a:p>
            <a:r>
              <a:t>Shared climate and component dependence limit independence.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Residual = observed − naturalized. Modeled human effect = historical − naturalized. Unexplained gap = observed − historical. Thus residual = modeled human effect + unexplained gap. A negative residual is not measured pumping.</a:t>
            </a:r>
          </a:p>
          <a:p>
            <a:r>
              <a:t>The residual closely follows the unexplained gap.</a:t>
            </a:r>
          </a:p>
          <a:p>
            <a:r>
              <a:t>The entire residual cannot be treated as measured human depletion.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Calendar-month fixed-effect OLS on common available dates. These additive rates differ from the primary seasonal Sen estimates. Residuals include human effects and observation/model discrepancy.</a:t>
            </a:r>
          </a:p>
          <a:p>
            <a:r>
              <a:t>Negative rates mean observations decline relative to the naturalized baseline.</a:t>
            </a:r>
          </a:p>
          <a:p>
            <a:r>
              <a:t>Human influence and model or measurement errors can both contribute.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Annual mean absolute deviations on the same available months (minimum eight). Ratios need not sum to one and may exceed one because components covary. These are not climate/human percentages.</a:t>
            </a:r>
          </a:p>
          <a:p>
            <a:r>
              <a:t>Climate and residual variability differ from year to year.</a:t>
            </a:r>
          </a:p>
          <a:p>
            <a:r>
              <a:t>These ratios need not add to one. They are not human-versus-climate percentages.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National partial correlations remove season, trend and contemporaneous DMI, 2003–2023. All five selected ENSO leads are shown. The residual has a weaker six-month association, but this does not prove complete climate removal.</a:t>
            </a:r>
          </a:p>
          <a:p>
            <a:r>
              <a:t>At six months, baseline r is about −0.53; residual r is about −0.14.</a:t>
            </a:r>
          </a:p>
          <a:p>
            <a:r>
              <a:t>No basin test passes the conservative FDR screen. This does not prove no remaining climate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Held-out parent reconstruction, with 29 El Niño, 36 neutral and 31 La Niña months. Months share events; this is not independent event prediction.</a:t>
            </a:r>
          </a:p>
          <a:p>
            <a:r>
              <a:t>The model is frozen across all ENSO phases.</a:t>
            </a:r>
          </a:p>
          <a:p>
            <a:r>
              <a:t>Months share episodes, so these are reconstruction comparisons rather than independent event forecasts.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Annual residual–head correlations. Hatching indicates inadequate support. Head and basin storage have different units and observation scales; no storage-volume validation is implied.</a:t>
            </a:r>
          </a:p>
          <a:p>
            <a:r>
              <a:t>National groundwater-residual / head r is only 0.037.</a:t>
            </a:r>
          </a:p>
          <a:p>
            <a:r>
              <a:t>Head is a local water level, not regional water volume. The balanced-panel result is near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Scene-supported values, with season and trend removed, then standardized. Points preserve observation gaps. Adjusted national r = 0.439 across 73 months; year-cluster 95% interval 0.188–0.665.</a:t>
            </a:r>
          </a:p>
          <a:p>
            <a:r>
              <a:t>Adjusted r = 0.439 across 73 scene-supported months.</a:t>
            </a:r>
          </a:p>
          <a:p>
            <a:r>
              <a:t>Reservoirs respond to climate and operations together; this cannot validate the total human residual.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and full bibliography: github.com/pratikkhanal16/thailand-water-storage-dss. Metropolis theme: matze/mtheme.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C7A9913-F13D-4BE4-8111-FFC48AFB0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3576BF7-BD60-4D81-BA94-4E19E9D714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2FE756A-1E30-4232-8192-52B74CD7A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CEA7A15-0EA2-4D3E-A7BC-A3A44248D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536A122-777F-4CE0-9586-E5BF3A89E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237DE8D-7C64-4887-84EC-F779709BF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8EB870D-C7A0-4DEF-8D3B-2C0F2B6F4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FD46205-3539-4A51-A690-7E2075C031C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A968BC3-F158-4C8F-B3EB-7F097E115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B764E16-195E-4114-BD21-E063E7C91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C409C47-44AB-4E65-AF67-3732D3209253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763250" cy="14287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4125" b="1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4125" b="1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4125" b="1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4125" b="1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4125" b="1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4125" b="1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4125" b="1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4125" b="1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4125" b="1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4125" b="1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125" b="1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Water storage change across Thailand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7868C1-96B1-4BAD-AE19-195D8EF16A68}"/>
              </a:ext>
            </a:extLst>
          </p:cNvPr>
          <p:cNvSpPr>
            <a:spLocks noGrp="1"/>
          </p:cNvSpPr>
          <p:nvPr/>
        </p:nvSpPr>
        <p:spPr>
          <a:xfrm>
            <a:off x="695325" y="2667000"/>
            <a:ext cx="10668000" cy="10477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88B7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88B7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88B7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88B7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88B7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88B7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88B7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88B7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88B7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88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88B73"/>
                </a:solidFill>
                <a:latin typeface="Arial"/>
                <a:ea typeface="Arial"/>
                <a:cs typeface="Arial"/>
              </a:defRPr>
            </a:pPr>
            <a:r>
              <a:t>A basin assessment of climate variability and the remaining residual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A2BD14-4A4B-45AD-883A-7AA9AB99DDC8}"/>
              </a:ext>
            </a:extLst>
          </p:cNvPr>
          <p:cNvSpPr>
            <a:spLocks noGrp="1"/>
          </p:cNvSpPr>
          <p:nvPr/>
        </p:nvSpPr>
        <p:spPr>
          <a:xfrm>
            <a:off x="695325" y="4143375"/>
            <a:ext cx="10668000" cy="5238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2625" b="1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25" b="1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Farzeen Khan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F4C6D1-77D3-477D-8F5A-59AD706DE5AC}"/>
              </a:ext>
            </a:extLst>
          </p:cNvPr>
          <p:cNvSpPr>
            <a:spLocks noGrp="1"/>
          </p:cNvSpPr>
          <p:nvPr/>
        </p:nvSpPr>
        <p:spPr>
          <a:xfrm>
            <a:off x="695325" y="4762500"/>
            <a:ext cx="10668000" cy="762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MS in Water Engineering and Management</a:t>
            </a:r>
            <a:br/>
            <a:r>
              <a:t>Asian Institute of Technology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47609C-8CEA-4E90-996A-DC959EEA2E5B}"/>
              </a:ext>
            </a:extLst>
          </p:cNvPr>
          <p:cNvSpPr>
            <a:spLocks noGrp="1"/>
          </p:cNvSpPr>
          <p:nvPr/>
        </p:nvSpPr>
        <p:spPr>
          <a:xfrm>
            <a:off x="695325" y="5791200"/>
            <a:ext cx="10668000" cy="381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Advisor: Dr. Natthachet Tangdamrongsub</a:t>
            </a:r>
          </a:p>
        </p:txBody>
      </p:sp>
    </p:spTree>
    <p:extLst>
      <p:ext uri="{BB962C8B-B14F-4D97-AF65-F5344CB8AC3E}">
        <p14:creationId xmlns:p14="http://schemas.microsoft.com/office/powerpoint/2010/main" val="748759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49BA25-DE39-4B5A-93A1-4023C036AF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C0A30A-7906-4A41-B4CB-16E7CC1F2B00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762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60F8A4-8A26-4AC9-B794-127DE5008ABC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06125" cy="10953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Rainfall tells us how much water arrives. Storage tells us how much remains.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B685B3-8F17-49F4-9C02-C21F60EF2F2A}"/>
              </a:ext>
            </a:extLst>
          </p:cNvPr>
          <p:cNvSpPr>
            <a:spLocks noGrp="1"/>
          </p:cNvSpPr>
          <p:nvPr/>
        </p:nvSpPr>
        <p:spPr>
          <a:xfrm>
            <a:off x="628650" y="2952750"/>
            <a:ext cx="10906125" cy="10953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Total water storage includes soil, rivers, reservoirs and groundwater.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14CAE9-C8A7-4BF8-9CEA-E81E0D99F3E8}"/>
              </a:ext>
            </a:extLst>
          </p:cNvPr>
          <p:cNvSpPr>
            <a:spLocks noGrp="1"/>
          </p:cNvSpPr>
          <p:nvPr/>
        </p:nvSpPr>
        <p:spPr>
          <a:xfrm>
            <a:off x="628650" y="4286250"/>
            <a:ext cx="10906125" cy="10953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This study examines monthly changes across all 22 principal basins.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2DCA6E-72A9-43F0-87CD-793DA1535070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Introduction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C64DC8-54C6-4D26-A59F-F5C154240D3F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2 / 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D83B98-FD4C-487E-B237-35C43E1AF9DD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Why water storage matters</a:t>
            </a:r>
          </a:p>
        </p:txBody>
      </p:sp>
    </p:spTree>
    <p:extLst>
      <p:ext uri="{BB962C8B-B14F-4D97-AF65-F5344CB8AC3E}">
        <p14:creationId xmlns:p14="http://schemas.microsoft.com/office/powerpoint/2010/main" val="1434317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FE93BA-BC8A-4B2D-A807-36C1EE1000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814D1F-905D-4C44-8FF9-8CF84EBDFE5C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1143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3E4558-82DC-4ECB-B614-45B802D71C25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06125" cy="10953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Storage can fall during drought, increased water use, or both.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F047B6-908C-4566-8A74-D91A29BE660E}"/>
              </a:ext>
            </a:extLst>
          </p:cNvPr>
          <p:cNvSpPr>
            <a:spLocks noGrp="1"/>
          </p:cNvSpPr>
          <p:nvPr/>
        </p:nvSpPr>
        <p:spPr>
          <a:xfrm>
            <a:off x="628650" y="2952750"/>
            <a:ext cx="10906125" cy="10953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GRACE observes total water mass; it does not observe pumping separately.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286E50-4FA1-45D7-8973-AD6CDBB1AD1D}"/>
              </a:ext>
            </a:extLst>
          </p:cNvPr>
          <p:cNvSpPr>
            <a:spLocks noGrp="1"/>
          </p:cNvSpPr>
          <p:nvPr/>
        </p:nvSpPr>
        <p:spPr>
          <a:xfrm>
            <a:off x="628650" y="4286250"/>
            <a:ext cx="10906125" cy="10953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A model residual needs additional evidence before it can be called a human effect.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73ED0B-BCC9-4612-A53B-6791825C88D3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Background and problem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61F679-E67C-44E5-B211-FB9D3B9AB58B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3 / 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4229BC-43F9-4741-B7FC-04B665F5BFAE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The problem is identifying the cause</a:t>
            </a:r>
          </a:p>
        </p:txBody>
      </p:sp>
    </p:spTree>
    <p:extLst>
      <p:ext uri="{BB962C8B-B14F-4D97-AF65-F5344CB8AC3E}">
        <p14:creationId xmlns:p14="http://schemas.microsoft.com/office/powerpoint/2010/main" val="138449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B3E953B-BD5F-463E-AEA3-BF1017F07B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F4E642-2685-4F74-8CC8-E7DC1559D4F6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1524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6F4A59-F2E0-4978-9377-C64F6279224F}"/>
              </a:ext>
            </a:extLst>
          </p:cNvPr>
          <p:cNvGraphicFramePr/>
          <p:nvPr/>
        </p:nvGraphicFramePr>
        <p:xfrm>
          <a:off x="523875" y="1466850"/>
          <a:ext cx="11144250" cy="2667000"/>
        </p:xfrm>
        <a:graphic>
          <a:graphicData uri="http://schemas.openxmlformats.org/drawingml/2006/table">
            <a:tbl>
              <a:tblPr/>
              <a:tblGrid>
                <a:gridCol w="32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Objective</a:t>
                      </a:r>
                    </a:p>
                  </a:txBody>
                  <a:tcPr>
                    <a:lnL w="4763">
                      <a:solidFill>
                        <a:srgbClr val="D6DFDF"/>
                      </a:solidFill>
                      <a:prstDash val="soli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>
                      <a:solidFill>
                        <a:srgbClr val="D6DFDF"/>
                      </a:solidFill>
                      <a:prstDash val="soli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E9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</a:p>
                  </a:txBody>
                  <a:tcPr>
                    <a:lnL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>
                      <a:solidFill>
                        <a:srgbClr val="D6DFDF"/>
                      </a:solidFill>
                      <a:prstDash val="soli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E9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1 Storage change</a:t>
                      </a:r>
                    </a:p>
                  </a:txBody>
                  <a:tcPr>
                    <a:lnL w="4763">
                      <a:solidFill>
                        <a:srgbClr val="D6DFDF"/>
                      </a:solidFill>
                      <a:prstDash val="soli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Basin trends and monthly TWSA / GWSA</a:t>
                      </a:r>
                    </a:p>
                  </a:txBody>
                  <a:tcPr>
                    <a:lnL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2 Climate and residual</a:t>
                      </a:r>
                    </a:p>
                  </a:txBody>
                  <a:tcPr>
                    <a:lnL w="4763">
                      <a:solidFill>
                        <a:srgbClr val="D6DFDF"/>
                      </a:solidFill>
                      <a:prstDash val="soli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Evaluated reconstruction and component checks</a:t>
                      </a:r>
                    </a:p>
                  </a:txBody>
                  <a:tcPr>
                    <a:lnL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3 Decision support</a:t>
                      </a:r>
                    </a:p>
                  </a:txBody>
                  <a:tcPr>
                    <a:lnL w="4763">
                      <a:solidFill>
                        <a:srgbClr val="D6DFDF"/>
                      </a:solidFill>
                      <a:prstDash val="soli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Interactive basin website and runnable code</a:t>
                      </a:r>
                    </a:p>
                  </a:txBody>
                  <a:tcPr>
                    <a:lnL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A296628-C17F-43FD-87B8-E3C263787005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Objectives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474F40-0587-4C57-B1EF-43167F7B21DC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4 / 32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2447B3-D11F-4F01-93B2-E0C4F8EC66F4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Three research objectives</a:t>
            </a:r>
          </a:p>
        </p:txBody>
      </p:sp>
    </p:spTree>
    <p:extLst>
      <p:ext uri="{BB962C8B-B14F-4D97-AF65-F5344CB8AC3E}">
        <p14:creationId xmlns:p14="http://schemas.microsoft.com/office/powerpoint/2010/main" val="985617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14F750C-3C2E-4CB3-B1DD-56E814CC5E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4AFBAA-1305-4D47-9631-5DC5001291C8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1905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F51CAA-DF5C-4016-9BD1-99E50BC19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41118" y="1362075"/>
            <a:ext cx="2937914" cy="44481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0BE20A-04E7-4510-89A9-947324E65F1E}"/>
              </a:ext>
            </a:extLst>
          </p:cNvPr>
          <p:cNvSpPr>
            <a:spLocks noGrp="1"/>
          </p:cNvSpPr>
          <p:nvPr/>
        </p:nvSpPr>
        <p:spPr>
          <a:xfrm>
            <a:off x="8801100" y="1504950"/>
            <a:ext cx="2895600" cy="4000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pPr>
            <a:r>
              <a:t>Interpretation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4AC50B-9B82-450F-B6AF-F3AE3C5E14F0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Every basin is included in the maps and tables.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F46D5B-B0BD-49A4-A094-EF8C1E1BE704}"/>
              </a:ext>
            </a:extLst>
          </p:cNvPr>
          <p:cNvSpPr>
            <a:spLocks noGrp="1"/>
          </p:cNvSpPr>
          <p:nvPr/>
        </p:nvSpPr>
        <p:spPr>
          <a:xfrm>
            <a:off x="8801100" y="3419475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The polygons report basin averages; they do not create independent GRACE resolution.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B5F3A6-1ED0-45C6-BDCD-456B4063017C}"/>
              </a:ext>
            </a:extLst>
          </p:cNvPr>
          <p:cNvSpPr>
            <a:spLocks noGrp="1"/>
          </p:cNvSpPr>
          <p:nvPr/>
        </p:nvSpPr>
        <p:spPr>
          <a:xfrm>
            <a:off x="476250" y="6057900"/>
            <a:ext cx="11049000" cy="2857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See the report for dates, sample counts and uncertainty.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697A02-4D85-4A88-94AA-F47AF25578CD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Study area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12D807-6A1F-4237-90A7-FDEE0CAF5333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5 / 32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257D8F-FB5A-45A0-B5D8-422B2C739621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Thailand’s 22 principal basins</a:t>
            </a:r>
          </a:p>
        </p:txBody>
      </p:sp>
    </p:spTree>
    <p:extLst>
      <p:ext uri="{BB962C8B-B14F-4D97-AF65-F5344CB8AC3E}">
        <p14:creationId xmlns:p14="http://schemas.microsoft.com/office/powerpoint/2010/main" val="750800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40E8099-CDEF-46C7-9E10-57192C9A67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B7074A-F0D0-4213-BA9A-FC21593B677C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2286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9332DE-2A52-4216-8D10-4C3C20B86504}"/>
              </a:ext>
            </a:extLst>
          </p:cNvPr>
          <p:cNvGraphicFramePr/>
          <p:nvPr/>
        </p:nvGraphicFramePr>
        <p:xfrm>
          <a:off x="523875" y="1466850"/>
          <a:ext cx="11144250" cy="3333750"/>
        </p:xfrm>
        <a:graphic>
          <a:graphicData uri="http://schemas.openxmlformats.org/drawingml/2006/table">
            <a:tbl>
              <a:tblPr/>
              <a:tblGrid>
                <a:gridCol w="32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Data</a:t>
                      </a:r>
                    </a:p>
                  </a:txBody>
                  <a:tcPr>
                    <a:lnL w="4763">
                      <a:solidFill>
                        <a:srgbClr val="D6DFDF"/>
                      </a:solidFill>
                      <a:prstDash val="soli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>
                      <a:solidFill>
                        <a:srgbClr val="D6DFDF"/>
                      </a:solidFill>
                      <a:prstDash val="soli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E9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Question it addresses</a:t>
                      </a:r>
                    </a:p>
                  </a:txBody>
                  <a:tcPr>
                    <a:lnL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>
                      <a:solidFill>
                        <a:srgbClr val="D6DFDF"/>
                      </a:solidFill>
                      <a:prstDash val="soli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E9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GRACE and storage components</a:t>
                      </a:r>
                    </a:p>
                  </a:txBody>
                  <a:tcPr>
                    <a:lnL w="4763">
                      <a:solidFill>
                        <a:srgbClr val="D6DFDF"/>
                      </a:solidFill>
                      <a:prstDash val="soli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How is total / groundwater storage changing?</a:t>
                      </a:r>
                    </a:p>
                  </a:txBody>
                  <a:tcPr>
                    <a:lnL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Naturalized model and weather</a:t>
                      </a:r>
                    </a:p>
                  </a:txBody>
                  <a:tcPr>
                    <a:lnL w="4763">
                      <a:solidFill>
                        <a:srgbClr val="D6DFDF"/>
                      </a:solidFill>
                      <a:prstDash val="soli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Can climate-related storage be reconstructed?</a:t>
                      </a:r>
                    </a:p>
                  </a:txBody>
                  <a:tcPr>
                    <a:lnL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GLDAS matching land storage</a:t>
                      </a:r>
                    </a:p>
                  </a:txBody>
                  <a:tcPr>
                    <a:lnL w="4763">
                      <a:solidFill>
                        <a:srgbClr val="D6DFDF"/>
                      </a:solidFill>
                      <a:prstDash val="soli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Do soil, canopy and snow estimates agree?</a:t>
                      </a:r>
                    </a:p>
                  </a:txBody>
                  <a:tcPr>
                    <a:lnL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Wells and reservoir scenes</a:t>
                      </a:r>
                    </a:p>
                  </a:txBody>
                  <a:tcPr>
                    <a:lnL w="4763">
                      <a:solidFill>
                        <a:srgbClr val="D6DFDF"/>
                      </a:solidFill>
                      <a:prstDash val="soli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What independent component evidence exists?</a:t>
                      </a:r>
                    </a:p>
                  </a:txBody>
                  <a:tcPr>
                    <a:lnL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9E8ADFD-94DD-415F-B5AC-8366FA482A84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Data collection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5213AF-2E36-4D6F-9DB1-04C8C2E0FA4F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6 / 32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B16E7E-A4EC-47DA-A4B7-922E37DA1F31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What each dataset contributes</a:t>
            </a:r>
          </a:p>
        </p:txBody>
      </p:sp>
    </p:spTree>
    <p:extLst>
      <p:ext uri="{BB962C8B-B14F-4D97-AF65-F5344CB8AC3E}">
        <p14:creationId xmlns:p14="http://schemas.microsoft.com/office/powerpoint/2010/main" val="2088977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55603B9-7E68-4A29-83BA-794681EE30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05AA78-B01A-46D4-8854-1C9C4FA43E31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2667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915C88-CECE-4E7A-8BA9-3DD63E8775D0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06125" cy="10953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Groundwater = total − soil − surface − canopy − snow storage.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EC7F72-E37E-4F26-80D3-9E14AB8BC5EE}"/>
              </a:ext>
            </a:extLst>
          </p:cNvPr>
          <p:cNvSpPr>
            <a:spLocks noGrp="1"/>
          </p:cNvSpPr>
          <p:nvPr/>
        </p:nvSpPr>
        <p:spPr>
          <a:xfrm>
            <a:off x="628650" y="2952750"/>
            <a:ext cx="10906125" cy="10953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Use common units, the 2004–2009 reference and valid spatial support.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B2E264-FDEE-49A7-BDF9-288108B893FC}"/>
              </a:ext>
            </a:extLst>
          </p:cNvPr>
          <p:cNvSpPr>
            <a:spLocks noGrp="1"/>
          </p:cNvSpPr>
          <p:nvPr/>
        </p:nvSpPr>
        <p:spPr>
          <a:xfrm>
            <a:off x="628650" y="4286250"/>
            <a:ext cx="10906125" cy="10953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Seasonal Sen slopes describe the rate of change; Mann–Kendall tests assess ordered change.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88407D-6EA5-4239-8E41-E750030A670E}"/>
              </a:ext>
            </a:extLst>
          </p:cNvPr>
          <p:cNvSpPr>
            <a:spLocks noGrp="1"/>
          </p:cNvSpPr>
          <p:nvPr/>
        </p:nvSpPr>
        <p:spPr>
          <a:xfrm>
            <a:off x="523875" y="5848350"/>
            <a:ext cx="11096625" cy="5619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A negative anomaly is storage below the reference, not a negative absolute water volume.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0C1405-C903-4415-AC21-9EA8AC6C3EFF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Methodology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059C93-C36E-4139-84F2-0FBA61909299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7 / 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D80C96-81B9-4B11-B409-E6CF0B3DEC31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Method 1 calculate storage and trends</a:t>
            </a:r>
          </a:p>
        </p:txBody>
      </p:sp>
    </p:spTree>
    <p:extLst>
      <p:ext uri="{BB962C8B-B14F-4D97-AF65-F5344CB8AC3E}">
        <p14:creationId xmlns:p14="http://schemas.microsoft.com/office/powerpoint/2010/main" val="703437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65A480A-7B8C-4F22-BFD4-37DD4E2650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AC276C-84CF-4C4B-B856-5BE1D5A03101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3048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7A3921-E840-4F9F-86E1-3F195AB077AA}"/>
              </a:ext>
            </a:extLst>
          </p:cNvPr>
          <p:cNvGraphicFramePr/>
          <p:nvPr/>
        </p:nvGraphicFramePr>
        <p:xfrm>
          <a:off x="523875" y="1466850"/>
          <a:ext cx="11144250" cy="333375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>
                    <a:lnL w="4763">
                      <a:solidFill>
                        <a:srgbClr val="D6DFDF"/>
                      </a:solidFill>
                      <a:prstDash val="soli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>
                      <a:solidFill>
                        <a:srgbClr val="D6DFDF"/>
                      </a:solidFill>
                      <a:prstDash val="soli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E9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Period</a:t>
                      </a:r>
                    </a:p>
                  </a:txBody>
                  <a:tcPr>
                    <a:lnL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>
                      <a:solidFill>
                        <a:srgbClr val="D6DFDF"/>
                      </a:solidFill>
                      <a:prstDash val="soli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E9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>
                    <a:lnL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>
                      <a:solidFill>
                        <a:srgbClr val="D6DFDF"/>
                      </a:solidFill>
                      <a:prstDash val="soli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E9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Warm-up</a:t>
                      </a:r>
                    </a:p>
                  </a:txBody>
                  <a:tcPr>
                    <a:lnL w="4763">
                      <a:solidFill>
                        <a:srgbClr val="D6DFDF"/>
                      </a:solidFill>
                      <a:prstDash val="soli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1981–1990</a:t>
                      </a:r>
                    </a:p>
                  </a:txBody>
                  <a:tcPr>
                    <a:lnL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Initialize weather memory</a:t>
                      </a:r>
                    </a:p>
                  </a:txBody>
                  <a:tcPr>
                    <a:lnL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>
                    <a:lnL w="4763">
                      <a:solidFill>
                        <a:srgbClr val="D6DFDF"/>
                      </a:solidFill>
                      <a:prstDash val="soli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1991–2009</a:t>
                      </a:r>
                    </a:p>
                  </a:txBody>
                  <a:tcPr>
                    <a:lnL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Fit weather-storage relationships</a:t>
                      </a:r>
                    </a:p>
                  </a:txBody>
                  <a:tcPr>
                    <a:lnL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>
                    <a:lnL w="4763">
                      <a:solidFill>
                        <a:srgbClr val="D6DFDF"/>
                      </a:solidFill>
                      <a:prstDash val="soli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2010–2015</a:t>
                      </a:r>
                    </a:p>
                  </a:txBody>
                  <a:tcPr>
                    <a:lnL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Select models and weights</a:t>
                      </a:r>
                    </a:p>
                  </a:txBody>
                  <a:tcPr>
                    <a:lnL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Testing</a:t>
                      </a:r>
                    </a:p>
                  </a:txBody>
                  <a:tcPr>
                    <a:lnL w="4763">
                      <a:solidFill>
                        <a:srgbClr val="D6DFDF"/>
                      </a:solidFill>
                      <a:prstDash val="soli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2016–2023</a:t>
                      </a:r>
                    </a:p>
                  </a:txBody>
                  <a:tcPr>
                    <a:lnL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50"/>
                          </a:solidFill>
                          <a:latin typeface="Arial"/>
                          <a:ea typeface="Arial"/>
                          <a:cs typeface="Arial"/>
                        </a:rPr>
                        <a:t>Evaluate unseen years</a:t>
                      </a:r>
                    </a:p>
                  </a:txBody>
                  <a:tcPr>
                    <a:lnL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D6DFDF"/>
                      </a:solidFill>
                      <a:prstDash val="solid"/>
                    </a:lnR>
                    <a:lnT w="4763" cap="flat" cmpd="sng" algn="ctr">
                      <a:solidFill>
                        <a:srgbClr val="D6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D6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1774B33-BFE2-4729-9D06-1B09CF2A7F31}"/>
              </a:ext>
            </a:extLst>
          </p:cNvPr>
          <p:cNvSpPr>
            <a:spLocks noGrp="1"/>
          </p:cNvSpPr>
          <p:nvPr/>
        </p:nvSpPr>
        <p:spPr>
          <a:xfrm>
            <a:off x="523875" y="5848350"/>
            <a:ext cx="11096625" cy="5619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NSE: 1 perfect; 0 mean benchmark; negative worse. Anomaly NSE removes the training seasonal cycle.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9D0796-2062-4E23-A922-511DE9B46782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Methodology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BE415E-A8F9-48A7-92E8-FC622B25AAC1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8 / 32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C8B21B-2AD5-4BC7-AE72-BFCE7C1768E0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Method 2 test the climate reconstruction</a:t>
            </a:r>
          </a:p>
        </p:txBody>
      </p:sp>
    </p:spTree>
    <p:extLst>
      <p:ext uri="{BB962C8B-B14F-4D97-AF65-F5344CB8AC3E}">
        <p14:creationId xmlns:p14="http://schemas.microsoft.com/office/powerpoint/2010/main" val="1211067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DF235A1-18D6-4D65-843F-782A7ED340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D8F4D2-E222-4731-8864-CFE5D783B583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3429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336D0C-665A-47AC-BBCC-66753132FD40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06125" cy="10953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Residual = observed storage − naturalized climate baseline.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0CE5A4-89BD-4722-A64D-8D0473352BCA}"/>
              </a:ext>
            </a:extLst>
          </p:cNvPr>
          <p:cNvSpPr>
            <a:spLocks noGrp="1"/>
          </p:cNvSpPr>
          <p:nvPr/>
        </p:nvSpPr>
        <p:spPr>
          <a:xfrm>
            <a:off x="628650" y="2952750"/>
            <a:ext cx="10906125" cy="10953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It contains the model’s human effect plus an unexplained observation-model gap.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95EBF9-2CE3-4466-86EF-FFB550277372}"/>
              </a:ext>
            </a:extLst>
          </p:cNvPr>
          <p:cNvSpPr>
            <a:spLocks noGrp="1"/>
          </p:cNvSpPr>
          <p:nvPr/>
        </p:nvSpPr>
        <p:spPr>
          <a:xfrm>
            <a:off x="628650" y="4286250"/>
            <a:ext cx="10906125" cy="10953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Check matching GLDAS compartments, groundwater levels and reservoirs separately.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45604A-33C6-487A-954C-8A469286C589}"/>
              </a:ext>
            </a:extLst>
          </p:cNvPr>
          <p:cNvSpPr>
            <a:spLocks noGrp="1"/>
          </p:cNvSpPr>
          <p:nvPr/>
        </p:nvSpPr>
        <p:spPr>
          <a:xfrm>
            <a:off x="523875" y="5848350"/>
            <a:ext cx="11096625" cy="5619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The weather emulator reconstructs the naturalized parent. It does not independently observe the true climate-only counterfactual.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462E01-CD73-4FF2-B649-20DA951F8F05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Methodology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651CC4-82D8-48BC-AB45-4E2C9828DEA1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9 / 32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C2DA7E-2818-4B9E-8C7A-8C9E8751BF44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Method 3 interpret the residual</a:t>
            </a:r>
          </a:p>
        </p:txBody>
      </p:sp>
    </p:spTree>
    <p:extLst>
      <p:ext uri="{BB962C8B-B14F-4D97-AF65-F5344CB8AC3E}">
        <p14:creationId xmlns:p14="http://schemas.microsoft.com/office/powerpoint/2010/main" val="727123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B2F1254-7D35-48C2-97D2-8B51134305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F1FEA0-CD89-4A6F-AE60-DA52162FA51B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3810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D65E62-49D1-4E52-BCB1-963CC7682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5601" y="1362075"/>
            <a:ext cx="7368948" cy="44481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6C4D686-26F1-4D79-882F-1121F1EFB004}"/>
              </a:ext>
            </a:extLst>
          </p:cNvPr>
          <p:cNvSpPr>
            <a:spLocks noGrp="1"/>
          </p:cNvSpPr>
          <p:nvPr/>
        </p:nvSpPr>
        <p:spPr>
          <a:xfrm>
            <a:off x="8801100" y="1504950"/>
            <a:ext cx="2895600" cy="4000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pPr>
            <a:r>
              <a:t>Interpretation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DD49D-CD1B-409D-8CD3-0F956656100D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Total storage: −7.51 mm/year.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28DC2D-5FC5-46EB-90AA-F016FFCB06C8}"/>
              </a:ext>
            </a:extLst>
          </p:cNvPr>
          <p:cNvSpPr>
            <a:spLocks noGrp="1"/>
          </p:cNvSpPr>
          <p:nvPr/>
        </p:nvSpPr>
        <p:spPr>
          <a:xfrm>
            <a:off x="8801100" y="3419475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Derived groundwater: −6.84 mm/year.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AD663F-9CF2-4D9C-8189-0CDC3F13DF0E}"/>
              </a:ext>
            </a:extLst>
          </p:cNvPr>
          <p:cNvSpPr>
            <a:spLocks noGrp="1"/>
          </p:cNvSpPr>
          <p:nvPr/>
        </p:nvSpPr>
        <p:spPr>
          <a:xfrm>
            <a:off x="8801100" y="4743450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Wet-year recovery can occur within a longer decline.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57B4C8-1200-40B2-84CC-30B6986D7A9E}"/>
              </a:ext>
            </a:extLst>
          </p:cNvPr>
          <p:cNvSpPr>
            <a:spLocks noGrp="1"/>
          </p:cNvSpPr>
          <p:nvPr/>
        </p:nvSpPr>
        <p:spPr>
          <a:xfrm>
            <a:off x="476250" y="6057900"/>
            <a:ext cx="11049000" cy="2857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See the report for dates, sample counts and uncertainty.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911A69-E722-4BDE-8A1E-4B7EB57B93E4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E7DD67-A9C5-4069-9907-1A2817AE933F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10 / 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5CFFCF-1570-4A0F-9A84-F21CD6539C83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National storage declines</a:t>
            </a:r>
          </a:p>
        </p:txBody>
      </p:sp>
    </p:spTree>
    <p:extLst>
      <p:ext uri="{BB962C8B-B14F-4D97-AF65-F5344CB8AC3E}">
        <p14:creationId xmlns:p14="http://schemas.microsoft.com/office/powerpoint/2010/main" val="1003505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BE2084F-0ADE-4C2E-96B7-8C56EC57E6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7D0944-0D02-4EBD-884B-3E7C2EB96896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4191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5E5704-F7B0-4B55-8C09-67D1B2FF9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44025" y="1362075"/>
            <a:ext cx="6532100" cy="44481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EA4BB4C-405B-4E36-BF6D-EAD89A8327BA}"/>
              </a:ext>
            </a:extLst>
          </p:cNvPr>
          <p:cNvSpPr>
            <a:spLocks noGrp="1"/>
          </p:cNvSpPr>
          <p:nvPr/>
        </p:nvSpPr>
        <p:spPr>
          <a:xfrm>
            <a:off x="8801100" y="1504950"/>
            <a:ext cx="2895600" cy="4000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pPr>
            <a:r>
              <a:t>Interpretation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BBAE4E-B8F1-4F53-B934-58BFAE71B035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Negative colours indicate declining storage.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5CA61A-33AF-4C57-B7EE-6A1DD03FA874}"/>
              </a:ext>
            </a:extLst>
          </p:cNvPr>
          <p:cNvSpPr>
            <a:spLocks noGrp="1"/>
          </p:cNvSpPr>
          <p:nvPr/>
        </p:nvSpPr>
        <p:spPr>
          <a:xfrm>
            <a:off x="8801100" y="3419475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Use the map for regional screening; neighbouring basins share gravity support.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4574BA-CA96-4726-9207-8DAC6A4562A0}"/>
              </a:ext>
            </a:extLst>
          </p:cNvPr>
          <p:cNvSpPr>
            <a:spLocks noGrp="1"/>
          </p:cNvSpPr>
          <p:nvPr/>
        </p:nvSpPr>
        <p:spPr>
          <a:xfrm>
            <a:off x="476250" y="6057900"/>
            <a:ext cx="11049000" cy="2857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See the report for dates, sample counts and uncertainty.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7E9464-30FA-4B4E-B183-D7A42C64B740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8A297-1872-4F57-BB82-6DC40F8518D0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11 / 32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C136E0-93DE-48DD-94CF-B75C522C7C14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Trend magnitude varies across basins</a:t>
            </a:r>
          </a:p>
        </p:txBody>
      </p:sp>
    </p:spTree>
    <p:extLst>
      <p:ext uri="{BB962C8B-B14F-4D97-AF65-F5344CB8AC3E}">
        <p14:creationId xmlns:p14="http://schemas.microsoft.com/office/powerpoint/2010/main" val="1503299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261DD8E-9451-4B85-9363-4055A9EE2F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E60C42-8197-4DB8-A450-745E22DF4BA3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4572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4096EC-694A-416D-9DC4-D9BE9BD84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000" y="1694422"/>
            <a:ext cx="8058150" cy="378348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50BAB4D-D962-4D1E-B727-B8FDA5CE7EF4}"/>
              </a:ext>
            </a:extLst>
          </p:cNvPr>
          <p:cNvSpPr>
            <a:spLocks noGrp="1"/>
          </p:cNvSpPr>
          <p:nvPr/>
        </p:nvSpPr>
        <p:spPr>
          <a:xfrm>
            <a:off x="8801100" y="1504950"/>
            <a:ext cx="2895600" cy="4000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pPr>
            <a:r>
              <a:t>Interpretation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DEBE0B-CA00-4E5C-BD18-4623E765D514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National decline persists in both chains.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BDA41-9890-4947-9ABC-D44368630A1B}"/>
              </a:ext>
            </a:extLst>
          </p:cNvPr>
          <p:cNvSpPr>
            <a:spLocks noGrp="1"/>
          </p:cNvSpPr>
          <p:nvPr/>
        </p:nvSpPr>
        <p:spPr>
          <a:xfrm>
            <a:off x="8801100" y="3419475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Basin rank agreement is weak: 0.138 for total and 0.027 for groundwater.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E46097-010C-4498-B9DD-7E69C11D1A49}"/>
              </a:ext>
            </a:extLst>
          </p:cNvPr>
          <p:cNvSpPr>
            <a:spLocks noGrp="1"/>
          </p:cNvSpPr>
          <p:nvPr/>
        </p:nvSpPr>
        <p:spPr>
          <a:xfrm>
            <a:off x="476250" y="6057900"/>
            <a:ext cx="11049000" cy="2857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See the report for dates, sample counts and uncertainty.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5C6599-DEE4-41B0-9821-38A05E28D3BA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C3E0E-BB8D-480F-88D5-C38DC66DE4D4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12 / 32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EAB790-2FEF-4046-83EA-CE68A4DD71DF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Basin rankings depend on the processing chain</a:t>
            </a:r>
          </a:p>
        </p:txBody>
      </p:sp>
    </p:spTree>
    <p:extLst>
      <p:ext uri="{BB962C8B-B14F-4D97-AF65-F5344CB8AC3E}">
        <p14:creationId xmlns:p14="http://schemas.microsoft.com/office/powerpoint/2010/main" val="877270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DC74F8E-8478-43D5-A87E-48C9DCED9F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7F5ADD-73A0-419D-8653-636E08560AF0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4953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B06F67-FDA2-4F54-94F1-B9333052D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000" y="1759504"/>
            <a:ext cx="8058150" cy="365331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0938DC2-03EF-444B-A7E6-C17DC2344AE9}"/>
              </a:ext>
            </a:extLst>
          </p:cNvPr>
          <p:cNvSpPr>
            <a:spLocks noGrp="1"/>
          </p:cNvSpPr>
          <p:nvPr/>
        </p:nvSpPr>
        <p:spPr>
          <a:xfrm>
            <a:off x="8801100" y="1504950"/>
            <a:ext cx="2895600" cy="4000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pPr>
            <a:r>
              <a:t>Interpretation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EB42FD-4AB9-49D2-98BC-0CA9A1B7BAFA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Rainfall and potential ET are the model inputs.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14D68D-DC04-42F5-85FF-5FB862B1C2EB}"/>
              </a:ext>
            </a:extLst>
          </p:cNvPr>
          <p:cNvSpPr>
            <a:spLocks noGrp="1"/>
          </p:cNvSpPr>
          <p:nvPr/>
        </p:nvSpPr>
        <p:spPr>
          <a:xfrm>
            <a:off x="8801100" y="3419475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These are monthly fluxes; they are not stored water.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14598B-39B6-49E6-A827-0011213409D7}"/>
              </a:ext>
            </a:extLst>
          </p:cNvPr>
          <p:cNvSpPr>
            <a:spLocks noGrp="1"/>
          </p:cNvSpPr>
          <p:nvPr/>
        </p:nvSpPr>
        <p:spPr>
          <a:xfrm>
            <a:off x="476250" y="6057900"/>
            <a:ext cx="11049000" cy="2857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See the report for dates, sample counts and uncertainty.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157585-607A-4286-8465-B15C355BCE56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BE2821-BA0B-4D0F-B2AD-3C2B62AA1CAF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13 / 32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6060D-F9BE-48E5-8FA6-D40761101C7B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Rainfall and atmospheric demand vary in space</a:t>
            </a:r>
          </a:p>
        </p:txBody>
      </p:sp>
    </p:spTree>
    <p:extLst>
      <p:ext uri="{BB962C8B-B14F-4D97-AF65-F5344CB8AC3E}">
        <p14:creationId xmlns:p14="http://schemas.microsoft.com/office/powerpoint/2010/main" val="373824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CE1535F-405B-4A22-9B81-2BD3871C24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412E93-AEE5-407E-A928-822AAF350DE1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5334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99AF5F-51A3-4B9C-B34D-BF8FB61CB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97347" y="1362075"/>
            <a:ext cx="5425457" cy="44481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08603BD-41D0-4947-B0D8-D0B4A479DCFF}"/>
              </a:ext>
            </a:extLst>
          </p:cNvPr>
          <p:cNvSpPr>
            <a:spLocks noGrp="1"/>
          </p:cNvSpPr>
          <p:nvPr/>
        </p:nvSpPr>
        <p:spPr>
          <a:xfrm>
            <a:off x="8801100" y="1504950"/>
            <a:ext cx="2895600" cy="4000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pPr>
            <a:r>
              <a:t>Interpretation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356F15-80E4-4308-98E0-9AFF48835EB6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Blue boxes show rainfall by month. Pink shows mean storage on the right axis.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AAB0B5-B1F0-4DBF-B3FB-00B1C638AF4C}"/>
              </a:ext>
            </a:extLst>
          </p:cNvPr>
          <p:cNvSpPr>
            <a:spLocks noGrp="1"/>
          </p:cNvSpPr>
          <p:nvPr/>
        </p:nvSpPr>
        <p:spPr>
          <a:xfrm>
            <a:off x="8801100" y="3419475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Storage integrates preceding rainfall and losses. Six geographical examples are shown.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0011A4-39E3-465F-B863-96221171E2FC}"/>
              </a:ext>
            </a:extLst>
          </p:cNvPr>
          <p:cNvSpPr>
            <a:spLocks noGrp="1"/>
          </p:cNvSpPr>
          <p:nvPr/>
        </p:nvSpPr>
        <p:spPr>
          <a:xfrm>
            <a:off x="476250" y="6057900"/>
            <a:ext cx="11049000" cy="2857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See the report for dates, sample counts and uncertainty.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48F12F-18B0-46FB-942F-3F14EBEFD1B0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170CD6-7170-45B2-974F-2CF29F3FBA49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14 / 32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486A9E-6349-4C08-B575-E823830B678D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Storage responds to the seasonal water balance</a:t>
            </a:r>
          </a:p>
        </p:txBody>
      </p:sp>
    </p:spTree>
    <p:extLst>
      <p:ext uri="{BB962C8B-B14F-4D97-AF65-F5344CB8AC3E}">
        <p14:creationId xmlns:p14="http://schemas.microsoft.com/office/powerpoint/2010/main" val="253465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91F552C-D637-4338-9B29-174E0EFE51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C11A37-485C-47CE-9C0C-21A9D14D15F5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5715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015940-CCC0-4769-BCC6-13F065FA6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5601" y="1362075"/>
            <a:ext cx="7368948" cy="44481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3F18B1C-E95E-4736-BA45-4F26EE24E856}"/>
              </a:ext>
            </a:extLst>
          </p:cNvPr>
          <p:cNvSpPr>
            <a:spLocks noGrp="1"/>
          </p:cNvSpPr>
          <p:nvPr/>
        </p:nvSpPr>
        <p:spPr>
          <a:xfrm>
            <a:off x="8801100" y="1504950"/>
            <a:ext cx="2895600" cy="4000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pPr>
            <a:r>
              <a:t>Interpretation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028140-B457-4206-9AF3-E0E6714F1A9A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Shaded years are unseen test data.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5AA426-10E2-4915-9E37-0F01A83A4DC7}"/>
              </a:ext>
            </a:extLst>
          </p:cNvPr>
          <p:cNvSpPr>
            <a:spLocks noGrp="1"/>
          </p:cNvSpPr>
          <p:nvPr/>
        </p:nvSpPr>
        <p:spPr>
          <a:xfrm>
            <a:off x="8801100" y="3419475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High agreement evaluates the parent model; it does not prove climate-only observational accuracy.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2F13DB-98CD-4994-89B6-D588ECC39892}"/>
              </a:ext>
            </a:extLst>
          </p:cNvPr>
          <p:cNvSpPr>
            <a:spLocks noGrp="1"/>
          </p:cNvSpPr>
          <p:nvPr/>
        </p:nvSpPr>
        <p:spPr>
          <a:xfrm>
            <a:off x="476250" y="6057900"/>
            <a:ext cx="11049000" cy="2857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See the report for dates, sample counts and uncertainty.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3D7E9C-079F-4F22-8BCA-3A513D5523B4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CA2152-FF43-4851-A267-5182671EB21B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15 / 32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899E06-9861-4313-9019-F3252054F36B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Weather reconstructs the naturalized parent</a:t>
            </a:r>
          </a:p>
        </p:txBody>
      </p:sp>
    </p:spTree>
    <p:extLst>
      <p:ext uri="{BB962C8B-B14F-4D97-AF65-F5344CB8AC3E}">
        <p14:creationId xmlns:p14="http://schemas.microsoft.com/office/powerpoint/2010/main" val="1264133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B3F40CD-2FAB-43FC-9AA2-297047F0E5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48A5CF-7E42-45AD-891E-F1BE9FC094A3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6096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3D79D7-3876-42D3-8C1B-F1BA1E770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97121" y="1362075"/>
            <a:ext cx="5425909" cy="44481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DBEB170-1BEA-45FA-BF5C-ADEDFFC7E038}"/>
              </a:ext>
            </a:extLst>
          </p:cNvPr>
          <p:cNvSpPr>
            <a:spLocks noGrp="1"/>
          </p:cNvSpPr>
          <p:nvPr/>
        </p:nvSpPr>
        <p:spPr>
          <a:xfrm>
            <a:off x="8801100" y="1504950"/>
            <a:ext cx="2895600" cy="4000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pPr>
            <a:r>
              <a:t>Interpretation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3907CB-9E31-48F5-9BF5-7DFB239659AA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The grey line is perfect agreement.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EE5FD3-5A23-493B-B61A-B2FC1A6D2B27}"/>
              </a:ext>
            </a:extLst>
          </p:cNvPr>
          <p:cNvSpPr>
            <a:spLocks noGrp="1"/>
          </p:cNvSpPr>
          <p:nvPr/>
        </p:nvSpPr>
        <p:spPr>
          <a:xfrm>
            <a:off x="8801100" y="3419475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RMSE is error in mm; NSE compares error with a mean benchmark. All 22 basin scores are reported.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F8EE08-B7F8-4DC0-A9AC-CDCF8DA5A474}"/>
              </a:ext>
            </a:extLst>
          </p:cNvPr>
          <p:cNvSpPr>
            <a:spLocks noGrp="1"/>
          </p:cNvSpPr>
          <p:nvPr/>
        </p:nvSpPr>
        <p:spPr>
          <a:xfrm>
            <a:off x="476250" y="6057900"/>
            <a:ext cx="11049000" cy="2857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See the report for dates, sample counts and uncertainty.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A71C70-4B87-4245-AE6D-747EF41A4E72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9CE741-EEF7-4928-BFF4-B6AEE8F389EC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16 / 32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6AD12D-4EC1-4E79-88B6-ECEABD23BEB8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Held-out predictions are close to their target</a:t>
            </a:r>
          </a:p>
        </p:txBody>
      </p:sp>
    </p:spTree>
    <p:extLst>
      <p:ext uri="{BB962C8B-B14F-4D97-AF65-F5344CB8AC3E}">
        <p14:creationId xmlns:p14="http://schemas.microsoft.com/office/powerpoint/2010/main" val="215388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0475731-27F7-4BE1-8F7B-3299A037F1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5DADC1-2486-44F9-8742-BBC31A9D156A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6477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2FF5D9-5517-49F1-9132-01A833AAE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74438" y="1362075"/>
            <a:ext cx="6471275" cy="44481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E0FA30B-4300-458C-87FE-CDBEB0277D91}"/>
              </a:ext>
            </a:extLst>
          </p:cNvPr>
          <p:cNvSpPr>
            <a:spLocks noGrp="1"/>
          </p:cNvSpPr>
          <p:nvPr/>
        </p:nvSpPr>
        <p:spPr>
          <a:xfrm>
            <a:off x="8801100" y="1504950"/>
            <a:ext cx="2895600" cy="4000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pPr>
            <a:r>
              <a:t>Interpretation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D671E3-7EC3-4991-A068-D2404FB4F7D4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Higher NSE means better reconstruction.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3E1DC8-E309-446E-9563-16EB38CFBA21}"/>
              </a:ext>
            </a:extLst>
          </p:cNvPr>
          <p:cNvSpPr>
            <a:spLocks noGrp="1"/>
          </p:cNvSpPr>
          <p:nvPr/>
        </p:nvSpPr>
        <p:spPr>
          <a:xfrm>
            <a:off x="8801100" y="3419475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Anomaly skill removes the usual seasonal cycle, giving a stricter test.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57B7A9-383E-4588-9A8B-CDD799C577F1}"/>
              </a:ext>
            </a:extLst>
          </p:cNvPr>
          <p:cNvSpPr>
            <a:spLocks noGrp="1"/>
          </p:cNvSpPr>
          <p:nvPr/>
        </p:nvSpPr>
        <p:spPr>
          <a:xfrm>
            <a:off x="476250" y="6057900"/>
            <a:ext cx="11049000" cy="2857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See the report for dates, sample counts and uncertainty.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EB13D2-0EEA-4A71-8ACF-B1B8FF6D653E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0A18A6-9915-4A52-8F44-7B25142AC67C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17 / 32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6AF408-4F3E-4F33-B20E-005CA5E5ECC5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Anomaly skill is not spatially uniform</a:t>
            </a:r>
          </a:p>
        </p:txBody>
      </p:sp>
    </p:spTree>
    <p:extLst>
      <p:ext uri="{BB962C8B-B14F-4D97-AF65-F5344CB8AC3E}">
        <p14:creationId xmlns:p14="http://schemas.microsoft.com/office/powerpoint/2010/main" val="3022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848383-9407-464C-82F1-09D6263EAA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C8287A-E109-416A-AA66-0D47298C0CC8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6858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3887C0-0746-4E49-963A-3CF39E0F2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000" y="1819950"/>
            <a:ext cx="8058150" cy="35324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6330676-445E-40C8-9EA5-3BDF2815F888}"/>
              </a:ext>
            </a:extLst>
          </p:cNvPr>
          <p:cNvSpPr>
            <a:spLocks noGrp="1"/>
          </p:cNvSpPr>
          <p:nvPr/>
        </p:nvSpPr>
        <p:spPr>
          <a:xfrm>
            <a:off x="8801100" y="1504950"/>
            <a:ext cx="2895600" cy="4000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pPr>
            <a:r>
              <a:t>Interpretation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330BA8-48C9-4BCA-A613-3DBBF7BC16EE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Past weather adds information beyond current rainfall and PET.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F021C7-CA3B-4BCB-9C50-6AE626D6F929}"/>
              </a:ext>
            </a:extLst>
          </p:cNvPr>
          <p:cNvSpPr>
            <a:spLocks noGrp="1"/>
          </p:cNvSpPr>
          <p:nvPr/>
        </p:nvSpPr>
        <p:spPr>
          <a:xfrm>
            <a:off x="8801100" y="3419475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National anomaly NSE rises from 0.283 to 0.890 for total storage.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E69D52-D8D4-40C4-8A99-08031EEEED84}"/>
              </a:ext>
            </a:extLst>
          </p:cNvPr>
          <p:cNvSpPr>
            <a:spLocks noGrp="1"/>
          </p:cNvSpPr>
          <p:nvPr/>
        </p:nvSpPr>
        <p:spPr>
          <a:xfrm>
            <a:off x="476250" y="6057900"/>
            <a:ext cx="11049000" cy="2857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See the report for dates, sample counts and uncertainty.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940514-3915-41DF-A625-DE08579ADE06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73B05D-0ED2-488A-8776-A439CD58FBCD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18 / 32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6B5508-36E2-4F8D-BA04-D41E4BC1322A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Climate memory improves reconstruction</a:t>
            </a:r>
          </a:p>
        </p:txBody>
      </p:sp>
    </p:spTree>
    <p:extLst>
      <p:ext uri="{BB962C8B-B14F-4D97-AF65-F5344CB8AC3E}">
        <p14:creationId xmlns:p14="http://schemas.microsoft.com/office/powerpoint/2010/main" val="291651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0D5322A-5D31-4FCE-8312-277571355D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4C5FB7-B1D8-4916-96AA-2DC3C4D340D9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7239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F25B07-0F1B-4C1A-A19D-B436D4279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000" y="2005908"/>
            <a:ext cx="8058150" cy="31605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0FD84D6-7C85-4D2B-A28B-6B51F63173E9}"/>
              </a:ext>
            </a:extLst>
          </p:cNvPr>
          <p:cNvSpPr>
            <a:spLocks noGrp="1"/>
          </p:cNvSpPr>
          <p:nvPr/>
        </p:nvSpPr>
        <p:spPr>
          <a:xfrm>
            <a:off x="8801100" y="1504950"/>
            <a:ext cx="2895600" cy="4000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pPr>
            <a:r>
              <a:t>Interpretation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CB96F0-73EC-4634-A338-87C8E228D796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Groundwater anomaly NSE is −1.067 in 2022.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E757CB-92AF-4C63-AFE0-2AA3B14B73DF}"/>
              </a:ext>
            </a:extLst>
          </p:cNvPr>
          <p:cNvSpPr>
            <a:spLocks noGrp="1"/>
          </p:cNvSpPr>
          <p:nvPr/>
        </p:nvSpPr>
        <p:spPr>
          <a:xfrm>
            <a:off x="8801100" y="3419475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The model performs worse than the mean benchmark in that year; the failure is retained.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742DD0-E4C5-47FB-9BCD-9108A47133D5}"/>
              </a:ext>
            </a:extLst>
          </p:cNvPr>
          <p:cNvSpPr>
            <a:spLocks noGrp="1"/>
          </p:cNvSpPr>
          <p:nvPr/>
        </p:nvSpPr>
        <p:spPr>
          <a:xfrm>
            <a:off x="476250" y="6057900"/>
            <a:ext cx="11049000" cy="2857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See the report for dates, sample counts and uncertainty.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6438D8-6B7C-4E99-91B0-A6AFB05AD059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390621-DE08-4FD7-82DB-688684CEFD3A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19 / 32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EB87EB-B380-4CBB-8675-14F0D88CAE93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A pooled score can hide a weak year</a:t>
            </a:r>
          </a:p>
        </p:txBody>
      </p:sp>
    </p:spTree>
    <p:extLst>
      <p:ext uri="{BB962C8B-B14F-4D97-AF65-F5344CB8AC3E}">
        <p14:creationId xmlns:p14="http://schemas.microsoft.com/office/powerpoint/2010/main" val="15197950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D0909A8-B78A-4480-901D-A50E96C29C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AF413A-4850-443A-BBDC-4EE1EAB2DEDA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7620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F8DF71-1B21-431F-8C98-8C8E08AD7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000" y="1566281"/>
            <a:ext cx="8058150" cy="403976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E647005-77E2-434A-BD1E-93F2AE60DD83}"/>
              </a:ext>
            </a:extLst>
          </p:cNvPr>
          <p:cNvSpPr>
            <a:spLocks noGrp="1"/>
          </p:cNvSpPr>
          <p:nvPr/>
        </p:nvSpPr>
        <p:spPr>
          <a:xfrm>
            <a:off x="8801100" y="1504950"/>
            <a:ext cx="2895600" cy="4000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pPr>
            <a:r>
              <a:t>Interpretation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8D04D2-030E-4EFA-B753-04C15560EE2B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National r = 0.969; RMSE = 52.49 mm.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258BB7-1F92-4083-9ED2-B672B51F479B}"/>
              </a:ext>
            </a:extLst>
          </p:cNvPr>
          <p:cNvSpPr>
            <a:spLocks noGrp="1"/>
          </p:cNvSpPr>
          <p:nvPr/>
        </p:nvSpPr>
        <p:spPr>
          <a:xfrm>
            <a:off x="8801100" y="3419475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The comparison covers soil, canopy and snow only. It does not validate groundwater or human effects.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AEEFD5-5A33-4164-842E-B0A599D274CE}"/>
              </a:ext>
            </a:extLst>
          </p:cNvPr>
          <p:cNvSpPr>
            <a:spLocks noGrp="1"/>
          </p:cNvSpPr>
          <p:nvPr/>
        </p:nvSpPr>
        <p:spPr>
          <a:xfrm>
            <a:off x="476250" y="6057900"/>
            <a:ext cx="11049000" cy="2857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See the report for dates, sample counts and uncertainty.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A99CA2-10AD-4187-9A67-D1F231A898F7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07961E-DB49-4887-B451-7824CF731E81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20 / 32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0677E0-BDD0-4ECA-B23D-83D6CEDD4C5F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GLDAS checks matching land storage</a:t>
            </a:r>
          </a:p>
        </p:txBody>
      </p:sp>
    </p:spTree>
    <p:extLst>
      <p:ext uri="{BB962C8B-B14F-4D97-AF65-F5344CB8AC3E}">
        <p14:creationId xmlns:p14="http://schemas.microsoft.com/office/powerpoint/2010/main" val="1068905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8950064-A95F-4139-8CA5-AE566625D4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379A2C-8124-4A71-8A1E-934E2665C9F0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8001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01D9FD-EF95-4FC3-970E-CAAA2A02F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83694" y="1362075"/>
            <a:ext cx="6452763" cy="44481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BE6B604-0C78-4B59-A792-563A0DF05615}"/>
              </a:ext>
            </a:extLst>
          </p:cNvPr>
          <p:cNvSpPr>
            <a:spLocks noGrp="1"/>
          </p:cNvSpPr>
          <p:nvPr/>
        </p:nvSpPr>
        <p:spPr>
          <a:xfrm>
            <a:off x="8801100" y="1504950"/>
            <a:ext cx="2895600" cy="4000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pPr>
            <a:r>
              <a:t>Interpretation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AB0CEF-CC1A-4799-A129-F3BE6438E5B7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Higher NSE and lower RMSE mean closer agreement for the same land-storage target.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7975E1-A741-4778-AF0A-E7670575FF6D}"/>
              </a:ext>
            </a:extLst>
          </p:cNvPr>
          <p:cNvSpPr>
            <a:spLocks noGrp="1"/>
          </p:cNvSpPr>
          <p:nvPr/>
        </p:nvSpPr>
        <p:spPr>
          <a:xfrm>
            <a:off x="8801100" y="3419475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Shared climate and component dependence limit independence.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478499-B11B-4C95-9D3A-FEFE3F70794D}"/>
              </a:ext>
            </a:extLst>
          </p:cNvPr>
          <p:cNvSpPr>
            <a:spLocks noGrp="1"/>
          </p:cNvSpPr>
          <p:nvPr/>
        </p:nvSpPr>
        <p:spPr>
          <a:xfrm>
            <a:off x="476250" y="6057900"/>
            <a:ext cx="11049000" cy="2857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See the report for dates, sample counts and uncertainty.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5BF00A-70C7-4B86-A492-48F113ABC7CF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BEFD64-9531-4B2A-B569-ED7369BCD36A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21 / 32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C5B5C3-8A7C-4499-A314-FB0B76419495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GLDAS agreement differs among basins</a:t>
            </a:r>
          </a:p>
        </p:txBody>
      </p:sp>
    </p:spTree>
    <p:extLst>
      <p:ext uri="{BB962C8B-B14F-4D97-AF65-F5344CB8AC3E}">
        <p14:creationId xmlns:p14="http://schemas.microsoft.com/office/powerpoint/2010/main" val="928572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0D9AE7D-953C-49C1-AC0E-E31DA1D491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05FED3-D378-43D7-99FB-F4903F86CDF8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8382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EDB5A8-85D1-46D5-92F9-28A9F0D20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7878" y="1362075"/>
            <a:ext cx="7524394" cy="44481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25ED5E5-AF09-40EF-A011-0F1FE329258B}"/>
              </a:ext>
            </a:extLst>
          </p:cNvPr>
          <p:cNvSpPr>
            <a:spLocks noGrp="1"/>
          </p:cNvSpPr>
          <p:nvPr/>
        </p:nvSpPr>
        <p:spPr>
          <a:xfrm>
            <a:off x="8801100" y="1504950"/>
            <a:ext cx="2895600" cy="4000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pPr>
            <a:r>
              <a:t>Interpretation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8EA48E-6640-4F9A-AE66-B80DDD4204DD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The residual closely follows the unexplained gap.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92AACE-6A80-49A6-BA6E-E4105D5B9BEE}"/>
              </a:ext>
            </a:extLst>
          </p:cNvPr>
          <p:cNvSpPr>
            <a:spLocks noGrp="1"/>
          </p:cNvSpPr>
          <p:nvPr/>
        </p:nvSpPr>
        <p:spPr>
          <a:xfrm>
            <a:off x="8801100" y="3419475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The entire residual cannot be treated as measured human depletion.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77311E-8344-489A-B518-CF41EB688D9E}"/>
              </a:ext>
            </a:extLst>
          </p:cNvPr>
          <p:cNvSpPr>
            <a:spLocks noGrp="1"/>
          </p:cNvSpPr>
          <p:nvPr/>
        </p:nvSpPr>
        <p:spPr>
          <a:xfrm>
            <a:off x="476250" y="6057900"/>
            <a:ext cx="11049000" cy="2857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See the report for dates, sample counts and uncertainty.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61656C-14AF-4EFD-88F8-E2DA68251E9E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72533E-434A-44F5-B366-3E1956F45BCD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22 / 32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96F45F-EC44-4A2C-BCC9-C3B7DB74AF78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The residual is larger than the modeled human effect</a:t>
            </a:r>
          </a:p>
        </p:txBody>
      </p:sp>
    </p:spTree>
    <p:extLst>
      <p:ext uri="{BB962C8B-B14F-4D97-AF65-F5344CB8AC3E}">
        <p14:creationId xmlns:p14="http://schemas.microsoft.com/office/powerpoint/2010/main" val="1724068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BCB298F-3B9C-4270-BE97-8D9A41E23D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D4E89D-9B49-4903-9A51-8FD40D43F7A5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8763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E2603E-7CEB-4528-9B04-3BA800AA6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42208" y="1362075"/>
            <a:ext cx="6535734" cy="44481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5043EC3-55F1-4550-9FFC-0F199BB44F70}"/>
              </a:ext>
            </a:extLst>
          </p:cNvPr>
          <p:cNvSpPr>
            <a:spLocks noGrp="1"/>
          </p:cNvSpPr>
          <p:nvPr/>
        </p:nvSpPr>
        <p:spPr>
          <a:xfrm>
            <a:off x="8801100" y="1504950"/>
            <a:ext cx="2895600" cy="4000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pPr>
            <a:r>
              <a:t>Interpretation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C3F67B-EA21-4963-8F84-1230BF1650A8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Negative rates mean observations decline relative to the naturalized baseline.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E0AED7-3F11-40E0-BDB7-AB2811B95DB8}"/>
              </a:ext>
            </a:extLst>
          </p:cNvPr>
          <p:cNvSpPr>
            <a:spLocks noGrp="1"/>
          </p:cNvSpPr>
          <p:nvPr/>
        </p:nvSpPr>
        <p:spPr>
          <a:xfrm>
            <a:off x="8801100" y="3419475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Human influence and model or measurement errors can both contribute.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881A3F-436B-44BB-9C1E-89C0AF202C17}"/>
              </a:ext>
            </a:extLst>
          </p:cNvPr>
          <p:cNvSpPr>
            <a:spLocks noGrp="1"/>
          </p:cNvSpPr>
          <p:nvPr/>
        </p:nvSpPr>
        <p:spPr>
          <a:xfrm>
            <a:off x="476250" y="6057900"/>
            <a:ext cx="11049000" cy="2857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See the report for dates, sample counts and uncertainty.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046709-EFD0-4BFA-85F5-128D3A3F91A6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EBE22A-C5B5-4EF8-97CA-86A663362572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23 / 32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B18DCF-BE2D-48A9-98B3-1E1C02A4E00E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Residual trends identify where to investigate</a:t>
            </a:r>
          </a:p>
        </p:txBody>
      </p:sp>
    </p:spTree>
    <p:extLst>
      <p:ext uri="{BB962C8B-B14F-4D97-AF65-F5344CB8AC3E}">
        <p14:creationId xmlns:p14="http://schemas.microsoft.com/office/powerpoint/2010/main" val="1373646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12D33F-4010-4CFC-8DA4-F87C509387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2D09F4-EFD4-4525-8466-A35C00795239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9144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DE02B8-B8F3-4042-A542-81E07371D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000" y="1387330"/>
            <a:ext cx="8058150" cy="439766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78BFF09-4B99-4040-A14F-4F7F99F9F0EF}"/>
              </a:ext>
            </a:extLst>
          </p:cNvPr>
          <p:cNvSpPr>
            <a:spLocks noGrp="1"/>
          </p:cNvSpPr>
          <p:nvPr/>
        </p:nvSpPr>
        <p:spPr>
          <a:xfrm>
            <a:off x="8801100" y="1504950"/>
            <a:ext cx="2895600" cy="4000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pPr>
            <a:r>
              <a:t>Interpretation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CA2BD6-DEF9-4EF1-86A5-DB8933D3C7B2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Climate and residual variability differ from year to year.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36B7EB-E3E6-4B97-A59A-ADFF4180AAE1}"/>
              </a:ext>
            </a:extLst>
          </p:cNvPr>
          <p:cNvSpPr>
            <a:spLocks noGrp="1"/>
          </p:cNvSpPr>
          <p:nvPr/>
        </p:nvSpPr>
        <p:spPr>
          <a:xfrm>
            <a:off x="8801100" y="3419475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These ratios need not add to one. They are not human-versus-climate percentages.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F48ED3-988F-481D-BD78-4EC5AB65E927}"/>
              </a:ext>
            </a:extLst>
          </p:cNvPr>
          <p:cNvSpPr>
            <a:spLocks noGrp="1"/>
          </p:cNvSpPr>
          <p:nvPr/>
        </p:nvSpPr>
        <p:spPr>
          <a:xfrm>
            <a:off x="476250" y="6057900"/>
            <a:ext cx="11049000" cy="2857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See the report for dates, sample counts and uncertainty.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306BA8-F526-4CD3-945C-9325FCF1C552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CFEF9D-5285-47DC-BBB1-DC68FA684CDE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24 / 32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D05704-67AA-4202-A4FA-BEAC0F58F3DD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Variability changes through time</a:t>
            </a:r>
          </a:p>
        </p:txBody>
      </p:sp>
    </p:spTree>
    <p:extLst>
      <p:ext uri="{BB962C8B-B14F-4D97-AF65-F5344CB8AC3E}">
        <p14:creationId xmlns:p14="http://schemas.microsoft.com/office/powerpoint/2010/main" val="11113942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9F7FF8A-5F86-48AC-BB66-A130814053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E08FEC-8C18-4F06-8978-882AEF7FB7EB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9525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C2CF30-F8B3-49C5-9B2D-D60AAC996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000" y="2101187"/>
            <a:ext cx="8058150" cy="296995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494647A-E42B-49EA-96FD-5B354EF6C508}"/>
              </a:ext>
            </a:extLst>
          </p:cNvPr>
          <p:cNvSpPr>
            <a:spLocks noGrp="1"/>
          </p:cNvSpPr>
          <p:nvPr/>
        </p:nvSpPr>
        <p:spPr>
          <a:xfrm>
            <a:off x="8801100" y="1504950"/>
            <a:ext cx="2895600" cy="4000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pPr>
            <a:r>
              <a:t>Interpretation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D8BCA3-13F8-4092-BF3F-75148DFBD0EB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At six months, baseline r is about −0.53; residual r is about −0.14.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A84CCF-1817-4403-91E5-85872F13670B}"/>
              </a:ext>
            </a:extLst>
          </p:cNvPr>
          <p:cNvSpPr>
            <a:spLocks noGrp="1"/>
          </p:cNvSpPr>
          <p:nvPr/>
        </p:nvSpPr>
        <p:spPr>
          <a:xfrm>
            <a:off x="8801100" y="3419475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No basin test passes the conservative FDR screen. This does not prove no remaining climate effect.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005B79-F3BA-4C77-87E1-ABD7169AE74D}"/>
              </a:ext>
            </a:extLst>
          </p:cNvPr>
          <p:cNvSpPr>
            <a:spLocks noGrp="1"/>
          </p:cNvSpPr>
          <p:nvPr/>
        </p:nvSpPr>
        <p:spPr>
          <a:xfrm>
            <a:off x="476250" y="6057900"/>
            <a:ext cx="11049000" cy="2857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See the report for dates, sample counts and uncertainty.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DE77B8-D855-4765-A0DA-C097D025C0EC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0CF096-546D-4475-B580-9672027691F8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25 / 32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8740FB-5883-468C-BBD1-71B110635CF9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ENSO is clearer in the climate baseline</a:t>
            </a:r>
          </a:p>
        </p:txBody>
      </p:sp>
    </p:spTree>
    <p:extLst>
      <p:ext uri="{BB962C8B-B14F-4D97-AF65-F5344CB8AC3E}">
        <p14:creationId xmlns:p14="http://schemas.microsoft.com/office/powerpoint/2010/main" val="12432608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50C6FD3-44AF-4044-89D1-D0CB917BB9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C575D0-0C9B-4E3A-99D7-F0ECA3EA3486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9906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041CE0-FFF6-46D6-AD2A-5EC34CA53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000" y="2167913"/>
            <a:ext cx="8058150" cy="28364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B5EA7EC-ADBA-4AEA-AEF8-07ACD9F7D6A2}"/>
              </a:ext>
            </a:extLst>
          </p:cNvPr>
          <p:cNvSpPr>
            <a:spLocks noGrp="1"/>
          </p:cNvSpPr>
          <p:nvPr/>
        </p:nvSpPr>
        <p:spPr>
          <a:xfrm>
            <a:off x="8801100" y="1504950"/>
            <a:ext cx="2895600" cy="4000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pPr>
            <a:r>
              <a:t>Interpretation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33552B-D321-4716-8AF3-7FD928BCA51A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The model is frozen across all ENSO phases.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B2406A-C26B-485B-8AEF-4B55589C9F30}"/>
              </a:ext>
            </a:extLst>
          </p:cNvPr>
          <p:cNvSpPr>
            <a:spLocks noGrp="1"/>
          </p:cNvSpPr>
          <p:nvPr/>
        </p:nvSpPr>
        <p:spPr>
          <a:xfrm>
            <a:off x="8801100" y="3419475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Months share episodes, so these are reconstruction comparisons rather than independent event forecasts.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0D1076-18AE-4328-A0C7-9D0FB59C74C7}"/>
              </a:ext>
            </a:extLst>
          </p:cNvPr>
          <p:cNvSpPr>
            <a:spLocks noGrp="1"/>
          </p:cNvSpPr>
          <p:nvPr/>
        </p:nvSpPr>
        <p:spPr>
          <a:xfrm>
            <a:off x="476250" y="6057900"/>
            <a:ext cx="11049000" cy="2857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See the report for dates, sample counts and uncertainty.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829FCF-647A-4D9E-82F8-1BB7FDAB3BA7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61A435-26DB-4D50-88C2-2B9BEBD530D7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26 / 32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412180-8781-4375-96E6-97B85D56F359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ENSO phase scores remain conditional</a:t>
            </a:r>
          </a:p>
        </p:txBody>
      </p:sp>
    </p:spTree>
    <p:extLst>
      <p:ext uri="{BB962C8B-B14F-4D97-AF65-F5344CB8AC3E}">
        <p14:creationId xmlns:p14="http://schemas.microsoft.com/office/powerpoint/2010/main" val="19045997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551079B-CB83-4B92-8EBE-C615E97E1E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40AAE3-AFA4-4175-831A-EB4A503A65CD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10287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4E7C36-193B-457D-8163-13672DCE6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1877" y="1362075"/>
            <a:ext cx="7376395" cy="44481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EC3984-CEC4-43F9-997D-1C23C4B994DE}"/>
              </a:ext>
            </a:extLst>
          </p:cNvPr>
          <p:cNvSpPr>
            <a:spLocks noGrp="1"/>
          </p:cNvSpPr>
          <p:nvPr/>
        </p:nvSpPr>
        <p:spPr>
          <a:xfrm>
            <a:off x="8801100" y="1504950"/>
            <a:ext cx="2895600" cy="4000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pPr>
            <a:r>
              <a:t>Interpretation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AD55FF-041B-47EF-9B81-B8CCFB91992F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National groundwater-residual / head r is only 0.037.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1B6D6C-DF33-4B49-993D-8DC974E78EA6}"/>
              </a:ext>
            </a:extLst>
          </p:cNvPr>
          <p:cNvSpPr>
            <a:spLocks noGrp="1"/>
          </p:cNvSpPr>
          <p:nvPr/>
        </p:nvSpPr>
        <p:spPr>
          <a:xfrm>
            <a:off x="8801100" y="3419475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Head is a local water level, not regional water volume. The balanced-panel result is near zero.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48AB16-0F7D-441D-B223-BCAE280931AA}"/>
              </a:ext>
            </a:extLst>
          </p:cNvPr>
          <p:cNvSpPr>
            <a:spLocks noGrp="1"/>
          </p:cNvSpPr>
          <p:nvPr/>
        </p:nvSpPr>
        <p:spPr>
          <a:xfrm>
            <a:off x="476250" y="6057900"/>
            <a:ext cx="11049000" cy="2857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See the report for dates, sample counts and uncertainty.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AF1957-A738-4DBB-8CA7-EDB9A7D8B8DB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E7CD11-A74D-4DCE-84CC-8359E69E71BB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27 / 32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982EBC-FBCA-4AB0-B460-F386C9B642FF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Groundwater support is weak and uneven</a:t>
            </a:r>
          </a:p>
        </p:txBody>
      </p:sp>
    </p:spTree>
    <p:extLst>
      <p:ext uri="{BB962C8B-B14F-4D97-AF65-F5344CB8AC3E}">
        <p14:creationId xmlns:p14="http://schemas.microsoft.com/office/powerpoint/2010/main" val="9983595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3A9A37B-B2C0-497F-B5D3-C4B8B73E74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FC50AF-F287-403A-9985-3C13DCB68175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10668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276507-FA07-408D-BC4B-605EF43A0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000" y="2030040"/>
            <a:ext cx="8058150" cy="31122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288B753-113E-45EB-ACEA-63BC59E08A0C}"/>
              </a:ext>
            </a:extLst>
          </p:cNvPr>
          <p:cNvSpPr>
            <a:spLocks noGrp="1"/>
          </p:cNvSpPr>
          <p:nvPr/>
        </p:nvSpPr>
        <p:spPr>
          <a:xfrm>
            <a:off x="8801100" y="1504950"/>
            <a:ext cx="2895600" cy="4000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>
                <a:solidFill>
                  <a:srgbClr val="288B73"/>
                </a:solidFill>
                <a:latin typeface="Arial"/>
                <a:ea typeface="Arial"/>
                <a:cs typeface="Arial"/>
              </a:defRPr>
            </a:pPr>
            <a:r>
              <a:t>Interpretation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43919E-F758-4991-96B7-43022E3DD0AE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Adjusted r = 0.439 across 73 scene-supported months.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6E9714-BAEC-4335-BA17-D86EB139BA57}"/>
              </a:ext>
            </a:extLst>
          </p:cNvPr>
          <p:cNvSpPr>
            <a:spLocks noGrp="1"/>
          </p:cNvSpPr>
          <p:nvPr/>
        </p:nvSpPr>
        <p:spPr>
          <a:xfrm>
            <a:off x="8801100" y="3419475"/>
            <a:ext cx="2895600" cy="11906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Reservoirs respond to climate and operations together; this cannot validate the total human residual.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0507C2-192B-4D70-9571-143A7B8B34CA}"/>
              </a:ext>
            </a:extLst>
          </p:cNvPr>
          <p:cNvSpPr>
            <a:spLocks noGrp="1"/>
          </p:cNvSpPr>
          <p:nvPr/>
        </p:nvSpPr>
        <p:spPr>
          <a:xfrm>
            <a:off x="476250" y="6057900"/>
            <a:ext cx="11049000" cy="2857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See the report for dates, sample counts and uncertainty.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A47941-020F-447F-8CE5-381C1A7C26D0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F35CFB-DDA1-4B1C-847E-E89B449B9BFF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28 / 32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E48094-A1E5-474F-9573-6F6FDD03462F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Reservoirs support a surface-water component</a:t>
            </a:r>
          </a:p>
        </p:txBody>
      </p:sp>
    </p:spTree>
    <p:extLst>
      <p:ext uri="{BB962C8B-B14F-4D97-AF65-F5344CB8AC3E}">
        <p14:creationId xmlns:p14="http://schemas.microsoft.com/office/powerpoint/2010/main" val="20615655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4AD185-B760-455C-97AB-2AD70BE7F0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AF09B4-7D15-4D19-8B54-6B318853AFA1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11049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A6871A-2AEF-45D0-8842-B941085257D7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06125" cy="10953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The primary national records show declining total and groundwater storage.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E4CC42-D3A9-4AC3-A8E0-E629CD7E1359}"/>
              </a:ext>
            </a:extLst>
          </p:cNvPr>
          <p:cNvSpPr>
            <a:spLocks noGrp="1"/>
          </p:cNvSpPr>
          <p:nvPr/>
        </p:nvSpPr>
        <p:spPr>
          <a:xfrm>
            <a:off x="628650" y="2952750"/>
            <a:ext cx="10906125" cy="10953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Weather memory reconstructs the naturalized model well, with identifiable weak years.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D92301-87FA-43AD-98AB-0E1847181F47}"/>
              </a:ext>
            </a:extLst>
          </p:cNvPr>
          <p:cNvSpPr>
            <a:spLocks noGrp="1"/>
          </p:cNvSpPr>
          <p:nvPr/>
        </p:nvSpPr>
        <p:spPr>
          <a:xfrm>
            <a:off x="628650" y="4286250"/>
            <a:ext cx="10906125" cy="10953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The residual remains human influence plus unresolved discrepancy; independent evidence is limited.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E2962A-4ECD-41A9-A4D8-52A841911C20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Conclusion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CB5536-D81F-42CA-ACF3-14BCD6324CB4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29 / 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4A12B4-BC68-4158-BE58-2260780B9CBB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Conclusion what the study establishes</a:t>
            </a:r>
          </a:p>
        </p:txBody>
      </p:sp>
    </p:spTree>
    <p:extLst>
      <p:ext uri="{BB962C8B-B14F-4D97-AF65-F5344CB8AC3E}">
        <p14:creationId xmlns:p14="http://schemas.microsoft.com/office/powerpoint/2010/main" val="10480972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BFFCF2B-F594-4A47-849F-B63DEE5DDA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B04445-1D7F-4792-B7A5-A2EEABF44B69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11430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975309-0A29-4F32-9A02-A05A929F1D2B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06125" cy="10953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Storage detection is stronger than precise human attribution.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E476C1-4FA2-4B96-AE77-2AA6CD4A44E3}"/>
              </a:ext>
            </a:extLst>
          </p:cNvPr>
          <p:cNvSpPr>
            <a:spLocks noGrp="1"/>
          </p:cNvSpPr>
          <p:nvPr/>
        </p:nvSpPr>
        <p:spPr>
          <a:xfrm>
            <a:off x="628650" y="2952750"/>
            <a:ext cx="10906125" cy="10953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Product choice and monitoring coverage change local interpretation.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FCD2CA-DECA-4D01-BBEC-BB736B330253}"/>
              </a:ext>
            </a:extLst>
          </p:cNvPr>
          <p:cNvSpPr>
            <a:spLocks noGrp="1"/>
          </p:cNvSpPr>
          <p:nvPr/>
        </p:nvSpPr>
        <p:spPr>
          <a:xfrm>
            <a:off x="628650" y="4286250"/>
            <a:ext cx="10906125" cy="10953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Use basin results to prioritize investigation and monitoring, supported by the downloadable evidence.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820EDB-DC9A-41D2-AA0A-7BAA1E51B1FE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Discussion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CE8F5E-4B91-45B2-BBA1-806C060D82A6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30 / 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7A2DB1-05CE-4640-9E62-1BE58168A8F3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Discussion how to use these results</a:t>
            </a:r>
          </a:p>
        </p:txBody>
      </p:sp>
    </p:spTree>
    <p:extLst>
      <p:ext uri="{BB962C8B-B14F-4D97-AF65-F5344CB8AC3E}">
        <p14:creationId xmlns:p14="http://schemas.microsoft.com/office/powerpoint/2010/main" val="17583048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BB3F0E1-C32C-4C8A-8691-B848A45D2C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A91B9D-BDDE-43C8-8E71-3A9AAABABFAD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11811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71B342-E4DF-4330-BF92-493A9EDAA62E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06125" cy="10953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Obtain consistent monthly wells, aquifer properties and pumping records.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4B3002-9C7F-430C-A3FC-7D9005E8E7B9}"/>
              </a:ext>
            </a:extLst>
          </p:cNvPr>
          <p:cNvSpPr>
            <a:spLocks noGrp="1"/>
          </p:cNvSpPr>
          <p:nvPr/>
        </p:nvSpPr>
        <p:spPr>
          <a:xfrm>
            <a:off x="628650" y="2952750"/>
            <a:ext cx="10906125" cy="10953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Improve surface-water observations and matched GRACE spatial response.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DF1887-4664-4048-8966-6530DB702014}"/>
              </a:ext>
            </a:extLst>
          </p:cNvPr>
          <p:cNvSpPr>
            <a:spLocks noGrp="1"/>
          </p:cNvSpPr>
          <p:nvPr/>
        </p:nvSpPr>
        <p:spPr>
          <a:xfrm>
            <a:off x="628650" y="4286250"/>
            <a:ext cx="10906125" cy="10953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Test alternative naturalized models and longer climate-event records.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78685F-096A-4188-8431-97ADC2B891F6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Further work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AEAED5-42E9-49F0-8657-FD2A5F777BA4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31 / 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BC73DC-32E0-49E8-83DD-545D3E15C91C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Further work that would strengthen the study</a:t>
            </a:r>
          </a:p>
        </p:txBody>
      </p:sp>
    </p:spTree>
    <p:extLst>
      <p:ext uri="{BB962C8B-B14F-4D97-AF65-F5344CB8AC3E}">
        <p14:creationId xmlns:p14="http://schemas.microsoft.com/office/powerpoint/2010/main" val="5344011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EA0EE89-428F-439C-8BDB-D4946E3670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203E50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CF5D3F-FCA3-4D8E-BB34-76BECC8AA8D5}"/>
              </a:ext>
            </a:extLst>
          </p:cNvPr>
          <p:cNvSpPr>
            <a:spLocks noGrp="1"/>
          </p:cNvSpPr>
          <p:nvPr/>
        </p:nvSpPr>
        <p:spPr>
          <a:xfrm>
            <a:off x="0" y="1019175"/>
            <a:ext cx="12192000" cy="38100"/>
          </a:xfrm>
          <a:prstGeom prst="rect">
            <a:avLst/>
          </a:prstGeom>
          <a:solidFill>
            <a:srgbClr val="288B73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D37510-C364-4A85-8BD5-33E219B57A10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06125" cy="7239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Ji et al. (2025), climate reconstruction: doi:10.1080/17538947.2025.2557516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99BFB1-520E-4955-8F15-803D4A020A6D}"/>
              </a:ext>
            </a:extLst>
          </p:cNvPr>
          <p:cNvSpPr>
            <a:spLocks noGrp="1"/>
          </p:cNvSpPr>
          <p:nvPr/>
        </p:nvSpPr>
        <p:spPr>
          <a:xfrm>
            <a:off x="628650" y="2400300"/>
            <a:ext cx="10906125" cy="7239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Müller Schmied et al. (2024), WaterGAP: doi:10.5194/gmd-17-8817-2024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3346C2-1D51-46E9-B59B-9400AD19CDD0}"/>
              </a:ext>
            </a:extLst>
          </p:cNvPr>
          <p:cNvSpPr>
            <a:spLocks noGrp="1"/>
          </p:cNvSpPr>
          <p:nvPr/>
        </p:nvSpPr>
        <p:spPr>
          <a:xfrm>
            <a:off x="628650" y="3181350"/>
            <a:ext cx="10906125" cy="7239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Chueasa et al. (2024), Thai rainfall and ENSO: doi:10.1016/j.mex.2024.102954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DA5157-904B-499F-AD6B-47232FE2139B}"/>
              </a:ext>
            </a:extLst>
          </p:cNvPr>
          <p:cNvSpPr>
            <a:spLocks noGrp="1"/>
          </p:cNvSpPr>
          <p:nvPr/>
        </p:nvSpPr>
        <p:spPr>
          <a:xfrm>
            <a:off x="628650" y="3962400"/>
            <a:ext cx="10906125" cy="7239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Sharifi et al. (2025), spatial response: doi:10.5194/hess-29-6985-2025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7CF97B-36D5-4C37-8CCC-2C5C97AE2D96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0906125" cy="7239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03E50"/>
                </a:solidFill>
                <a:latin typeface="Arial"/>
                <a:ea typeface="Arial"/>
                <a:cs typeface="Arial"/>
              </a:defRPr>
            </a:pPr>
            <a:r>
              <a:t>Mahto et al. (2025), reservoirs: doi:10.5194/essd-17-2693-2025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04E14D-12F8-476D-B19D-5E8684C34D84}"/>
              </a:ext>
            </a:extLst>
          </p:cNvPr>
          <p:cNvSpPr>
            <a:spLocks noGrp="1"/>
          </p:cNvSpPr>
          <p:nvPr/>
        </p:nvSpPr>
        <p:spPr>
          <a:xfrm>
            <a:off x="523875" y="5848350"/>
            <a:ext cx="11096625" cy="5619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Code and full bibliography: github.com/pratikkhanal16/thailand-water-storage-dss. Metropolis theme: matze/mtheme.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9E91F9-F128-4A12-BDB6-5079D22EAB8A}"/>
              </a:ext>
            </a:extLst>
          </p:cNvPr>
          <p:cNvSpPr>
            <a:spLocks noGrp="1"/>
          </p:cNvSpPr>
          <p:nvPr/>
        </p:nvSpPr>
        <p:spPr>
          <a:xfrm>
            <a:off x="523875" y="6524625"/>
            <a:ext cx="9810750" cy="2286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References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7E3507-6ACD-4945-BEAD-0C69CFB58298}"/>
              </a:ext>
            </a:extLst>
          </p:cNvPr>
          <p:cNvSpPr>
            <a:spLocks noGrp="1"/>
          </p:cNvSpPr>
          <p:nvPr/>
        </p:nvSpPr>
        <p:spPr>
          <a:xfrm>
            <a:off x="10810875" y="6515100"/>
            <a:ext cx="952500" cy="2381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60747E"/>
                </a:solidFill>
                <a:latin typeface="Arial"/>
                <a:ea typeface="Arial"/>
                <a:cs typeface="Arial"/>
              </a:defRPr>
            </a:pPr>
            <a:r>
              <a:t>32 / 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735709-9462-42B7-A09C-46ABF6B392A8}"/>
              </a:ext>
            </a:extLst>
          </p:cNvPr>
          <p:cNvSpPr txBox="1"/>
          <p:nvPr/>
        </p:nvSpPr>
        <p:spPr>
          <a:xfrm>
            <a:off x="476250" y="219075"/>
            <a:ext cx="112395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sz="2775" b="1">
                <a:solidFill>
                  <a:srgbClr val="FFFFFF"/>
                </a:solidFill>
                <a:latin typeface="Arial" panose="020B0604020202020204" pitchFamily="34" charset="0"/>
              </a:rPr>
              <a:t>References and reproducible research</a:t>
            </a:r>
          </a:p>
        </p:txBody>
      </p:sp>
    </p:spTree>
    <p:extLst>
      <p:ext uri="{BB962C8B-B14F-4D97-AF65-F5344CB8AC3E}">
        <p14:creationId xmlns:p14="http://schemas.microsoft.com/office/powerpoint/2010/main" val="178565458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2756</Words>
  <Application>Microsoft Office PowerPoint</Application>
  <DocSecurity>0</DocSecurity>
  <PresentationFormat>Widescreen</PresentationFormat>
  <Paragraphs>307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Pratik Khanal</cp:lastModifiedBy>
  <cp:revision>2</cp:revision>
  <dcterms:created xsi:type="dcterms:W3CDTF">2026-10-26T07:50:16Z</dcterms:created>
  <dcterms:modified xsi:type="dcterms:W3CDTF">2026-10-26T08:05:55Z</dcterms:modified>
</cp:coreProperties>
</file>